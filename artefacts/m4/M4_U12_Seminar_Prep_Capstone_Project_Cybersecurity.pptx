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87"/>
    <p:restoredTop sz="80890"/>
  </p:normalViewPr>
  <p:slideViewPr>
    <p:cSldViewPr snapToGrid="0" snapToObjects="1">
      <p:cViewPr varScale="1">
        <p:scale>
          <a:sx n="97" d="100"/>
          <a:sy n="97" d="100"/>
        </p:scale>
        <p:origin x="1712" y="192"/>
      </p:cViewPr>
      <p:guideLst/>
    </p:cSldViewPr>
  </p:slideViewPr>
  <p:notesTextViewPr>
    <p:cViewPr>
      <p:scale>
        <a:sx n="1" d="1"/>
        <a:sy n="1" d="1"/>
      </p:scale>
      <p:origin x="0" y="0"/>
    </p:cViewPr>
  </p:notesTextViewPr>
  <p:notesViewPr>
    <p:cSldViewPr snapToGrid="0" snapToObjects="1">
      <p:cViewPr varScale="1">
        <p:scale>
          <a:sx n="108" d="100"/>
          <a:sy n="108" d="100"/>
        </p:scale>
        <p:origin x="5368" y="2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678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capstone looks at authentication design: specifically, why the traditional username and password model, and its common companion, SMS one-time passwords, are no longer good enough, and how object-oriented design patterns let us enforce something stronger by construction rather than by policy.</a:t>
            </a:r>
          </a:p>
          <a:p>
            <a:r>
              <a:rPr lang="en-US" dirty="0"/>
              <a:t>I'll walk through the problem, the architecture, the secure coding considerations, and the trade-offs that are still unresolved.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are pushing the design here. </a:t>
            </a:r>
          </a:p>
          <a:p>
            <a:pPr marL="228600" indent="-228600">
              <a:buAutoNum type="arabicPeriod"/>
            </a:pPr>
            <a:r>
              <a:rPr lang="en-US" dirty="0"/>
              <a:t>Password-only login is a known weak point: reuse and phishing account for most account takeovers, and this is the baseline problem Baker (2022) frames when introducing authentication in Secure Web Application Development.</a:t>
            </a:r>
          </a:p>
          <a:p>
            <a:pPr marL="228600" indent="-228600">
              <a:buAutoNum type="arabicPeriod"/>
            </a:pPr>
            <a:r>
              <a:rPr lang="en-US" dirty="0"/>
              <a:t>SMS one-time passwords, long treated as a reasonable second factor, are being actively phased out by financial regulators because the channel itself is interceptable: SIM swap, SS7 abuse, and phishing all defeat it. </a:t>
            </a:r>
          </a:p>
          <a:p>
            <a:pPr marL="228600" indent="-228600">
              <a:buAutoNum type="arabicPeriod"/>
            </a:pPr>
            <a:r>
              <a:rPr lang="en-US" dirty="0"/>
              <a:t>I can point to concrete examples: the UAE Central Bank has mandated full discontinuation of SMS and email OTP by March 2026 (for all banks). This is a trend across more than two dozen regulators, not a universal ban everywhere, worth being precise about it.</a:t>
            </a:r>
          </a:p>
          <a:p>
            <a:pPr marL="0" indent="0">
              <a:buNone/>
            </a:pPr>
            <a:r>
              <a:rPr lang="en-US" dirty="0"/>
              <a:t>So the objective I set for the design is not just 'add MFA', it's to default to the strongest available factor and structurally exclude the weak one, which is what the next slide shows.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patterns are doing separate jobs here, and the distinction matters for the design justification.</a:t>
            </a:r>
          </a:p>
          <a:p>
            <a:pPr marL="228600" indent="-228600">
              <a:buAutoNum type="arabicPeriod"/>
            </a:pPr>
            <a:r>
              <a:rPr lang="en-US" dirty="0"/>
              <a:t>The login attempt itself is a </a:t>
            </a:r>
            <a:r>
              <a:rPr lang="en-US" b="1" dirty="0"/>
              <a:t>Chain of Responsibilit</a:t>
            </a:r>
            <a:r>
              <a:rPr lang="en-US" dirty="0"/>
              <a:t>y: try the passkey handler first; if this account or device cannot complete </a:t>
            </a:r>
            <a:r>
              <a:rPr lang="en-US" dirty="0" err="1"/>
              <a:t>WebAuthn</a:t>
            </a:r>
            <a:r>
              <a:rPr lang="en-US" dirty="0"/>
              <a:t> (Passkey authentication), fall to password plus an authenticator app; there is no handler in the chain for SMS at all, so it is structurally excluded rather than just discouraged by policy. That maps directly to the distinction Sarcar (2022) draws in Java Design Patterns: with Chain of Responsibility, only one handler in the sequence ultimately services the request, unlike Strategy, where the client picks one algorithm</a:t>
            </a:r>
          </a:p>
          <a:p>
            <a:pPr marL="228600" indent="-228600">
              <a:buAutoNum type="arabicPeriod"/>
            </a:pPr>
            <a:r>
              <a:rPr lang="en-US" b="1" dirty="0"/>
              <a:t>Strategy</a:t>
            </a:r>
            <a:r>
              <a:rPr lang="en-US" dirty="0"/>
              <a:t> is the second pattern here, and it covers what happens once a factor is chosen: the actual verification algorithm, whether that's checking a WebAuthn assertion or a TOTP code, sits behind a common interface so it's swappable and independently testable.</a:t>
            </a:r>
          </a:p>
          <a:p>
            <a:pPr marL="0" indent="0">
              <a:buNone/>
            </a:pPr>
            <a:r>
              <a:rPr lang="en-US" dirty="0"/>
              <a:t>Why passkey as the default: Baker (2022) sets out the WebAuthn flow in detail, and the key property is that the server only ever stores a public key, and the assertion the device signs is bound to the origin. A phishing site can relay a password or a TOTP code, but it cannot get a legitimate device to sign a challenge for the wrong origin. Stronger justification than 'passkeys are the trend', it's rooted in the protocol mechanics.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that this is a snippet, not the whole system. </a:t>
            </a:r>
          </a:p>
          <a:p>
            <a:pPr marL="171450" indent="-171450">
              <a:buFont typeface="Arial" panose="020B0604020202020204" pitchFamily="34" charset="0"/>
              <a:buChar char="•"/>
            </a:pPr>
            <a:r>
              <a:rPr lang="en-US" dirty="0" err="1"/>
              <a:t>AuthStrategy</a:t>
            </a:r>
            <a:r>
              <a:rPr lang="en-US" dirty="0"/>
              <a:t> is written as a typing Protocol rather than an abstract base class, which fits Python: any object exposing a matching verify method satisfies the interface without needing to inherit from it, unlike the explicit interface inheritance Sarcar (2022) and the ASP.NET Core material use in Java and C#. </a:t>
            </a:r>
          </a:p>
          <a:p>
            <a:pPr marL="171450" indent="-171450">
              <a:buFont typeface="Arial" panose="020B0604020202020204" pitchFamily="34" charset="0"/>
              <a:buChar char="•"/>
            </a:pPr>
            <a:r>
              <a:rPr lang="en-US" dirty="0" err="1"/>
              <a:t>PasskeyHandler</a:t>
            </a:r>
            <a:r>
              <a:rPr lang="en-US" dirty="0"/>
              <a:t> shows the Chain of Responsibility half: if the account has no registered passkey, it delegates to the next handler in the chain rather than attempting verification itself; if it does, it hands off to the injected strategy object to actually check the credential. That constructor injection point which is exactly why this handler can be unit tested with a fake strategy instead of a real passkey library.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Underneath the pattern choices, 3 secure coding decisions:</a:t>
            </a:r>
          </a:p>
          <a:p>
            <a:pPr marL="171450" indent="-171450">
              <a:buFont typeface="Arial" panose="020B0604020202020204" pitchFamily="34" charset="0"/>
              <a:buChar char="•"/>
            </a:pPr>
            <a:r>
              <a:rPr lang="en-US" dirty="0"/>
              <a:t>First, dependency injection instead of a global Singleton for the authentication manager: the module material is explicit about Singleton's testability and global-state criticisms, and an injected, swappable strategy is easier to unit test in isolation, which ties back to Unit 10's test-driven development material.</a:t>
            </a:r>
          </a:p>
          <a:p>
            <a:pPr marL="171450" indent="-171450">
              <a:buFont typeface="Arial" panose="020B0604020202020204" pitchFamily="34" charset="0"/>
              <a:buChar char="•"/>
            </a:pPr>
            <a:r>
              <a:rPr lang="en-US" dirty="0"/>
              <a:t>Second, ordinary but non-negotiable practice: input validation and secure credential storage as separate concerns, drawn from Baker (2022).</a:t>
            </a:r>
          </a:p>
          <a:p>
            <a:pPr marL="171450" indent="-171450">
              <a:buFont typeface="Arial" panose="020B0604020202020204" pitchFamily="34" charset="0"/>
              <a:buChar char="•"/>
            </a:pPr>
            <a:r>
              <a:rPr lang="en-US" dirty="0"/>
              <a:t>Third, any third-party dependency, including an authenticator implementation, is a supply chain decision, and the Cloud Native Software Security Handbook, Shah (2023), points to tools like OWASP Dependency-Track for exactly this kind of ongoing vulnerability management.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Losing a single device is not fatal to this design, and that is worth stating plainly because it is often the first objection raised against passkeys.</a:t>
            </a:r>
          </a:p>
          <a:p>
            <a:pPr marL="171450" indent="-171450">
              <a:buFont typeface="Arial" panose="020B0604020202020204" pitchFamily="34" charset="0"/>
              <a:buChar char="•"/>
            </a:pPr>
            <a:r>
              <a:rPr lang="en-US" dirty="0"/>
              <a:t>Apple's own platform documentation confirms passkeys sync across a user's devices through iCloud Keychain, with the private key wrapped using Secure Enclave material before it ever leaves a device,.</a:t>
            </a:r>
          </a:p>
          <a:p>
            <a:pPr marL="171450" indent="-171450">
              <a:buFont typeface="Arial" panose="020B0604020202020204" pitchFamily="34" charset="0"/>
              <a:buChar char="•"/>
            </a:pPr>
            <a:r>
              <a:rPr lang="en-US" dirty="0"/>
              <a:t>Google's security blog describes the equivalent through Google Password Manager.</a:t>
            </a:r>
          </a:p>
          <a:p>
            <a:pPr marL="171450" indent="-171450">
              <a:buFont typeface="Arial" panose="020B0604020202020204" pitchFamily="34" charset="0"/>
              <a:buChar char="•"/>
            </a:pPr>
            <a:r>
              <a:rPr lang="en-US" dirty="0"/>
              <a:t>Proton Pass takes a different approach, storing the passkey in its own cross-platform vault rather than an OS keychain, which mitigates the ecosystem lock-in problem. </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Here is the tension I think is worth surfacing rather than smoothing over: even Apple's own recovery flow, for the genuine worst case of losing every device, still includes an SMS verification step alongside the account password and device passcode, rate-limited to ten attempts. So, a system built to remove SMS from the login front door can still end up depending on it at the account-recovery back door, because recovery is a different threat model to login.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640080"/>
            <a:ext cx="8686800" cy="320040"/>
          </a:xfrm>
          <a:prstGeom prst="rect">
            <a:avLst/>
          </a:prstGeom>
          <a:noFill/>
          <a:ln/>
        </p:spPr>
        <p:txBody>
          <a:bodyPr wrap="square" lIns="0" tIns="0" rIns="0" bIns="0" rtlCol="0" anchor="ctr"/>
          <a:lstStyle/>
          <a:p>
            <a:pPr marL="0" indent="0" algn="l">
              <a:buNone/>
            </a:pPr>
            <a:r>
              <a:rPr lang="en-US" sz="1200" b="1" kern="0" spc="150" dirty="0">
                <a:solidFill>
                  <a:srgbClr val="1C7293"/>
                </a:solidFill>
                <a:latin typeface="Calibri" pitchFamily="34" charset="0"/>
                <a:ea typeface="Calibri" pitchFamily="34" charset="-122"/>
                <a:cs typeface="Calibri" pitchFamily="34" charset="-120"/>
              </a:rPr>
              <a:t>ADVANCED OBJECT-ORIENTED DESIGN AND PROGRAMMING</a:t>
            </a:r>
            <a:endParaRPr lang="en-US" sz="1200" dirty="0"/>
          </a:p>
        </p:txBody>
      </p:sp>
      <p:sp>
        <p:nvSpPr>
          <p:cNvPr id="3" name="Text 1"/>
          <p:cNvSpPr txBox="1"/>
          <p:nvPr/>
        </p:nvSpPr>
        <p:spPr>
          <a:xfrm>
            <a:off x="731520" y="960120"/>
            <a:ext cx="8686800" cy="274320"/>
          </a:xfrm>
          <a:prstGeom prst="rect">
            <a:avLst/>
          </a:prstGeom>
          <a:noFill/>
          <a:ln/>
        </p:spPr>
        <p:txBody>
          <a:bodyPr wrap="square" lIns="0" tIns="0" rIns="0" bIns="0" rtlCol="0" anchor="ctr"/>
          <a:lstStyle/>
          <a:p>
            <a:pPr marL="0" indent="0" algn="l">
              <a:buNone/>
            </a:pPr>
            <a:r>
              <a:rPr lang="en-US" sz="1200" dirty="0">
                <a:solidFill>
                  <a:srgbClr val="5A6B7B"/>
                </a:solidFill>
                <a:latin typeface="Calibri" pitchFamily="34" charset="0"/>
                <a:ea typeface="Calibri" pitchFamily="34" charset="-122"/>
                <a:cs typeface="Calibri" pitchFamily="34" charset="-120"/>
              </a:rPr>
              <a:t>Unit 12: Capstone Project Seminar</a:t>
            </a:r>
            <a:endParaRPr lang="en-US" sz="1200" dirty="0"/>
          </a:p>
        </p:txBody>
      </p:sp>
      <p:sp>
        <p:nvSpPr>
          <p:cNvPr id="4" name="Shape 2"/>
          <p:cNvSpPr/>
          <p:nvPr/>
        </p:nvSpPr>
        <p:spPr>
          <a:xfrm>
            <a:off x="9966960" y="685800"/>
            <a:ext cx="1463040" cy="1463040"/>
          </a:xfrm>
          <a:prstGeom prst="ellipse">
            <a:avLst/>
          </a:prstGeom>
          <a:solidFill>
            <a:srgbClr val="1B3A57"/>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318090" y="1036930"/>
            <a:ext cx="760781" cy="760781"/>
          </a:xfrm>
          <a:prstGeom prst="rect">
            <a:avLst/>
          </a:prstGeom>
        </p:spPr>
      </p:pic>
      <p:sp>
        <p:nvSpPr>
          <p:cNvPr id="6" name="Text 3"/>
          <p:cNvSpPr txBox="1"/>
          <p:nvPr/>
        </p:nvSpPr>
        <p:spPr>
          <a:xfrm>
            <a:off x="731520" y="2514600"/>
            <a:ext cx="9601200" cy="1097280"/>
          </a:xfrm>
          <a:prstGeom prst="rect">
            <a:avLst/>
          </a:prstGeom>
          <a:noFill/>
          <a:ln/>
        </p:spPr>
        <p:txBody>
          <a:bodyPr wrap="square" lIns="0" tIns="0" rIns="0" bIns="0" rtlCol="0" anchor="ctr"/>
          <a:lstStyle/>
          <a:p>
            <a:pPr marL="0" indent="0" algn="l">
              <a:buNone/>
            </a:pPr>
            <a:r>
              <a:rPr lang="en-US" sz="4600" b="1" dirty="0">
                <a:solidFill>
                  <a:srgbClr val="1B3A57"/>
                </a:solidFill>
                <a:latin typeface="Cambria" pitchFamily="34" charset="0"/>
                <a:ea typeface="Cambria" pitchFamily="34" charset="-122"/>
                <a:cs typeface="Cambria" pitchFamily="34" charset="-120"/>
              </a:rPr>
              <a:t>Beyond Passwords</a:t>
            </a:r>
            <a:endParaRPr lang="en-US" sz="4600" dirty="0"/>
          </a:p>
        </p:txBody>
      </p:sp>
      <p:sp>
        <p:nvSpPr>
          <p:cNvPr id="7" name="Text 4"/>
          <p:cNvSpPr txBox="1"/>
          <p:nvPr/>
        </p:nvSpPr>
        <p:spPr>
          <a:xfrm>
            <a:off x="731520" y="3520440"/>
            <a:ext cx="9601200" cy="640080"/>
          </a:xfrm>
          <a:prstGeom prst="rect">
            <a:avLst/>
          </a:prstGeom>
          <a:noFill/>
          <a:ln/>
        </p:spPr>
        <p:txBody>
          <a:bodyPr wrap="square" lIns="0" tIns="0" rIns="0" bIns="0" rtlCol="0" anchor="ctr"/>
          <a:lstStyle/>
          <a:p>
            <a:pPr marL="0" indent="0" algn="l">
              <a:buNone/>
            </a:pPr>
            <a:r>
              <a:rPr lang="en-US" sz="2100" dirty="0">
                <a:solidFill>
                  <a:srgbClr val="1C7293"/>
                </a:solidFill>
                <a:latin typeface="Calibri" pitchFamily="34" charset="0"/>
                <a:ea typeface="Calibri" pitchFamily="34" charset="-122"/>
                <a:cs typeface="Calibri" pitchFamily="34" charset="-120"/>
              </a:rPr>
              <a:t>Enforcing Phishing-Resistant Authentication by Design</a:t>
            </a:r>
            <a:endParaRPr lang="en-US" sz="2100" dirty="0"/>
          </a:p>
        </p:txBody>
      </p:sp>
      <p:sp>
        <p:nvSpPr>
          <p:cNvPr id="8" name="Text 4">
            <a:extLst>
              <a:ext uri="{FF2B5EF4-FFF2-40B4-BE49-F238E27FC236}">
                <a16:creationId xmlns:a16="http://schemas.microsoft.com/office/drawing/2014/main" id="{26BEB4A5-44FC-D59A-9F06-780DF7D61D91}"/>
              </a:ext>
            </a:extLst>
          </p:cNvPr>
          <p:cNvSpPr txBox="1"/>
          <p:nvPr/>
        </p:nvSpPr>
        <p:spPr>
          <a:xfrm>
            <a:off x="731520" y="5501030"/>
            <a:ext cx="9601200" cy="640080"/>
          </a:xfrm>
          <a:prstGeom prst="rect">
            <a:avLst/>
          </a:prstGeom>
          <a:noFill/>
          <a:ln/>
        </p:spPr>
        <p:txBody>
          <a:bodyPr wrap="square" lIns="0" tIns="0" rIns="0" bIns="0" rtlCol="0" anchor="ctr"/>
          <a:lstStyle/>
          <a:p>
            <a:pPr marL="0" indent="0" algn="l">
              <a:buNone/>
            </a:pPr>
            <a:r>
              <a:rPr lang="en-US" sz="2100" b="1" dirty="0">
                <a:solidFill>
                  <a:schemeClr val="tx2"/>
                </a:solidFill>
                <a:latin typeface="Calibri" pitchFamily="34" charset="0"/>
                <a:ea typeface="Calibri" pitchFamily="34" charset="-122"/>
                <a:cs typeface="Calibri" pitchFamily="34" charset="-120"/>
              </a:rPr>
              <a:t>Séba Daher</a:t>
            </a:r>
            <a:endParaRPr lang="en-US" sz="2100" b="1" dirty="0">
              <a:solidFill>
                <a:schemeClr val="tx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502920"/>
            <a:ext cx="10698480" cy="777240"/>
          </a:xfrm>
          <a:prstGeom prst="rect">
            <a:avLst/>
          </a:prstGeom>
          <a:noFill/>
          <a:ln/>
        </p:spPr>
        <p:txBody>
          <a:bodyPr wrap="square" lIns="0" tIns="0" rIns="0" bIns="0" rtlCol="0" anchor="ctr"/>
          <a:lstStyle/>
          <a:p>
            <a:pPr marL="0" indent="0" algn="l">
              <a:buNone/>
            </a:pPr>
            <a:r>
              <a:rPr lang="en-US" sz="3400" b="1" dirty="0">
                <a:solidFill>
                  <a:srgbClr val="1B3A57"/>
                </a:solidFill>
                <a:latin typeface="Cambria" pitchFamily="34" charset="0"/>
                <a:ea typeface="Cambria" pitchFamily="34" charset="-122"/>
                <a:cs typeface="Cambria" pitchFamily="34" charset="-120"/>
              </a:rPr>
              <a:t>Why Rethink Login?</a:t>
            </a:r>
            <a:endParaRPr lang="en-US" sz="3400" dirty="0"/>
          </a:p>
        </p:txBody>
      </p:sp>
      <p:sp>
        <p:nvSpPr>
          <p:cNvPr id="3" name="Shape 1"/>
          <p:cNvSpPr/>
          <p:nvPr/>
        </p:nvSpPr>
        <p:spPr>
          <a:xfrm>
            <a:off x="1897380" y="1783080"/>
            <a:ext cx="1051560" cy="1051560"/>
          </a:xfrm>
          <a:prstGeom prst="ellipse">
            <a:avLst/>
          </a:prstGeom>
          <a:solidFill>
            <a:srgbClr val="1B3A57"/>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2149754" y="2035454"/>
            <a:ext cx="546811" cy="546811"/>
          </a:xfrm>
          <a:prstGeom prst="rect">
            <a:avLst/>
          </a:prstGeom>
        </p:spPr>
      </p:pic>
      <p:sp>
        <p:nvSpPr>
          <p:cNvPr id="5" name="Text 2"/>
          <p:cNvSpPr txBox="1"/>
          <p:nvPr/>
        </p:nvSpPr>
        <p:spPr>
          <a:xfrm>
            <a:off x="822960" y="2971800"/>
            <a:ext cx="3200400" cy="457200"/>
          </a:xfrm>
          <a:prstGeom prst="rect">
            <a:avLst/>
          </a:prstGeom>
          <a:noFill/>
          <a:ln/>
        </p:spPr>
        <p:txBody>
          <a:bodyPr wrap="square" lIns="0" tIns="0" rIns="0" bIns="0" rtlCol="0" anchor="ctr"/>
          <a:lstStyle/>
          <a:p>
            <a:pPr marL="0" indent="0" algn="ctr">
              <a:buNone/>
            </a:pPr>
            <a:r>
              <a:rPr lang="en-US" sz="1900" b="1" dirty="0">
                <a:solidFill>
                  <a:srgbClr val="1B3A57"/>
                </a:solidFill>
                <a:latin typeface="Calibri" pitchFamily="34" charset="0"/>
                <a:ea typeface="Calibri" pitchFamily="34" charset="-122"/>
                <a:cs typeface="Calibri" pitchFamily="34" charset="-120"/>
              </a:rPr>
              <a:t>Weak by Default</a:t>
            </a:r>
            <a:endParaRPr lang="en-US" sz="1900" dirty="0"/>
          </a:p>
        </p:txBody>
      </p:sp>
      <p:sp>
        <p:nvSpPr>
          <p:cNvPr id="6" name="Text 3"/>
          <p:cNvSpPr txBox="1"/>
          <p:nvPr/>
        </p:nvSpPr>
        <p:spPr>
          <a:xfrm>
            <a:off x="822960" y="3456432"/>
            <a:ext cx="3200400" cy="731520"/>
          </a:xfrm>
          <a:prstGeom prst="rect">
            <a:avLst/>
          </a:prstGeom>
          <a:noFill/>
          <a:ln/>
        </p:spPr>
        <p:txBody>
          <a:bodyPr wrap="square" lIns="0" tIns="0" rIns="0" bIns="0"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Password reuse and phishing exposure</a:t>
            </a:r>
            <a:endParaRPr lang="en-US" sz="1300" dirty="0"/>
          </a:p>
        </p:txBody>
      </p:sp>
      <p:sp>
        <p:nvSpPr>
          <p:cNvPr id="7" name="Shape 4"/>
          <p:cNvSpPr/>
          <p:nvPr/>
        </p:nvSpPr>
        <p:spPr>
          <a:xfrm>
            <a:off x="5554980" y="1783080"/>
            <a:ext cx="1051560" cy="1051560"/>
          </a:xfrm>
          <a:prstGeom prst="ellipse">
            <a:avLst/>
          </a:prstGeom>
          <a:solidFill>
            <a:srgbClr val="E4572E"/>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5807354" y="2035454"/>
            <a:ext cx="546811" cy="546811"/>
          </a:xfrm>
          <a:prstGeom prst="rect">
            <a:avLst/>
          </a:prstGeom>
        </p:spPr>
      </p:pic>
      <p:sp>
        <p:nvSpPr>
          <p:cNvPr id="9" name="Text 5"/>
          <p:cNvSpPr txBox="1"/>
          <p:nvPr/>
        </p:nvSpPr>
        <p:spPr>
          <a:xfrm>
            <a:off x="4480560" y="2971800"/>
            <a:ext cx="3200400" cy="457200"/>
          </a:xfrm>
          <a:prstGeom prst="rect">
            <a:avLst/>
          </a:prstGeom>
          <a:noFill/>
          <a:ln/>
        </p:spPr>
        <p:txBody>
          <a:bodyPr wrap="square" lIns="0" tIns="0" rIns="0" bIns="0" rtlCol="0" anchor="ctr"/>
          <a:lstStyle/>
          <a:p>
            <a:pPr marL="0" indent="0" algn="ctr">
              <a:buNone/>
            </a:pPr>
            <a:r>
              <a:rPr lang="en-US" sz="1900" b="1" dirty="0">
                <a:solidFill>
                  <a:srgbClr val="1B3A57"/>
                </a:solidFill>
                <a:latin typeface="Calibri" pitchFamily="34" charset="0"/>
                <a:ea typeface="Calibri" pitchFamily="34" charset="-122"/>
                <a:cs typeface="Calibri" pitchFamily="34" charset="-120"/>
              </a:rPr>
              <a:t>SMS OTP: Out</a:t>
            </a:r>
            <a:endParaRPr lang="en-US" sz="1900" dirty="0"/>
          </a:p>
        </p:txBody>
      </p:sp>
      <p:sp>
        <p:nvSpPr>
          <p:cNvPr id="10" name="Text 6"/>
          <p:cNvSpPr txBox="1"/>
          <p:nvPr/>
        </p:nvSpPr>
        <p:spPr>
          <a:xfrm>
            <a:off x="4480560" y="3456432"/>
            <a:ext cx="3200400" cy="731520"/>
          </a:xfrm>
          <a:prstGeom prst="rect">
            <a:avLst/>
          </a:prstGeom>
          <a:noFill/>
          <a:ln/>
        </p:spPr>
        <p:txBody>
          <a:bodyPr wrap="square" lIns="0" tIns="0" rIns="0" bIns="0"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SIM-swap and interception risk</a:t>
            </a:r>
            <a:endParaRPr lang="en-US" sz="1300" dirty="0"/>
          </a:p>
        </p:txBody>
      </p:sp>
      <p:sp>
        <p:nvSpPr>
          <p:cNvPr id="11" name="Shape 7"/>
          <p:cNvSpPr/>
          <p:nvPr/>
        </p:nvSpPr>
        <p:spPr>
          <a:xfrm>
            <a:off x="9212580" y="1783080"/>
            <a:ext cx="1051560" cy="1051560"/>
          </a:xfrm>
          <a:prstGeom prst="ellipse">
            <a:avLst/>
          </a:prstGeom>
          <a:solidFill>
            <a:srgbClr val="1C7293"/>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9464954" y="2035454"/>
            <a:ext cx="546811" cy="546811"/>
          </a:xfrm>
          <a:prstGeom prst="rect">
            <a:avLst/>
          </a:prstGeom>
        </p:spPr>
      </p:pic>
      <p:sp>
        <p:nvSpPr>
          <p:cNvPr id="13" name="Text 8"/>
          <p:cNvSpPr txBox="1"/>
          <p:nvPr/>
        </p:nvSpPr>
        <p:spPr>
          <a:xfrm>
            <a:off x="8138160" y="2971800"/>
            <a:ext cx="3200400" cy="457200"/>
          </a:xfrm>
          <a:prstGeom prst="rect">
            <a:avLst/>
          </a:prstGeom>
          <a:noFill/>
          <a:ln/>
        </p:spPr>
        <p:txBody>
          <a:bodyPr wrap="square" lIns="0" tIns="0" rIns="0" bIns="0" rtlCol="0" anchor="ctr"/>
          <a:lstStyle/>
          <a:p>
            <a:pPr marL="0" indent="0" algn="ctr">
              <a:buNone/>
            </a:pPr>
            <a:r>
              <a:rPr lang="en-US" sz="1900" b="1" dirty="0">
                <a:solidFill>
                  <a:srgbClr val="1B3A57"/>
                </a:solidFill>
                <a:latin typeface="Calibri" pitchFamily="34" charset="0"/>
                <a:ea typeface="Calibri" pitchFamily="34" charset="-122"/>
                <a:cs typeface="Calibri" pitchFamily="34" charset="-120"/>
              </a:rPr>
              <a:t>Regulators Agree</a:t>
            </a:r>
            <a:endParaRPr lang="en-US" sz="1900" dirty="0"/>
          </a:p>
        </p:txBody>
      </p:sp>
      <p:sp>
        <p:nvSpPr>
          <p:cNvPr id="14" name="Text 9"/>
          <p:cNvSpPr txBox="1"/>
          <p:nvPr/>
        </p:nvSpPr>
        <p:spPr>
          <a:xfrm>
            <a:off x="8138160" y="3456432"/>
            <a:ext cx="3200400" cy="731520"/>
          </a:xfrm>
          <a:prstGeom prst="rect">
            <a:avLst/>
          </a:prstGeom>
          <a:noFill/>
          <a:ln/>
        </p:spPr>
        <p:txBody>
          <a:bodyPr wrap="square" lIns="0" tIns="0" rIns="0" bIns="0" rtlCol="0" anchor="ctr"/>
          <a:lstStyle/>
          <a:p>
            <a:pPr marL="0" indent="0" algn="ctr">
              <a:buNone/>
            </a:pPr>
            <a:r>
              <a:rPr lang="en-US" sz="1300" dirty="0">
                <a:solidFill>
                  <a:srgbClr val="5A6B7B"/>
                </a:solidFill>
                <a:latin typeface="Calibri" pitchFamily="34" charset="0"/>
                <a:ea typeface="Calibri" pitchFamily="34" charset="-122"/>
                <a:cs typeface="Calibri" pitchFamily="34" charset="-120"/>
              </a:rPr>
              <a:t>UAE · Philippines · Malaysia · EU</a:t>
            </a:r>
            <a:endParaRPr lang="en-US" sz="1300" dirty="0"/>
          </a:p>
        </p:txBody>
      </p:sp>
      <p:sp>
        <p:nvSpPr>
          <p:cNvPr id="15" name="Text 10"/>
          <p:cNvSpPr txBox="1"/>
          <p:nvPr/>
        </p:nvSpPr>
        <p:spPr>
          <a:xfrm>
            <a:off x="822960" y="5806440"/>
            <a:ext cx="10515600" cy="457200"/>
          </a:xfrm>
          <a:prstGeom prst="rect">
            <a:avLst/>
          </a:prstGeom>
          <a:noFill/>
          <a:ln/>
        </p:spPr>
        <p:txBody>
          <a:bodyPr wrap="square" lIns="0" tIns="0" rIns="0" bIns="0" rtlCol="0" anchor="ctr"/>
          <a:lstStyle/>
          <a:p>
            <a:pPr marL="0" indent="0" algn="l">
              <a:buNone/>
            </a:pPr>
            <a:r>
              <a:rPr lang="en-US" sz="1500" i="1" dirty="0">
                <a:solidFill>
                  <a:srgbClr val="1C7293"/>
                </a:solidFill>
                <a:latin typeface="Calibri" pitchFamily="34" charset="0"/>
                <a:ea typeface="Calibri" pitchFamily="34" charset="-122"/>
                <a:cs typeface="Calibri" pitchFamily="34" charset="-120"/>
              </a:rPr>
              <a:t>Objective: default to the strongest available factor, and exclude weak ones by design.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502920"/>
            <a:ext cx="10698480" cy="777240"/>
          </a:xfrm>
          <a:prstGeom prst="rect">
            <a:avLst/>
          </a:prstGeom>
          <a:noFill/>
          <a:ln/>
        </p:spPr>
        <p:txBody>
          <a:bodyPr wrap="square" lIns="0" tIns="0" rIns="0" bIns="0" rtlCol="0" anchor="ctr"/>
          <a:lstStyle/>
          <a:p>
            <a:pPr marL="0" indent="0" algn="l">
              <a:buNone/>
            </a:pPr>
            <a:r>
              <a:rPr lang="en-US" sz="3200" b="1" dirty="0">
                <a:solidFill>
                  <a:srgbClr val="1B3A57"/>
                </a:solidFill>
                <a:latin typeface="Cambria" pitchFamily="34" charset="0"/>
                <a:ea typeface="Cambria" pitchFamily="34" charset="-122"/>
                <a:cs typeface="Cambria" pitchFamily="34" charset="-120"/>
              </a:rPr>
              <a:t>Enforcing the Right Factor by Design</a:t>
            </a:r>
            <a:endParaRPr lang="en-US" sz="3200" dirty="0"/>
          </a:p>
        </p:txBody>
      </p:sp>
      <p:sp>
        <p:nvSpPr>
          <p:cNvPr id="3" name="Shape 1"/>
          <p:cNvSpPr/>
          <p:nvPr/>
        </p:nvSpPr>
        <p:spPr>
          <a:xfrm>
            <a:off x="822960" y="1828800"/>
            <a:ext cx="2377440" cy="2148840"/>
          </a:xfrm>
          <a:prstGeom prst="roundRect">
            <a:avLst>
              <a:gd name="adj" fmla="val 4255"/>
            </a:avLst>
          </a:prstGeom>
          <a:solidFill>
            <a:srgbClr val="FFFFFF"/>
          </a:solidFill>
          <a:ln w="19050">
            <a:solidFill>
              <a:srgbClr val="1B3A57"/>
            </a:solidFill>
            <a:prstDash val="solid"/>
          </a:ln>
        </p:spPr>
        <p:txBody>
          <a:bodyPr/>
          <a:lstStyle/>
          <a:p>
            <a:endParaRPr lang="en-US"/>
          </a:p>
        </p:txBody>
      </p:sp>
      <p:sp>
        <p:nvSpPr>
          <p:cNvPr id="4" name="Shape 2"/>
          <p:cNvSpPr/>
          <p:nvPr/>
        </p:nvSpPr>
        <p:spPr>
          <a:xfrm>
            <a:off x="1600200" y="2103120"/>
            <a:ext cx="822960" cy="822960"/>
          </a:xfrm>
          <a:prstGeom prst="ellipse">
            <a:avLst/>
          </a:prstGeom>
          <a:solidFill>
            <a:srgbClr val="1B3A57"/>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797710" y="2300630"/>
            <a:ext cx="427939" cy="427939"/>
          </a:xfrm>
          <a:prstGeom prst="rect">
            <a:avLst/>
          </a:prstGeom>
        </p:spPr>
      </p:pic>
      <p:sp>
        <p:nvSpPr>
          <p:cNvPr id="6" name="Text 3"/>
          <p:cNvSpPr txBox="1"/>
          <p:nvPr/>
        </p:nvSpPr>
        <p:spPr>
          <a:xfrm>
            <a:off x="822960" y="3063240"/>
            <a:ext cx="2377440" cy="365760"/>
          </a:xfrm>
          <a:prstGeom prst="rect">
            <a:avLst/>
          </a:prstGeom>
          <a:noFill/>
          <a:ln/>
        </p:spPr>
        <p:txBody>
          <a:bodyPr wrap="square" lIns="0" tIns="0" rIns="0" bIns="0" rtlCol="0" anchor="ctr"/>
          <a:lstStyle/>
          <a:p>
            <a:pPr marL="0" indent="0" algn="ctr">
              <a:buNone/>
            </a:pPr>
            <a:r>
              <a:rPr lang="en-US" sz="1600" b="1" dirty="0">
                <a:solidFill>
                  <a:srgbClr val="1B3A57"/>
                </a:solidFill>
                <a:latin typeface="Calibri" pitchFamily="34" charset="0"/>
                <a:ea typeface="Calibri" pitchFamily="34" charset="-122"/>
                <a:cs typeface="Calibri" pitchFamily="34" charset="-120"/>
              </a:rPr>
              <a:t>Passkey</a:t>
            </a:r>
            <a:endParaRPr lang="en-US" sz="1600" dirty="0"/>
          </a:p>
        </p:txBody>
      </p:sp>
      <p:sp>
        <p:nvSpPr>
          <p:cNvPr id="7" name="Text 4"/>
          <p:cNvSpPr txBox="1"/>
          <p:nvPr/>
        </p:nvSpPr>
        <p:spPr>
          <a:xfrm>
            <a:off x="822960" y="3456432"/>
            <a:ext cx="237744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Default handler</a:t>
            </a:r>
            <a:endParaRPr lang="en-US" sz="1150" dirty="0"/>
          </a:p>
        </p:txBody>
      </p:sp>
      <p:sp>
        <p:nvSpPr>
          <p:cNvPr id="8" name="Text 5"/>
          <p:cNvSpPr txBox="1"/>
          <p:nvPr/>
        </p:nvSpPr>
        <p:spPr>
          <a:xfrm>
            <a:off x="3246120" y="2395728"/>
            <a:ext cx="1609344" cy="274320"/>
          </a:xfrm>
          <a:prstGeom prst="rect">
            <a:avLst/>
          </a:prstGeom>
          <a:noFill/>
          <a:ln/>
        </p:spPr>
        <p:txBody>
          <a:bodyPr wrap="square" lIns="0" tIns="0" rIns="0" bIns="0" rtlCol="0" anchor="ctr"/>
          <a:lstStyle/>
          <a:p>
            <a:pPr marL="0" indent="0" algn="ctr">
              <a:buNone/>
            </a:pPr>
            <a:r>
              <a:rPr lang="en-US" sz="1000" i="1" dirty="0">
                <a:solidFill>
                  <a:srgbClr val="5A6B7B"/>
                </a:solidFill>
                <a:latin typeface="Calibri" pitchFamily="34" charset="0"/>
                <a:ea typeface="Calibri" pitchFamily="34" charset="-122"/>
                <a:cs typeface="Calibri" pitchFamily="34" charset="-120"/>
              </a:rPr>
              <a:t>if unavailable</a:t>
            </a:r>
            <a:endParaRPr lang="en-US" sz="1000" dirty="0"/>
          </a:p>
        </p:txBody>
      </p:sp>
      <p:sp>
        <p:nvSpPr>
          <p:cNvPr id="9" name="Text 6"/>
          <p:cNvSpPr txBox="1"/>
          <p:nvPr/>
        </p:nvSpPr>
        <p:spPr>
          <a:xfrm>
            <a:off x="3246120" y="2651760"/>
            <a:ext cx="1609344" cy="548640"/>
          </a:xfrm>
          <a:prstGeom prst="rect">
            <a:avLst/>
          </a:prstGeom>
          <a:noFill/>
          <a:ln/>
        </p:spPr>
        <p:txBody>
          <a:bodyPr wrap="square" lIns="0" tIns="0" rIns="0" bIns="0" rtlCol="0" anchor="ctr"/>
          <a:lstStyle/>
          <a:p>
            <a:pPr marL="0" indent="0" algn="ctr">
              <a:buNone/>
            </a:pPr>
            <a:r>
              <a:rPr lang="en-US" sz="3000" b="1" dirty="0">
                <a:solidFill>
                  <a:srgbClr val="1C7293"/>
                </a:solidFill>
                <a:latin typeface="Calibri" pitchFamily="34" charset="0"/>
                <a:ea typeface="Calibri" pitchFamily="34" charset="-122"/>
                <a:cs typeface="Calibri" pitchFamily="34" charset="-120"/>
              </a:rPr>
              <a:t>→</a:t>
            </a:r>
            <a:endParaRPr lang="en-US" sz="3000" dirty="0"/>
          </a:p>
        </p:txBody>
      </p:sp>
      <p:sp>
        <p:nvSpPr>
          <p:cNvPr id="10" name="Shape 7"/>
          <p:cNvSpPr/>
          <p:nvPr/>
        </p:nvSpPr>
        <p:spPr>
          <a:xfrm>
            <a:off x="4905756" y="1828800"/>
            <a:ext cx="2377440" cy="2148840"/>
          </a:xfrm>
          <a:prstGeom prst="roundRect">
            <a:avLst>
              <a:gd name="adj" fmla="val 4255"/>
            </a:avLst>
          </a:prstGeom>
          <a:solidFill>
            <a:srgbClr val="FFFFFF"/>
          </a:solidFill>
          <a:ln w="19050">
            <a:solidFill>
              <a:srgbClr val="1C7293"/>
            </a:solidFill>
            <a:prstDash val="solid"/>
          </a:ln>
        </p:spPr>
        <p:txBody>
          <a:bodyPr/>
          <a:lstStyle/>
          <a:p>
            <a:endParaRPr lang="en-US"/>
          </a:p>
        </p:txBody>
      </p:sp>
      <p:sp>
        <p:nvSpPr>
          <p:cNvPr id="11" name="Shape 8"/>
          <p:cNvSpPr/>
          <p:nvPr/>
        </p:nvSpPr>
        <p:spPr>
          <a:xfrm>
            <a:off x="5682996" y="2103120"/>
            <a:ext cx="822960" cy="822960"/>
          </a:xfrm>
          <a:prstGeom prst="ellipse">
            <a:avLst/>
          </a:prstGeom>
          <a:solidFill>
            <a:srgbClr val="1C7293"/>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5880506" y="2300630"/>
            <a:ext cx="427939" cy="427939"/>
          </a:xfrm>
          <a:prstGeom prst="rect">
            <a:avLst/>
          </a:prstGeom>
        </p:spPr>
      </p:pic>
      <p:sp>
        <p:nvSpPr>
          <p:cNvPr id="13" name="Text 9"/>
          <p:cNvSpPr txBox="1"/>
          <p:nvPr/>
        </p:nvSpPr>
        <p:spPr>
          <a:xfrm>
            <a:off x="4905756" y="3063240"/>
            <a:ext cx="2377440" cy="365760"/>
          </a:xfrm>
          <a:prstGeom prst="rect">
            <a:avLst/>
          </a:prstGeom>
          <a:noFill/>
          <a:ln/>
        </p:spPr>
        <p:txBody>
          <a:bodyPr wrap="square" lIns="0" tIns="0" rIns="0" bIns="0" rtlCol="0" anchor="ctr"/>
          <a:lstStyle/>
          <a:p>
            <a:pPr marL="0" indent="0" algn="ctr">
              <a:buNone/>
            </a:pPr>
            <a:r>
              <a:rPr lang="en-US" sz="1500" b="1" dirty="0">
                <a:solidFill>
                  <a:srgbClr val="1B3A57"/>
                </a:solidFill>
                <a:latin typeface="Calibri" pitchFamily="34" charset="0"/>
                <a:ea typeface="Calibri" pitchFamily="34" charset="-122"/>
                <a:cs typeface="Calibri" pitchFamily="34" charset="-120"/>
              </a:rPr>
              <a:t>Password + App 2FA</a:t>
            </a:r>
            <a:endParaRPr lang="en-US" sz="1500" dirty="0"/>
          </a:p>
        </p:txBody>
      </p:sp>
      <p:sp>
        <p:nvSpPr>
          <p:cNvPr id="14" name="Text 10"/>
          <p:cNvSpPr txBox="1"/>
          <p:nvPr/>
        </p:nvSpPr>
        <p:spPr>
          <a:xfrm>
            <a:off x="4905756" y="3456432"/>
            <a:ext cx="237744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TOTP authenticator app</a:t>
            </a:r>
            <a:endParaRPr lang="en-US" sz="1150" dirty="0"/>
          </a:p>
        </p:txBody>
      </p:sp>
      <p:sp>
        <p:nvSpPr>
          <p:cNvPr id="15" name="Text 11"/>
          <p:cNvSpPr txBox="1"/>
          <p:nvPr/>
        </p:nvSpPr>
        <p:spPr>
          <a:xfrm>
            <a:off x="7328916" y="2697480"/>
            <a:ext cx="1609344" cy="457200"/>
          </a:xfrm>
          <a:prstGeom prst="rect">
            <a:avLst/>
          </a:prstGeom>
          <a:noFill/>
          <a:ln/>
        </p:spPr>
        <p:txBody>
          <a:bodyPr wrap="square" lIns="0" tIns="0" rIns="0" bIns="0" rtlCol="0" anchor="ctr"/>
          <a:lstStyle/>
          <a:p>
            <a:pPr marL="0" indent="0" algn="ctr">
              <a:buNone/>
            </a:pPr>
            <a:r>
              <a:rPr lang="en-US" sz="950" i="1" dirty="0">
                <a:solidFill>
                  <a:srgbClr val="E4572E"/>
                </a:solidFill>
                <a:latin typeface="Calibri" pitchFamily="34" charset="0"/>
                <a:ea typeface="Calibri" pitchFamily="34" charset="-122"/>
                <a:cs typeface="Calibri" pitchFamily="34" charset="-120"/>
              </a:rPr>
              <a:t>not reachable, excluded by design</a:t>
            </a:r>
            <a:endParaRPr lang="en-US" sz="950" dirty="0"/>
          </a:p>
        </p:txBody>
      </p:sp>
      <p:sp>
        <p:nvSpPr>
          <p:cNvPr id="16" name="Shape 12"/>
          <p:cNvSpPr/>
          <p:nvPr/>
        </p:nvSpPr>
        <p:spPr>
          <a:xfrm>
            <a:off x="8988552" y="1828800"/>
            <a:ext cx="2377440" cy="2148840"/>
          </a:xfrm>
          <a:prstGeom prst="roundRect">
            <a:avLst>
              <a:gd name="adj" fmla="val 4255"/>
            </a:avLst>
          </a:prstGeom>
          <a:solidFill>
            <a:srgbClr val="FBEAE5"/>
          </a:solidFill>
          <a:ln w="19050">
            <a:solidFill>
              <a:srgbClr val="E4572E"/>
            </a:solidFill>
            <a:prstDash val="dash"/>
          </a:ln>
        </p:spPr>
        <p:txBody>
          <a:bodyPr/>
          <a:lstStyle/>
          <a:p>
            <a:endParaRPr lang="en-US"/>
          </a:p>
        </p:txBody>
      </p:sp>
      <p:sp>
        <p:nvSpPr>
          <p:cNvPr id="17" name="Shape 13"/>
          <p:cNvSpPr/>
          <p:nvPr/>
        </p:nvSpPr>
        <p:spPr>
          <a:xfrm>
            <a:off x="9765792" y="2103120"/>
            <a:ext cx="822960" cy="822960"/>
          </a:xfrm>
          <a:prstGeom prst="ellipse">
            <a:avLst/>
          </a:prstGeom>
          <a:solidFill>
            <a:srgbClr val="E4572E"/>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963302" y="2300630"/>
            <a:ext cx="427939" cy="427939"/>
          </a:xfrm>
          <a:prstGeom prst="rect">
            <a:avLst/>
          </a:prstGeom>
        </p:spPr>
      </p:pic>
      <p:sp>
        <p:nvSpPr>
          <p:cNvPr id="19" name="Text 14"/>
          <p:cNvSpPr txBox="1"/>
          <p:nvPr/>
        </p:nvSpPr>
        <p:spPr>
          <a:xfrm>
            <a:off x="8988552" y="3063240"/>
            <a:ext cx="2377440" cy="365760"/>
          </a:xfrm>
          <a:prstGeom prst="rect">
            <a:avLst/>
          </a:prstGeom>
          <a:noFill/>
          <a:ln/>
        </p:spPr>
        <p:txBody>
          <a:bodyPr wrap="square" lIns="0" tIns="0" rIns="0" bIns="0" rtlCol="0" anchor="ctr"/>
          <a:lstStyle/>
          <a:p>
            <a:pPr marL="0" indent="0" algn="ctr">
              <a:buNone/>
            </a:pPr>
            <a:r>
              <a:rPr lang="en-US" sz="1600" b="1" dirty="0">
                <a:solidFill>
                  <a:srgbClr val="1B3A57"/>
                </a:solidFill>
                <a:latin typeface="Calibri" pitchFamily="34" charset="0"/>
                <a:ea typeface="Calibri" pitchFamily="34" charset="-122"/>
                <a:cs typeface="Calibri" pitchFamily="34" charset="-120"/>
              </a:rPr>
              <a:t>SMS OTP</a:t>
            </a:r>
            <a:endParaRPr lang="en-US" sz="1600" dirty="0"/>
          </a:p>
        </p:txBody>
      </p:sp>
      <p:sp>
        <p:nvSpPr>
          <p:cNvPr id="20" name="Text 15"/>
          <p:cNvSpPr txBox="1"/>
          <p:nvPr/>
        </p:nvSpPr>
        <p:spPr>
          <a:xfrm>
            <a:off x="8988552" y="3456432"/>
            <a:ext cx="2377440" cy="457200"/>
          </a:xfrm>
          <a:prstGeom prst="rect">
            <a:avLst/>
          </a:prstGeom>
          <a:noFill/>
          <a:ln/>
        </p:spPr>
        <p:txBody>
          <a:bodyPr wrap="square" lIns="0" tIns="0" rIns="0" bIns="0" rtlCol="0" anchor="ctr"/>
          <a:lstStyle/>
          <a:p>
            <a:pPr marL="0" indent="0" algn="ctr">
              <a:buNone/>
            </a:pPr>
            <a:r>
              <a:rPr lang="en-US" sz="1150" dirty="0">
                <a:solidFill>
                  <a:srgbClr val="5A6B7B"/>
                </a:solidFill>
                <a:latin typeface="Calibri" pitchFamily="34" charset="0"/>
                <a:ea typeface="Calibri" pitchFamily="34" charset="-122"/>
                <a:cs typeface="Calibri" pitchFamily="34" charset="-120"/>
              </a:rPr>
              <a:t>Never a handler</a:t>
            </a:r>
            <a:endParaRPr lang="en-US" sz="1150" dirty="0"/>
          </a:p>
        </p:txBody>
      </p:sp>
      <p:sp>
        <p:nvSpPr>
          <p:cNvPr id="21" name="Shape 16"/>
          <p:cNvSpPr/>
          <p:nvPr/>
        </p:nvSpPr>
        <p:spPr>
          <a:xfrm>
            <a:off x="1463040" y="4434840"/>
            <a:ext cx="457200" cy="457200"/>
          </a:xfrm>
          <a:prstGeom prst="ellipse">
            <a:avLst/>
          </a:prstGeom>
          <a:solidFill>
            <a:srgbClr val="1B3A57"/>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572768" y="4544568"/>
            <a:ext cx="237744" cy="237744"/>
          </a:xfrm>
          <a:prstGeom prst="rect">
            <a:avLst/>
          </a:prstGeom>
        </p:spPr>
      </p:pic>
      <p:sp>
        <p:nvSpPr>
          <p:cNvPr id="23" name="Text 17"/>
          <p:cNvSpPr txBox="1"/>
          <p:nvPr/>
        </p:nvSpPr>
        <p:spPr>
          <a:xfrm>
            <a:off x="2057400" y="4434840"/>
            <a:ext cx="4389120" cy="457200"/>
          </a:xfrm>
          <a:prstGeom prst="rect">
            <a:avLst/>
          </a:prstGeom>
          <a:noFill/>
          <a:ln/>
        </p:spPr>
        <p:txBody>
          <a:bodyPr wrap="square" lIns="0" tIns="0" rIns="0" bIns="0" rtlCol="0" anchor="ctr"/>
          <a:lstStyle/>
          <a:p>
            <a:pPr marL="0" indent="0" algn="l">
              <a:buNone/>
            </a:pPr>
            <a:r>
              <a:rPr lang="en-US" sz="1300" b="1" dirty="0">
                <a:solidFill>
                  <a:srgbClr val="1B3A57"/>
                </a:solidFill>
                <a:latin typeface="Calibri" pitchFamily="34" charset="0"/>
                <a:ea typeface="Calibri" pitchFamily="34" charset="-122"/>
                <a:cs typeface="Calibri" pitchFamily="34" charset="-120"/>
              </a:rPr>
              <a:t>Chain of Responsibility</a:t>
            </a:r>
            <a:r>
              <a:rPr lang="en-US" sz="1300" dirty="0">
                <a:solidFill>
                  <a:srgbClr val="5A6B7B"/>
                </a:solidFill>
                <a:latin typeface="Calibri" pitchFamily="34" charset="0"/>
                <a:ea typeface="Calibri" pitchFamily="34" charset="-122"/>
                <a:cs typeface="Calibri" pitchFamily="34" charset="-120"/>
              </a:rPr>
              <a:t>  attempt order</a:t>
            </a:r>
            <a:endParaRPr lang="en-US" sz="1300" dirty="0"/>
          </a:p>
        </p:txBody>
      </p:sp>
      <p:sp>
        <p:nvSpPr>
          <p:cNvPr id="24" name="Shape 18"/>
          <p:cNvSpPr/>
          <p:nvPr/>
        </p:nvSpPr>
        <p:spPr>
          <a:xfrm>
            <a:off x="6949440" y="4434840"/>
            <a:ext cx="457200" cy="457200"/>
          </a:xfrm>
          <a:prstGeom prst="ellipse">
            <a:avLst/>
          </a:prstGeom>
          <a:solidFill>
            <a:srgbClr val="1C7293"/>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7059168" y="4544568"/>
            <a:ext cx="237744" cy="237744"/>
          </a:xfrm>
          <a:prstGeom prst="rect">
            <a:avLst/>
          </a:prstGeom>
        </p:spPr>
      </p:pic>
      <p:sp>
        <p:nvSpPr>
          <p:cNvPr id="26" name="Text 19"/>
          <p:cNvSpPr txBox="1"/>
          <p:nvPr/>
        </p:nvSpPr>
        <p:spPr>
          <a:xfrm>
            <a:off x="7543800" y="4434840"/>
            <a:ext cx="4023360" cy="457200"/>
          </a:xfrm>
          <a:prstGeom prst="rect">
            <a:avLst/>
          </a:prstGeom>
          <a:noFill/>
          <a:ln/>
        </p:spPr>
        <p:txBody>
          <a:bodyPr wrap="square" lIns="0" tIns="0" rIns="0" bIns="0" rtlCol="0" anchor="ctr"/>
          <a:lstStyle/>
          <a:p>
            <a:pPr marL="0" indent="0" algn="l">
              <a:buNone/>
            </a:pPr>
            <a:r>
              <a:rPr lang="en-US" sz="1300" b="1" dirty="0">
                <a:solidFill>
                  <a:srgbClr val="1B3A57"/>
                </a:solidFill>
                <a:latin typeface="Calibri" pitchFamily="34" charset="0"/>
                <a:ea typeface="Calibri" pitchFamily="34" charset="-122"/>
                <a:cs typeface="Calibri" pitchFamily="34" charset="-120"/>
              </a:rPr>
              <a:t>Strategy</a:t>
            </a:r>
            <a:r>
              <a:rPr lang="en-US" sz="1300" dirty="0">
                <a:solidFill>
                  <a:srgbClr val="5A6B7B"/>
                </a:solidFill>
                <a:latin typeface="Calibri" pitchFamily="34" charset="0"/>
                <a:ea typeface="Calibri" pitchFamily="34" charset="-122"/>
                <a:cs typeface="Calibri" pitchFamily="34" charset="-120"/>
              </a:rPr>
              <a:t>  verification per method</a:t>
            </a:r>
            <a:endParaRPr lang="en-US" sz="1300" dirty="0"/>
          </a:p>
        </p:txBody>
      </p:sp>
      <p:sp>
        <p:nvSpPr>
          <p:cNvPr id="27" name="Text 20"/>
          <p:cNvSpPr txBox="1"/>
          <p:nvPr/>
        </p:nvSpPr>
        <p:spPr>
          <a:xfrm>
            <a:off x="822960" y="5257800"/>
            <a:ext cx="10515600" cy="640080"/>
          </a:xfrm>
          <a:prstGeom prst="rect">
            <a:avLst/>
          </a:prstGeom>
          <a:noFill/>
          <a:ln/>
        </p:spPr>
        <p:txBody>
          <a:bodyPr wrap="square" lIns="0" tIns="0" rIns="0" bIns="0" rtlCol="0" anchor="ctr"/>
          <a:lstStyle/>
          <a:p>
            <a:pPr marL="0" indent="0" algn="l">
              <a:buNone/>
            </a:pPr>
            <a:r>
              <a:rPr lang="en-US" sz="1350" i="1" dirty="0">
                <a:solidFill>
                  <a:srgbClr val="1C7293"/>
                </a:solidFill>
                <a:latin typeface="Calibri" pitchFamily="34" charset="0"/>
                <a:ea typeface="Calibri" pitchFamily="34" charset="-122"/>
                <a:cs typeface="Calibri" pitchFamily="34" charset="-120"/>
              </a:rPr>
              <a:t>A passkey assertion is signed and bound to the origin, so a phishing site cannot get it signed for the wrong site.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502920"/>
            <a:ext cx="10698480" cy="640080"/>
          </a:xfrm>
          <a:prstGeom prst="rect">
            <a:avLst/>
          </a:prstGeom>
          <a:noFill/>
          <a:ln/>
        </p:spPr>
        <p:txBody>
          <a:bodyPr wrap="square" lIns="0" tIns="0" rIns="0" bIns="0" rtlCol="0" anchor="ctr"/>
          <a:lstStyle/>
          <a:p>
            <a:pPr marL="0" indent="0" algn="l">
              <a:buNone/>
            </a:pPr>
            <a:r>
              <a:rPr lang="en-US" sz="3200" b="1" dirty="0">
                <a:solidFill>
                  <a:srgbClr val="1B3A57"/>
                </a:solidFill>
                <a:latin typeface="Cambria" pitchFamily="34" charset="0"/>
                <a:ea typeface="Cambria" pitchFamily="34" charset="-122"/>
                <a:cs typeface="Cambria" pitchFamily="34" charset="-120"/>
              </a:rPr>
              <a:t>From Diagram to Code</a:t>
            </a:r>
            <a:endParaRPr lang="en-US" sz="3200" dirty="0"/>
          </a:p>
        </p:txBody>
      </p:sp>
      <p:sp>
        <p:nvSpPr>
          <p:cNvPr id="3" name="Text 1"/>
          <p:cNvSpPr txBox="1"/>
          <p:nvPr/>
        </p:nvSpPr>
        <p:spPr>
          <a:xfrm>
            <a:off x="731520" y="1097280"/>
            <a:ext cx="10698480" cy="320040"/>
          </a:xfrm>
          <a:prstGeom prst="rect">
            <a:avLst/>
          </a:prstGeom>
          <a:noFill/>
          <a:ln/>
        </p:spPr>
        <p:txBody>
          <a:bodyPr wrap="square" lIns="0" tIns="0" rIns="0" bIns="0" rtlCol="0" anchor="ctr"/>
          <a:lstStyle/>
          <a:p>
            <a:pPr marL="0" indent="0" algn="l">
              <a:buNone/>
            </a:pPr>
            <a:r>
              <a:rPr lang="en-US" sz="1300" i="1" dirty="0">
                <a:solidFill>
                  <a:srgbClr val="5A6B7B"/>
                </a:solidFill>
                <a:latin typeface="Calibri" pitchFamily="34" charset="0"/>
                <a:ea typeface="Calibri" pitchFamily="34" charset="-122"/>
                <a:cs typeface="Calibri" pitchFamily="34" charset="-120"/>
              </a:rPr>
              <a:t>Illustrative excerpt, Python, not the full implementation</a:t>
            </a:r>
            <a:endParaRPr lang="en-US" sz="1300" dirty="0"/>
          </a:p>
        </p:txBody>
      </p:sp>
      <p:sp>
        <p:nvSpPr>
          <p:cNvPr id="9" name="Shape 6"/>
          <p:cNvSpPr/>
          <p:nvPr/>
        </p:nvSpPr>
        <p:spPr>
          <a:xfrm>
            <a:off x="731520" y="1600498"/>
            <a:ext cx="5120640" cy="4358641"/>
          </a:xfrm>
          <a:prstGeom prst="roundRect">
            <a:avLst>
              <a:gd name="adj" fmla="val 2051"/>
            </a:avLst>
          </a:prstGeom>
          <a:solidFill>
            <a:srgbClr val="EAF3F5"/>
          </a:solidFill>
          <a:ln/>
        </p:spPr>
        <p:txBody>
          <a:bodyPr/>
          <a:lstStyle/>
          <a:p>
            <a:endParaRPr lang="en-US"/>
          </a:p>
        </p:txBody>
      </p:sp>
      <p:sp>
        <p:nvSpPr>
          <p:cNvPr id="10" name="Shape 7"/>
          <p:cNvSpPr/>
          <p:nvPr/>
        </p:nvSpPr>
        <p:spPr>
          <a:xfrm>
            <a:off x="836506" y="1730884"/>
            <a:ext cx="548640" cy="548640"/>
          </a:xfrm>
          <a:prstGeom prst="ellipse">
            <a:avLst/>
          </a:prstGeom>
          <a:solidFill>
            <a:srgbClr val="1B3A57"/>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968180" y="1862558"/>
            <a:ext cx="285293" cy="285293"/>
          </a:xfrm>
          <a:prstGeom prst="rect">
            <a:avLst/>
          </a:prstGeom>
        </p:spPr>
      </p:pic>
      <p:sp>
        <p:nvSpPr>
          <p:cNvPr id="12" name="Text 8"/>
          <p:cNvSpPr txBox="1"/>
          <p:nvPr/>
        </p:nvSpPr>
        <p:spPr>
          <a:xfrm>
            <a:off x="1568026" y="1730884"/>
            <a:ext cx="3931920" cy="548640"/>
          </a:xfrm>
          <a:prstGeom prst="rect">
            <a:avLst/>
          </a:prstGeom>
          <a:noFill/>
          <a:ln/>
        </p:spPr>
        <p:txBody>
          <a:bodyPr wrap="square" lIns="0" tIns="0" rIns="0" bIns="0" rtlCol="0" anchor="ctr"/>
          <a:lstStyle/>
          <a:p>
            <a:pPr marL="0" indent="0" algn="l">
              <a:buNone/>
            </a:pPr>
            <a:r>
              <a:rPr lang="en-US" sz="1600" b="1" dirty="0">
                <a:solidFill>
                  <a:srgbClr val="1B3A57"/>
                </a:solidFill>
                <a:latin typeface="Calibri" pitchFamily="34" charset="0"/>
                <a:ea typeface="Calibri" pitchFamily="34" charset="-122"/>
                <a:cs typeface="Calibri" pitchFamily="34" charset="-120"/>
              </a:rPr>
              <a:t>Chain of Responsibility</a:t>
            </a:r>
            <a:endParaRPr lang="en-US" sz="1600" dirty="0"/>
          </a:p>
        </p:txBody>
      </p:sp>
      <p:sp>
        <p:nvSpPr>
          <p:cNvPr id="13" name="Text 9"/>
          <p:cNvSpPr txBox="1"/>
          <p:nvPr/>
        </p:nvSpPr>
        <p:spPr>
          <a:xfrm>
            <a:off x="822959" y="2426843"/>
            <a:ext cx="4925907" cy="3408683"/>
          </a:xfrm>
          <a:prstGeom prst="rect">
            <a:avLst/>
          </a:prstGeom>
          <a:noFill/>
          <a:ln/>
        </p:spPr>
        <p:txBody>
          <a:bodyPr wrap="square" lIns="0" tIns="0" rIns="0" bIns="0" rtlCol="0" anchor="t"/>
          <a:lstStyle/>
          <a:p>
            <a:pPr>
              <a:lnSpc>
                <a:spcPct val="120000"/>
              </a:lnSpc>
            </a:pPr>
            <a:r>
              <a:rPr lang="en-US" sz="1150" i="1" dirty="0">
                <a:solidFill>
                  <a:srgbClr val="5A6B7B"/>
                </a:solidFill>
                <a:latin typeface="Courier New" pitchFamily="34" charset="0"/>
                <a:ea typeface="Courier New" pitchFamily="34" charset="-122"/>
                <a:cs typeface="Courier New" pitchFamily="34" charset="-120"/>
              </a:rPr>
              <a:t>#Handlers that decide the order, starts with </a:t>
            </a:r>
            <a:r>
              <a:rPr lang="en-US" sz="1150" i="1" dirty="0" err="1">
                <a:solidFill>
                  <a:srgbClr val="5A6B7B"/>
                </a:solidFill>
                <a:latin typeface="Courier New" pitchFamily="34" charset="0"/>
                <a:ea typeface="Courier New" pitchFamily="34" charset="-122"/>
                <a:cs typeface="Courier New" pitchFamily="34" charset="-120"/>
              </a:rPr>
              <a:t>PassKey</a:t>
            </a:r>
            <a:endParaRPr lang="en-US" sz="1150" b="1" dirty="0">
              <a:solidFill>
                <a:srgbClr val="1B3A57"/>
              </a:solidFill>
              <a:latin typeface="Courier New" pitchFamily="34" charset="0"/>
              <a:ea typeface="Courier New" pitchFamily="34" charset="-122"/>
              <a:cs typeface="Courier New" pitchFamily="34" charset="-120"/>
            </a:endParaRPr>
          </a:p>
          <a:p>
            <a:pPr marL="0" indent="0" algn="l">
              <a:lnSpc>
                <a:spcPct val="120000"/>
              </a:lnSpc>
              <a:buNone/>
            </a:pPr>
            <a:r>
              <a:rPr lang="en-US" sz="1150" b="1" dirty="0">
                <a:solidFill>
                  <a:srgbClr val="1B3A57"/>
                </a:solidFill>
                <a:latin typeface="Courier New" pitchFamily="34" charset="0"/>
                <a:ea typeface="Courier New" pitchFamily="34" charset="-122"/>
                <a:cs typeface="Courier New" pitchFamily="34" charset="-120"/>
              </a:rPr>
              <a:t>class </a:t>
            </a:r>
            <a:r>
              <a:rPr lang="en-US" sz="1150" b="1" dirty="0" err="1">
                <a:solidFill>
                  <a:srgbClr val="1B3A57"/>
                </a:solidFill>
                <a:latin typeface="Courier New" pitchFamily="34" charset="0"/>
                <a:ea typeface="Courier New" pitchFamily="34" charset="-122"/>
                <a:cs typeface="Courier New" pitchFamily="34" charset="-120"/>
              </a:rPr>
              <a:t>PkeyHandler</a:t>
            </a:r>
            <a:r>
              <a:rPr lang="en-US" sz="1150" b="1" dirty="0">
                <a:solidFill>
                  <a:srgbClr val="1B3A57"/>
                </a:solidFill>
                <a:latin typeface="Courier New" pitchFamily="34" charset="0"/>
                <a:ea typeface="Courier New" pitchFamily="34" charset="-122"/>
                <a:cs typeface="Courier New" pitchFamily="34" charset="-120"/>
              </a:rPr>
              <a:t>: [...]</a:t>
            </a:r>
            <a:endParaRPr lang="en-US" sz="1150" dirty="0"/>
          </a:p>
          <a:p>
            <a:pPr>
              <a:lnSpc>
                <a:spcPct val="120000"/>
              </a:lnSpc>
            </a:pPr>
            <a:r>
              <a:rPr lang="en-US" sz="1150" b="1" dirty="0">
                <a:solidFill>
                  <a:srgbClr val="1C7293"/>
                </a:solidFill>
                <a:latin typeface="Courier New" pitchFamily="34" charset="0"/>
                <a:ea typeface="Courier New" pitchFamily="34" charset="-122"/>
                <a:cs typeface="Courier New" pitchFamily="34" charset="-120"/>
              </a:rPr>
              <a:t>   def handle(self, request):</a:t>
            </a:r>
          </a:p>
          <a:p>
            <a:pPr>
              <a:lnSpc>
                <a:spcPct val="120000"/>
              </a:lnSpc>
            </a:pPr>
            <a:r>
              <a:rPr lang="en-US" sz="1150" dirty="0">
                <a:latin typeface="Courier New" pitchFamily="34" charset="0"/>
                <a:cs typeface="Courier New" pitchFamily="34" charset="-120"/>
              </a:rPr>
              <a:t>      if not </a:t>
            </a:r>
            <a:r>
              <a:rPr lang="en-US" sz="1150" dirty="0" err="1">
                <a:latin typeface="Courier New" pitchFamily="34" charset="0"/>
                <a:cs typeface="Courier New" pitchFamily="34" charset="-120"/>
              </a:rPr>
              <a:t>request.account.has_passkey</a:t>
            </a:r>
            <a:r>
              <a:rPr lang="en-US" sz="1150" dirty="0">
                <a:latin typeface="Courier New" pitchFamily="34" charset="0"/>
                <a:cs typeface="Courier New" pitchFamily="34" charset="-120"/>
              </a:rPr>
              <a:t>():</a:t>
            </a:r>
          </a:p>
          <a:p>
            <a:pPr>
              <a:lnSpc>
                <a:spcPct val="120000"/>
              </a:lnSpc>
            </a:pPr>
            <a:r>
              <a:rPr lang="en-US" sz="1150" dirty="0">
                <a:latin typeface="Courier New" pitchFamily="34" charset="0"/>
                <a:cs typeface="Courier New" pitchFamily="34" charset="-120"/>
              </a:rPr>
              <a:t>         return self._</a:t>
            </a:r>
            <a:r>
              <a:rPr lang="en-US" sz="1150" dirty="0" err="1">
                <a:latin typeface="Courier New" pitchFamily="34" charset="0"/>
                <a:cs typeface="Courier New" pitchFamily="34" charset="-120"/>
              </a:rPr>
              <a:t>next.handle</a:t>
            </a:r>
            <a:r>
              <a:rPr lang="en-US" sz="1150" dirty="0">
                <a:latin typeface="Courier New" pitchFamily="34" charset="0"/>
                <a:cs typeface="Courier New" pitchFamily="34" charset="-120"/>
              </a:rPr>
              <a:t>(request)</a:t>
            </a:r>
          </a:p>
          <a:p>
            <a:pPr>
              <a:lnSpc>
                <a:spcPct val="120000"/>
              </a:lnSpc>
            </a:pPr>
            <a:r>
              <a:rPr lang="en-US" sz="1150" i="1" dirty="0">
                <a:solidFill>
                  <a:srgbClr val="5A6B7B"/>
                </a:solidFill>
                <a:latin typeface="Courier New" pitchFamily="34" charset="0"/>
                <a:ea typeface="Courier New" pitchFamily="34" charset="-122"/>
                <a:cs typeface="Courier New" pitchFamily="34" charset="-120"/>
              </a:rPr>
              <a:t>      #</a:t>
            </a:r>
            <a:r>
              <a:rPr lang="en-US" sz="1150" i="1" dirty="0" err="1">
                <a:solidFill>
                  <a:srgbClr val="5A6B7B"/>
                </a:solidFill>
                <a:latin typeface="Courier New" pitchFamily="34" charset="0"/>
                <a:ea typeface="Courier New" pitchFamily="34" charset="-122"/>
                <a:cs typeface="Courier New" pitchFamily="34" charset="-120"/>
              </a:rPr>
              <a:t>PkeyStrategy</a:t>
            </a:r>
            <a:r>
              <a:rPr lang="en-US" sz="1150" i="1" dirty="0">
                <a:solidFill>
                  <a:srgbClr val="5A6B7B"/>
                </a:solidFill>
                <a:latin typeface="Courier New" pitchFamily="34" charset="0"/>
                <a:ea typeface="Courier New" pitchFamily="34" charset="-122"/>
                <a:cs typeface="Courier New" pitchFamily="34" charset="-120"/>
              </a:rPr>
              <a:t> injected to verify auth.</a:t>
            </a:r>
            <a:endParaRPr lang="en-US" sz="1150" dirty="0">
              <a:latin typeface="Courier New" pitchFamily="34" charset="0"/>
              <a:cs typeface="Courier New" pitchFamily="34" charset="-120"/>
            </a:endParaRPr>
          </a:p>
          <a:p>
            <a:pPr>
              <a:lnSpc>
                <a:spcPct val="120000"/>
              </a:lnSpc>
            </a:pPr>
            <a:r>
              <a:rPr lang="en-US" sz="1150" dirty="0">
                <a:latin typeface="Courier New" pitchFamily="34" charset="0"/>
                <a:cs typeface="Courier New" pitchFamily="34" charset="-120"/>
              </a:rPr>
              <a:t>      return </a:t>
            </a:r>
            <a:r>
              <a:rPr lang="en-US" sz="1150" dirty="0" err="1">
                <a:latin typeface="Courier New" pitchFamily="34" charset="0"/>
                <a:cs typeface="Courier New" pitchFamily="34" charset="-120"/>
              </a:rPr>
              <a:t>AuthResult</a:t>
            </a:r>
            <a:r>
              <a:rPr lang="en-US" sz="1150" dirty="0">
                <a:latin typeface="Courier New" pitchFamily="34" charset="0"/>
                <a:cs typeface="Courier New" pitchFamily="34" charset="-120"/>
              </a:rPr>
              <a:t>(</a:t>
            </a:r>
            <a:r>
              <a:rPr lang="en-US" sz="1150" dirty="0" err="1">
                <a:latin typeface="Courier New" pitchFamily="34" charset="0"/>
                <a:cs typeface="Courier New" pitchFamily="34" charset="-120"/>
              </a:rPr>
              <a:t>self.pkey_strategy.verify</a:t>
            </a:r>
            <a:r>
              <a:rPr lang="en-US" sz="1150" dirty="0">
                <a:latin typeface="Courier New" pitchFamily="34" charset="0"/>
                <a:cs typeface="Courier New" pitchFamily="34" charset="-120"/>
              </a:rPr>
              <a:t> [...]</a:t>
            </a:r>
            <a:endParaRPr lang="en-US" sz="1150" dirty="0"/>
          </a:p>
          <a:p>
            <a:pPr marL="0" indent="0" algn="l">
              <a:lnSpc>
                <a:spcPct val="120000"/>
              </a:lnSpc>
              <a:buNone/>
            </a:pPr>
            <a:endParaRPr lang="en-US" sz="1150" dirty="0">
              <a:solidFill>
                <a:srgbClr val="333333"/>
              </a:solidFill>
              <a:latin typeface="Courier New" pitchFamily="34" charset="0"/>
              <a:cs typeface="Courier New" pitchFamily="34" charset="-120"/>
            </a:endParaRPr>
          </a:p>
          <a:p>
            <a:pPr>
              <a:lnSpc>
                <a:spcPct val="120000"/>
              </a:lnSpc>
            </a:pPr>
            <a:r>
              <a:rPr lang="en-US" sz="1150" i="1" dirty="0">
                <a:solidFill>
                  <a:srgbClr val="5A6B7B"/>
                </a:solidFill>
                <a:latin typeface="Courier New" pitchFamily="34" charset="0"/>
                <a:ea typeface="Courier New" pitchFamily="34" charset="-122"/>
                <a:cs typeface="Courier New" pitchFamily="34" charset="-120"/>
              </a:rPr>
              <a:t>#Last Handler</a:t>
            </a:r>
            <a:endParaRPr lang="en-US" sz="1150" dirty="0">
              <a:solidFill>
                <a:srgbClr val="333333"/>
              </a:solidFill>
              <a:latin typeface="Courier New" pitchFamily="34" charset="0"/>
              <a:cs typeface="Courier New" pitchFamily="34" charset="-120"/>
            </a:endParaRPr>
          </a:p>
          <a:p>
            <a:pPr>
              <a:lnSpc>
                <a:spcPct val="120000"/>
              </a:lnSpc>
            </a:pPr>
            <a:r>
              <a:rPr lang="en-US" sz="1150" b="1" dirty="0">
                <a:solidFill>
                  <a:srgbClr val="1B3A57"/>
                </a:solidFill>
                <a:latin typeface="Courier New" pitchFamily="34" charset="0"/>
                <a:ea typeface="Courier New" pitchFamily="34" charset="-122"/>
                <a:cs typeface="Courier New" pitchFamily="34" charset="-120"/>
              </a:rPr>
              <a:t>class </a:t>
            </a:r>
            <a:r>
              <a:rPr lang="en-US" sz="1150" b="1" dirty="0" err="1">
                <a:solidFill>
                  <a:srgbClr val="1B3A57"/>
                </a:solidFill>
                <a:latin typeface="Courier New" pitchFamily="34" charset="0"/>
                <a:ea typeface="Courier New" pitchFamily="34" charset="-122"/>
                <a:cs typeface="Courier New" pitchFamily="34" charset="-120"/>
              </a:rPr>
              <a:t>PasswordTotpHandler</a:t>
            </a:r>
            <a:r>
              <a:rPr lang="en-US" sz="1150" b="1" dirty="0">
                <a:solidFill>
                  <a:srgbClr val="1B3A57"/>
                </a:solidFill>
                <a:latin typeface="Courier New" pitchFamily="34" charset="0"/>
                <a:ea typeface="Courier New" pitchFamily="34" charset="-122"/>
                <a:cs typeface="Courier New" pitchFamily="34" charset="-120"/>
              </a:rPr>
              <a:t>: [...]</a:t>
            </a:r>
          </a:p>
          <a:p>
            <a:pPr>
              <a:lnSpc>
                <a:spcPct val="120000"/>
              </a:lnSpc>
            </a:pPr>
            <a:r>
              <a:rPr lang="en-US" sz="1150" b="1" dirty="0">
                <a:solidFill>
                  <a:srgbClr val="1C7293"/>
                </a:solidFill>
                <a:latin typeface="Courier New" pitchFamily="34" charset="0"/>
                <a:ea typeface="Courier New" pitchFamily="34" charset="-122"/>
                <a:cs typeface="Courier New" pitchFamily="34" charset="-120"/>
              </a:rPr>
              <a:t>    def handle(self, request):</a:t>
            </a:r>
          </a:p>
          <a:p>
            <a:pPr>
              <a:lnSpc>
                <a:spcPct val="120000"/>
              </a:lnSpc>
            </a:pPr>
            <a:r>
              <a:rPr lang="en-US" sz="1150" i="1" dirty="0">
                <a:solidFill>
                  <a:srgbClr val="5A6B7B"/>
                </a:solidFill>
                <a:latin typeface="Courier New" pitchFamily="34" charset="0"/>
                <a:ea typeface="Courier New" pitchFamily="34" charset="-122"/>
                <a:cs typeface="Courier New" pitchFamily="34" charset="-120"/>
              </a:rPr>
              <a:t>      #</a:t>
            </a:r>
            <a:r>
              <a:rPr lang="en-US" sz="1150" i="1" dirty="0" err="1">
                <a:solidFill>
                  <a:srgbClr val="5A6B7B"/>
                </a:solidFill>
                <a:latin typeface="Courier New" pitchFamily="34" charset="0"/>
                <a:ea typeface="Courier New" pitchFamily="34" charset="-122"/>
                <a:cs typeface="Courier New" pitchFamily="34" charset="-120"/>
              </a:rPr>
              <a:t>PassStrategy</a:t>
            </a:r>
            <a:r>
              <a:rPr lang="en-US" sz="1150" i="1" dirty="0">
                <a:solidFill>
                  <a:srgbClr val="5A6B7B"/>
                </a:solidFill>
                <a:latin typeface="Courier New" pitchFamily="34" charset="0"/>
                <a:ea typeface="Courier New" pitchFamily="34" charset="-122"/>
                <a:cs typeface="Courier New" pitchFamily="34" charset="-120"/>
              </a:rPr>
              <a:t> injected to verify auth.</a:t>
            </a:r>
            <a:endParaRPr lang="en-US" sz="1150" b="1" dirty="0">
              <a:solidFill>
                <a:srgbClr val="1C7293"/>
              </a:solidFill>
              <a:latin typeface="Courier New" pitchFamily="34" charset="0"/>
              <a:ea typeface="Courier New" pitchFamily="34" charset="-122"/>
              <a:cs typeface="Courier New" pitchFamily="34" charset="-120"/>
            </a:endParaRPr>
          </a:p>
          <a:p>
            <a:pPr>
              <a:lnSpc>
                <a:spcPct val="120000"/>
              </a:lnSpc>
            </a:pPr>
            <a:r>
              <a:rPr lang="en-US" sz="1150" dirty="0">
                <a:latin typeface="Courier New" pitchFamily="34" charset="0"/>
                <a:cs typeface="Courier New" pitchFamily="34" charset="-120"/>
              </a:rPr>
              <a:t>      if not </a:t>
            </a:r>
            <a:r>
              <a:rPr lang="en-US" sz="1150" dirty="0" err="1">
                <a:latin typeface="Courier New" pitchFamily="34" charset="0"/>
                <a:cs typeface="Courier New" pitchFamily="34" charset="-120"/>
              </a:rPr>
              <a:t>self.pass_strategy.verify</a:t>
            </a:r>
            <a:r>
              <a:rPr lang="en-US" sz="1150" dirty="0">
                <a:latin typeface="Courier New" pitchFamily="34" charset="0"/>
                <a:cs typeface="Courier New" pitchFamily="34" charset="-120"/>
              </a:rPr>
              <a:t> [...]:</a:t>
            </a:r>
          </a:p>
          <a:p>
            <a:pPr>
              <a:lnSpc>
                <a:spcPct val="120000"/>
              </a:lnSpc>
            </a:pPr>
            <a:r>
              <a:rPr lang="en-US" sz="1150" dirty="0">
                <a:latin typeface="Courier New" pitchFamily="34" charset="0"/>
                <a:cs typeface="Courier New" pitchFamily="34" charset="-120"/>
              </a:rPr>
              <a:t>         return </a:t>
            </a:r>
            <a:r>
              <a:rPr lang="en-US" sz="1150" dirty="0" err="1">
                <a:latin typeface="Courier New" pitchFamily="34" charset="0"/>
                <a:cs typeface="Courier New" pitchFamily="34" charset="-120"/>
              </a:rPr>
              <a:t>AuthResult</a:t>
            </a:r>
            <a:r>
              <a:rPr lang="en-US" sz="1150" dirty="0">
                <a:latin typeface="Courier New" pitchFamily="34" charset="0"/>
                <a:cs typeface="Courier New" pitchFamily="34" charset="-120"/>
              </a:rPr>
              <a:t>(False)</a:t>
            </a:r>
          </a:p>
          <a:p>
            <a:pPr>
              <a:lnSpc>
                <a:spcPct val="120000"/>
              </a:lnSpc>
            </a:pPr>
            <a:r>
              <a:rPr lang="en-US" sz="1150" dirty="0">
                <a:latin typeface="Courier New" pitchFamily="34" charset="0"/>
                <a:cs typeface="Courier New" pitchFamily="34" charset="-120"/>
              </a:rPr>
              <a:t>      </a:t>
            </a:r>
            <a:r>
              <a:rPr lang="en-US" sz="1150" i="1" dirty="0">
                <a:solidFill>
                  <a:srgbClr val="5A6B7B"/>
                </a:solidFill>
                <a:latin typeface="Courier New" pitchFamily="34" charset="0"/>
                <a:ea typeface="Courier New" pitchFamily="34" charset="-122"/>
                <a:cs typeface="Courier New" pitchFamily="34" charset="-120"/>
              </a:rPr>
              <a:t>#</a:t>
            </a:r>
            <a:r>
              <a:rPr lang="en-US" sz="1150" i="1" dirty="0" err="1">
                <a:solidFill>
                  <a:srgbClr val="5A6B7B"/>
                </a:solidFill>
                <a:latin typeface="Courier New" pitchFamily="34" charset="0"/>
                <a:ea typeface="Courier New" pitchFamily="34" charset="-122"/>
                <a:cs typeface="Courier New" pitchFamily="34" charset="-120"/>
              </a:rPr>
              <a:t>TotpStrategy</a:t>
            </a:r>
            <a:r>
              <a:rPr lang="en-US" sz="1150" i="1" dirty="0">
                <a:solidFill>
                  <a:srgbClr val="5A6B7B"/>
                </a:solidFill>
                <a:latin typeface="Courier New" pitchFamily="34" charset="0"/>
                <a:ea typeface="Courier New" pitchFamily="34" charset="-122"/>
                <a:cs typeface="Courier New" pitchFamily="34" charset="-120"/>
              </a:rPr>
              <a:t> injected to complete auth.</a:t>
            </a:r>
            <a:endParaRPr lang="en-US" sz="1150" dirty="0">
              <a:latin typeface="Courier New" pitchFamily="34" charset="0"/>
              <a:cs typeface="Courier New" pitchFamily="34" charset="-120"/>
            </a:endParaRPr>
          </a:p>
          <a:p>
            <a:pPr>
              <a:lnSpc>
                <a:spcPct val="120000"/>
              </a:lnSpc>
            </a:pPr>
            <a:r>
              <a:rPr lang="en-US" sz="1150" dirty="0">
                <a:latin typeface="Courier New" pitchFamily="34" charset="0"/>
                <a:cs typeface="Courier New" pitchFamily="34" charset="-120"/>
              </a:rPr>
              <a:t>      return </a:t>
            </a:r>
            <a:r>
              <a:rPr lang="en-US" sz="1150" dirty="0" err="1">
                <a:latin typeface="Courier New" pitchFamily="34" charset="0"/>
                <a:cs typeface="Courier New" pitchFamily="34" charset="-120"/>
              </a:rPr>
              <a:t>AuthResult</a:t>
            </a:r>
            <a:r>
              <a:rPr lang="en-US" sz="1150" dirty="0">
                <a:latin typeface="Courier New" pitchFamily="34" charset="0"/>
                <a:cs typeface="Courier New" pitchFamily="34" charset="-120"/>
              </a:rPr>
              <a:t>(</a:t>
            </a:r>
            <a:r>
              <a:rPr lang="en-US" sz="1150" dirty="0" err="1">
                <a:latin typeface="Courier New" pitchFamily="34" charset="0"/>
                <a:cs typeface="Courier New" pitchFamily="34" charset="-120"/>
              </a:rPr>
              <a:t>self.totp_strategy.verify</a:t>
            </a:r>
            <a:r>
              <a:rPr lang="en-US" sz="1150" dirty="0">
                <a:latin typeface="Courier New" pitchFamily="34" charset="0"/>
                <a:cs typeface="Courier New" pitchFamily="34" charset="-120"/>
              </a:rPr>
              <a:t> [...]</a:t>
            </a:r>
            <a:endParaRPr lang="en-US" sz="1150" dirty="0"/>
          </a:p>
        </p:txBody>
      </p:sp>
      <p:sp>
        <p:nvSpPr>
          <p:cNvPr id="15" name="Shape 2">
            <a:extLst>
              <a:ext uri="{FF2B5EF4-FFF2-40B4-BE49-F238E27FC236}">
                <a16:creationId xmlns:a16="http://schemas.microsoft.com/office/drawing/2014/main" id="{4A36E228-FE9A-987D-C0C3-99708DE12DAB}"/>
              </a:ext>
            </a:extLst>
          </p:cNvPr>
          <p:cNvSpPr/>
          <p:nvPr/>
        </p:nvSpPr>
        <p:spPr>
          <a:xfrm>
            <a:off x="6339840" y="1600499"/>
            <a:ext cx="5120640" cy="4358640"/>
          </a:xfrm>
          <a:prstGeom prst="roundRect">
            <a:avLst>
              <a:gd name="adj" fmla="val 2051"/>
            </a:avLst>
          </a:prstGeom>
          <a:solidFill>
            <a:srgbClr val="EAF3F5"/>
          </a:solidFill>
          <a:ln/>
        </p:spPr>
        <p:txBody>
          <a:bodyPr/>
          <a:lstStyle/>
          <a:p>
            <a:endParaRPr lang="en-US" dirty="0"/>
          </a:p>
        </p:txBody>
      </p:sp>
      <p:sp>
        <p:nvSpPr>
          <p:cNvPr id="16" name="Shape 3">
            <a:extLst>
              <a:ext uri="{FF2B5EF4-FFF2-40B4-BE49-F238E27FC236}">
                <a16:creationId xmlns:a16="http://schemas.microsoft.com/office/drawing/2014/main" id="{A9370A78-881C-A03F-B703-8EB0D542FC20}"/>
              </a:ext>
            </a:extLst>
          </p:cNvPr>
          <p:cNvSpPr/>
          <p:nvPr/>
        </p:nvSpPr>
        <p:spPr>
          <a:xfrm>
            <a:off x="6444826" y="1738943"/>
            <a:ext cx="548640" cy="548640"/>
          </a:xfrm>
          <a:prstGeom prst="ellipse">
            <a:avLst/>
          </a:prstGeom>
          <a:solidFill>
            <a:srgbClr val="1C7293"/>
          </a:solidFill>
          <a:ln/>
        </p:spPr>
        <p:txBody>
          <a:bodyPr/>
          <a:lstStyle/>
          <a:p>
            <a:endParaRPr lang="en-US"/>
          </a:p>
        </p:txBody>
      </p:sp>
      <p:pic>
        <p:nvPicPr>
          <p:cNvPr id="17" name="Image 0" descr="preencoded.png">
            <a:extLst>
              <a:ext uri="{FF2B5EF4-FFF2-40B4-BE49-F238E27FC236}">
                <a16:creationId xmlns:a16="http://schemas.microsoft.com/office/drawing/2014/main" id="{EF773387-B188-F9AB-0534-9E901F35F769}"/>
              </a:ext>
            </a:extLst>
          </p:cNvPr>
          <p:cNvPicPr>
            <a:picLocks noChangeAspect="1"/>
          </p:cNvPicPr>
          <p:nvPr/>
        </p:nvPicPr>
        <p:blipFill>
          <a:blip r:embed="rId4"/>
          <a:stretch>
            <a:fillRect/>
          </a:stretch>
        </p:blipFill>
        <p:spPr>
          <a:xfrm>
            <a:off x="6576500" y="1870617"/>
            <a:ext cx="285293" cy="285293"/>
          </a:xfrm>
          <a:prstGeom prst="rect">
            <a:avLst/>
          </a:prstGeom>
        </p:spPr>
      </p:pic>
      <p:sp>
        <p:nvSpPr>
          <p:cNvPr id="18" name="Text 4">
            <a:extLst>
              <a:ext uri="{FF2B5EF4-FFF2-40B4-BE49-F238E27FC236}">
                <a16:creationId xmlns:a16="http://schemas.microsoft.com/office/drawing/2014/main" id="{4BD74261-6FF2-89F1-10E0-94882D0CC6BB}"/>
              </a:ext>
            </a:extLst>
          </p:cNvPr>
          <p:cNvSpPr txBox="1"/>
          <p:nvPr/>
        </p:nvSpPr>
        <p:spPr>
          <a:xfrm>
            <a:off x="7176346" y="1738943"/>
            <a:ext cx="3931920" cy="548640"/>
          </a:xfrm>
          <a:prstGeom prst="rect">
            <a:avLst/>
          </a:prstGeom>
          <a:noFill/>
          <a:ln/>
        </p:spPr>
        <p:txBody>
          <a:bodyPr wrap="square" lIns="0" tIns="0" rIns="0" bIns="0" rtlCol="0" anchor="ctr"/>
          <a:lstStyle/>
          <a:p>
            <a:pPr marL="0" indent="0" algn="l">
              <a:buNone/>
            </a:pPr>
            <a:r>
              <a:rPr lang="en-US" sz="1600" b="1" dirty="0">
                <a:solidFill>
                  <a:srgbClr val="1B3A57"/>
                </a:solidFill>
                <a:latin typeface="Calibri" pitchFamily="34" charset="0"/>
                <a:ea typeface="Calibri" pitchFamily="34" charset="-122"/>
                <a:cs typeface="Calibri" pitchFamily="34" charset="-120"/>
              </a:rPr>
              <a:t>Strategy</a:t>
            </a:r>
            <a:endParaRPr lang="en-US" sz="1600" dirty="0"/>
          </a:p>
        </p:txBody>
      </p:sp>
      <p:sp>
        <p:nvSpPr>
          <p:cNvPr id="19" name="Text 5">
            <a:extLst>
              <a:ext uri="{FF2B5EF4-FFF2-40B4-BE49-F238E27FC236}">
                <a16:creationId xmlns:a16="http://schemas.microsoft.com/office/drawing/2014/main" id="{69A0A1FA-CEEA-9CC4-1354-5FFCAC0F2D1E}"/>
              </a:ext>
            </a:extLst>
          </p:cNvPr>
          <p:cNvSpPr txBox="1"/>
          <p:nvPr/>
        </p:nvSpPr>
        <p:spPr>
          <a:xfrm>
            <a:off x="6444825" y="2426026"/>
            <a:ext cx="4924215" cy="2867633"/>
          </a:xfrm>
          <a:prstGeom prst="rect">
            <a:avLst/>
          </a:prstGeom>
          <a:noFill/>
          <a:ln/>
        </p:spPr>
        <p:txBody>
          <a:bodyPr wrap="square" lIns="0" tIns="0" rIns="0" bIns="0" rtlCol="0" anchor="t"/>
          <a:lstStyle/>
          <a:p>
            <a:pPr>
              <a:lnSpc>
                <a:spcPct val="125000"/>
              </a:lnSpc>
            </a:pPr>
            <a:r>
              <a:rPr lang="en-US" sz="1150" i="1" dirty="0">
                <a:solidFill>
                  <a:srgbClr val="5A6B7B"/>
                </a:solidFill>
                <a:latin typeface="Courier New" pitchFamily="34" charset="0"/>
                <a:ea typeface="Courier New" pitchFamily="34" charset="-122"/>
                <a:cs typeface="Courier New" pitchFamily="34" charset="-120"/>
              </a:rPr>
              <a:t>#Verifies one credential type</a:t>
            </a:r>
            <a:endParaRPr lang="en-US" sz="1150" b="1" dirty="0">
              <a:solidFill>
                <a:srgbClr val="1B3A57"/>
              </a:solidFill>
              <a:latin typeface="Courier New" pitchFamily="34" charset="0"/>
              <a:ea typeface="Courier New" pitchFamily="34" charset="-122"/>
              <a:cs typeface="Courier New" pitchFamily="34" charset="-120"/>
            </a:endParaRPr>
          </a:p>
          <a:p>
            <a:pPr marL="0" indent="0" algn="l">
              <a:lnSpc>
                <a:spcPct val="125000"/>
              </a:lnSpc>
              <a:buNone/>
            </a:pPr>
            <a:r>
              <a:rPr lang="en-US" sz="1150" b="1" dirty="0">
                <a:solidFill>
                  <a:srgbClr val="1B3A57"/>
                </a:solidFill>
                <a:latin typeface="Courier New" pitchFamily="34" charset="0"/>
                <a:ea typeface="Courier New" pitchFamily="34" charset="-122"/>
                <a:cs typeface="Courier New" pitchFamily="34" charset="-120"/>
              </a:rPr>
              <a:t>class </a:t>
            </a:r>
            <a:r>
              <a:rPr lang="en-US" sz="1150" b="1" dirty="0" err="1">
                <a:solidFill>
                  <a:srgbClr val="1B3A57"/>
                </a:solidFill>
                <a:latin typeface="Courier New" pitchFamily="34" charset="0"/>
                <a:ea typeface="Courier New" pitchFamily="34" charset="-122"/>
                <a:cs typeface="Courier New" pitchFamily="34" charset="-120"/>
              </a:rPr>
              <a:t>AuthStrategy</a:t>
            </a:r>
            <a:r>
              <a:rPr lang="en-US" sz="1150" b="1" dirty="0">
                <a:solidFill>
                  <a:srgbClr val="1B3A57"/>
                </a:solidFill>
                <a:latin typeface="Courier New" pitchFamily="34" charset="0"/>
                <a:ea typeface="Courier New" pitchFamily="34" charset="-122"/>
                <a:cs typeface="Courier New" pitchFamily="34" charset="-120"/>
              </a:rPr>
              <a:t>(Protocol):</a:t>
            </a:r>
            <a:endParaRPr lang="en-US" sz="1150" dirty="0"/>
          </a:p>
          <a:p>
            <a:pPr marL="0" indent="0" algn="l">
              <a:lnSpc>
                <a:spcPct val="125000"/>
              </a:lnSpc>
              <a:buNone/>
            </a:pPr>
            <a:r>
              <a:rPr lang="en-US" sz="1150" b="1" dirty="0">
                <a:solidFill>
                  <a:srgbClr val="1C7293"/>
                </a:solidFill>
                <a:latin typeface="Courier New" pitchFamily="34" charset="0"/>
                <a:ea typeface="Courier New" pitchFamily="34" charset="-122"/>
                <a:cs typeface="Courier New" pitchFamily="34" charset="-120"/>
              </a:rPr>
              <a:t>    def verify(self, credential:</a:t>
            </a:r>
            <a:r>
              <a:rPr lang="en-US" sz="1150" dirty="0"/>
              <a:t> </a:t>
            </a:r>
            <a:r>
              <a:rPr lang="en-US" sz="1150" b="1" dirty="0">
                <a:solidFill>
                  <a:srgbClr val="1C7293"/>
                </a:solidFill>
                <a:latin typeface="Courier New" pitchFamily="34" charset="0"/>
                <a:ea typeface="Courier New" pitchFamily="34" charset="-122"/>
                <a:cs typeface="Courier New" pitchFamily="34" charset="-120"/>
              </a:rPr>
              <a:t>Credential)</a:t>
            </a:r>
          </a:p>
          <a:p>
            <a:pPr marL="0" indent="0" algn="l">
              <a:lnSpc>
                <a:spcPct val="125000"/>
              </a:lnSpc>
              <a:buNone/>
            </a:pPr>
            <a:endParaRPr lang="en-US" sz="1150" b="1" dirty="0">
              <a:solidFill>
                <a:srgbClr val="1C7293"/>
              </a:solidFill>
              <a:latin typeface="Courier New" pitchFamily="34" charset="0"/>
              <a:cs typeface="Courier New" pitchFamily="34" charset="-120"/>
            </a:endParaRPr>
          </a:p>
          <a:p>
            <a:pPr>
              <a:lnSpc>
                <a:spcPct val="125000"/>
              </a:lnSpc>
            </a:pPr>
            <a:r>
              <a:rPr lang="en-US" sz="1150" i="1" dirty="0">
                <a:solidFill>
                  <a:srgbClr val="5A6B7B"/>
                </a:solidFill>
                <a:latin typeface="Courier New" pitchFamily="34" charset="0"/>
                <a:ea typeface="Courier New" pitchFamily="34" charset="-122"/>
                <a:cs typeface="Courier New" pitchFamily="34" charset="-120"/>
              </a:rPr>
              <a:t>#Verify Passkey against stored public key</a:t>
            </a:r>
            <a:endParaRPr lang="en-US" sz="1150" b="1" dirty="0">
              <a:solidFill>
                <a:srgbClr val="1C7293"/>
              </a:solidFill>
              <a:latin typeface="Courier New" pitchFamily="34" charset="0"/>
              <a:cs typeface="Courier New" pitchFamily="34" charset="-120"/>
            </a:endParaRPr>
          </a:p>
          <a:p>
            <a:pPr>
              <a:lnSpc>
                <a:spcPct val="125000"/>
              </a:lnSpc>
            </a:pPr>
            <a:r>
              <a:rPr lang="en-US" sz="1150" b="1" dirty="0">
                <a:solidFill>
                  <a:srgbClr val="1B3A57"/>
                </a:solidFill>
                <a:latin typeface="Courier New" pitchFamily="34" charset="0"/>
                <a:ea typeface="Courier New" pitchFamily="34" charset="-122"/>
                <a:cs typeface="Courier New" pitchFamily="34" charset="-120"/>
              </a:rPr>
              <a:t>class </a:t>
            </a:r>
            <a:r>
              <a:rPr lang="en-US" sz="1150" b="1" dirty="0" err="1">
                <a:solidFill>
                  <a:srgbClr val="1B3A57"/>
                </a:solidFill>
                <a:latin typeface="Courier New" pitchFamily="34" charset="0"/>
                <a:ea typeface="Courier New" pitchFamily="34" charset="-122"/>
                <a:cs typeface="Courier New" pitchFamily="34" charset="-120"/>
              </a:rPr>
              <a:t>PkeyStrategy</a:t>
            </a:r>
            <a:r>
              <a:rPr lang="en-US" sz="1150" b="1" dirty="0">
                <a:solidFill>
                  <a:srgbClr val="1B3A57"/>
                </a:solidFill>
                <a:latin typeface="Courier New" pitchFamily="34" charset="0"/>
                <a:ea typeface="Courier New" pitchFamily="34" charset="-122"/>
                <a:cs typeface="Courier New" pitchFamily="34" charset="-120"/>
              </a:rPr>
              <a:t>: [...]</a:t>
            </a:r>
            <a:endParaRPr lang="en-US" sz="1150" dirty="0"/>
          </a:p>
          <a:p>
            <a:pPr marL="0" indent="0" algn="l">
              <a:lnSpc>
                <a:spcPct val="125000"/>
              </a:lnSpc>
              <a:buNone/>
            </a:pPr>
            <a:endParaRPr lang="en-US" sz="1150" dirty="0"/>
          </a:p>
          <a:p>
            <a:pPr>
              <a:lnSpc>
                <a:spcPct val="125000"/>
              </a:lnSpc>
            </a:pPr>
            <a:r>
              <a:rPr lang="en-US" sz="1150" i="1" dirty="0">
                <a:solidFill>
                  <a:srgbClr val="5A6B7B"/>
                </a:solidFill>
                <a:latin typeface="Courier New" pitchFamily="34" charset="0"/>
                <a:ea typeface="Courier New" pitchFamily="34" charset="-122"/>
                <a:cs typeface="Courier New" pitchFamily="34" charset="-120"/>
              </a:rPr>
              <a:t>#Verify password against stored hash</a:t>
            </a:r>
            <a:endParaRPr lang="en-US" sz="1150" dirty="0"/>
          </a:p>
          <a:p>
            <a:pPr>
              <a:lnSpc>
                <a:spcPct val="125000"/>
              </a:lnSpc>
            </a:pPr>
            <a:r>
              <a:rPr lang="en-US" sz="1150" b="1" dirty="0">
                <a:solidFill>
                  <a:srgbClr val="1B3A57"/>
                </a:solidFill>
                <a:latin typeface="Courier New" pitchFamily="34" charset="0"/>
                <a:ea typeface="Courier New" pitchFamily="34" charset="-122"/>
                <a:cs typeface="Courier New" pitchFamily="34" charset="-120"/>
              </a:rPr>
              <a:t>class </a:t>
            </a:r>
            <a:r>
              <a:rPr lang="en-US" sz="1150" b="1" dirty="0" err="1">
                <a:solidFill>
                  <a:srgbClr val="1B3A57"/>
                </a:solidFill>
                <a:latin typeface="Courier New" pitchFamily="34" charset="0"/>
                <a:ea typeface="Courier New" pitchFamily="34" charset="-122"/>
                <a:cs typeface="Courier New" pitchFamily="34" charset="-120"/>
              </a:rPr>
              <a:t>PassStrategy</a:t>
            </a:r>
            <a:r>
              <a:rPr lang="en-US" sz="1150" b="1" dirty="0">
                <a:solidFill>
                  <a:srgbClr val="1B3A57"/>
                </a:solidFill>
                <a:latin typeface="Courier New" pitchFamily="34" charset="0"/>
                <a:ea typeface="Courier New" pitchFamily="34" charset="-122"/>
                <a:cs typeface="Courier New" pitchFamily="34" charset="-120"/>
              </a:rPr>
              <a:t>: [...]</a:t>
            </a:r>
            <a:endParaRPr lang="en-US" sz="1150" dirty="0"/>
          </a:p>
          <a:p>
            <a:pPr marL="0" indent="0" algn="l">
              <a:lnSpc>
                <a:spcPct val="125000"/>
              </a:lnSpc>
              <a:buNone/>
            </a:pPr>
            <a:endParaRPr lang="en-US" sz="1150" dirty="0"/>
          </a:p>
          <a:p>
            <a:pPr>
              <a:lnSpc>
                <a:spcPct val="125000"/>
              </a:lnSpc>
            </a:pPr>
            <a:r>
              <a:rPr lang="en-US" sz="1150" i="1" dirty="0">
                <a:solidFill>
                  <a:srgbClr val="5A6B7B"/>
                </a:solidFill>
                <a:latin typeface="Courier New" pitchFamily="34" charset="0"/>
                <a:ea typeface="Courier New" pitchFamily="34" charset="-122"/>
                <a:cs typeface="Courier New" pitchFamily="34" charset="-120"/>
              </a:rPr>
              <a:t>#Verify time-based one-time code against shared secret</a:t>
            </a:r>
            <a:endParaRPr lang="en-US" sz="1150" dirty="0"/>
          </a:p>
          <a:p>
            <a:r>
              <a:rPr lang="en-US" sz="1150" b="1" dirty="0">
                <a:solidFill>
                  <a:srgbClr val="1B3A57"/>
                </a:solidFill>
                <a:latin typeface="Courier New" pitchFamily="34" charset="0"/>
                <a:ea typeface="Courier New" pitchFamily="34" charset="-122"/>
                <a:cs typeface="Courier New" pitchFamily="34" charset="-120"/>
              </a:rPr>
              <a:t>class </a:t>
            </a:r>
            <a:r>
              <a:rPr lang="en-US" sz="1150" b="1" dirty="0" err="1">
                <a:solidFill>
                  <a:srgbClr val="1B3A57"/>
                </a:solidFill>
                <a:latin typeface="Courier New" pitchFamily="34" charset="0"/>
                <a:ea typeface="Courier New" pitchFamily="34" charset="-122"/>
                <a:cs typeface="Courier New" pitchFamily="34" charset="-120"/>
              </a:rPr>
              <a:t>TotpStrategy</a:t>
            </a:r>
            <a:r>
              <a:rPr lang="en-US" sz="1150" b="1" dirty="0">
                <a:solidFill>
                  <a:srgbClr val="1B3A57"/>
                </a:solidFill>
                <a:latin typeface="Courier New" pitchFamily="34" charset="0"/>
                <a:ea typeface="Courier New" pitchFamily="34" charset="-122"/>
                <a:cs typeface="Courier New" pitchFamily="34" charset="-120"/>
              </a:rPr>
              <a:t>: [...]</a:t>
            </a:r>
            <a:endParaRPr lang="en-US" sz="1150" dirty="0"/>
          </a:p>
          <a:p>
            <a:pPr marL="0" indent="0" algn="l">
              <a:lnSpc>
                <a:spcPct val="125000"/>
              </a:lnSpc>
              <a:buNone/>
            </a:pPr>
            <a:endParaRPr lang="en-US" sz="1150" dirty="0"/>
          </a:p>
        </p:txBody>
      </p:sp>
      <p:sp>
        <p:nvSpPr>
          <p:cNvPr id="21" name="Text 20">
            <a:extLst>
              <a:ext uri="{FF2B5EF4-FFF2-40B4-BE49-F238E27FC236}">
                <a16:creationId xmlns:a16="http://schemas.microsoft.com/office/drawing/2014/main" id="{0050A3E2-23AE-2BC0-ABA7-6F9317A483CC}"/>
              </a:ext>
            </a:extLst>
          </p:cNvPr>
          <p:cNvSpPr txBox="1"/>
          <p:nvPr/>
        </p:nvSpPr>
        <p:spPr>
          <a:xfrm>
            <a:off x="822960" y="6071036"/>
            <a:ext cx="10515600" cy="480902"/>
          </a:xfrm>
          <a:prstGeom prst="rect">
            <a:avLst/>
          </a:prstGeom>
          <a:noFill/>
          <a:ln/>
        </p:spPr>
        <p:txBody>
          <a:bodyPr wrap="square" lIns="0" tIns="0" rIns="0" bIns="0" rtlCol="0" anchor="ctr"/>
          <a:lstStyle/>
          <a:p>
            <a:pPr marL="0" indent="0" algn="l">
              <a:buNone/>
            </a:pPr>
            <a:r>
              <a:rPr lang="en-US" sz="1350" i="1" dirty="0">
                <a:solidFill>
                  <a:srgbClr val="1C7293"/>
                </a:solidFill>
                <a:latin typeface="Calibri" pitchFamily="34" charset="0"/>
                <a:ea typeface="Calibri" pitchFamily="34" charset="-122"/>
                <a:cs typeface="Calibri" pitchFamily="34" charset="-120"/>
              </a:rPr>
              <a:t>Each strategy is injected, not constructed inside the handler, so it can be swapped easily for unit testing.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502920"/>
            <a:ext cx="10698480" cy="777240"/>
          </a:xfrm>
          <a:prstGeom prst="rect">
            <a:avLst/>
          </a:prstGeom>
          <a:noFill/>
          <a:ln/>
        </p:spPr>
        <p:txBody>
          <a:bodyPr wrap="square" lIns="0" tIns="0" rIns="0" bIns="0" rtlCol="0" anchor="ctr"/>
          <a:lstStyle/>
          <a:p>
            <a:pPr marL="0" indent="0" algn="l">
              <a:buNone/>
            </a:pPr>
            <a:r>
              <a:rPr lang="en-US" sz="3200" b="1" dirty="0">
                <a:solidFill>
                  <a:srgbClr val="1B3A57"/>
                </a:solidFill>
                <a:latin typeface="Cambria" pitchFamily="34" charset="0"/>
                <a:ea typeface="Cambria" pitchFamily="34" charset="-122"/>
                <a:cs typeface="Cambria" pitchFamily="34" charset="-120"/>
              </a:rPr>
              <a:t>Secure by Design</a:t>
            </a:r>
            <a:endParaRPr lang="en-US" sz="3200" dirty="0"/>
          </a:p>
        </p:txBody>
      </p:sp>
      <p:sp>
        <p:nvSpPr>
          <p:cNvPr id="3" name="Shape 1"/>
          <p:cNvSpPr/>
          <p:nvPr/>
        </p:nvSpPr>
        <p:spPr>
          <a:xfrm>
            <a:off x="731520" y="2059128"/>
            <a:ext cx="3097107" cy="3182719"/>
          </a:xfrm>
          <a:prstGeom prst="roundRect">
            <a:avLst>
              <a:gd name="adj" fmla="val 3636"/>
            </a:avLst>
          </a:prstGeom>
          <a:solidFill>
            <a:srgbClr val="EAF3F5"/>
          </a:solidFill>
          <a:ln/>
        </p:spPr>
        <p:txBody>
          <a:bodyPr/>
          <a:lstStyle/>
          <a:p>
            <a:endParaRPr lang="en-US"/>
          </a:p>
        </p:txBody>
      </p:sp>
      <p:sp>
        <p:nvSpPr>
          <p:cNvPr id="4" name="Shape 2"/>
          <p:cNvSpPr/>
          <p:nvPr/>
        </p:nvSpPr>
        <p:spPr>
          <a:xfrm>
            <a:off x="946574" y="2260297"/>
            <a:ext cx="685800" cy="685800"/>
          </a:xfrm>
          <a:prstGeom prst="ellipse">
            <a:avLst/>
          </a:prstGeom>
          <a:solidFill>
            <a:srgbClr val="1B3A57"/>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1166" y="2424889"/>
            <a:ext cx="356616" cy="356616"/>
          </a:xfrm>
          <a:prstGeom prst="rect">
            <a:avLst/>
          </a:prstGeom>
        </p:spPr>
      </p:pic>
      <p:sp>
        <p:nvSpPr>
          <p:cNvPr id="6" name="Text 3"/>
          <p:cNvSpPr txBox="1"/>
          <p:nvPr/>
        </p:nvSpPr>
        <p:spPr>
          <a:xfrm>
            <a:off x="1815254" y="2242009"/>
            <a:ext cx="1818640" cy="731520"/>
          </a:xfrm>
          <a:prstGeom prst="rect">
            <a:avLst/>
          </a:prstGeom>
          <a:noFill/>
          <a:ln/>
        </p:spPr>
        <p:txBody>
          <a:bodyPr wrap="square" lIns="0" tIns="0" rIns="0" bIns="0" rtlCol="0" anchor="ctr"/>
          <a:lstStyle/>
          <a:p>
            <a:pPr marL="0" indent="0" algn="l">
              <a:buNone/>
            </a:pPr>
            <a:r>
              <a:rPr lang="en-US" b="1" dirty="0">
                <a:solidFill>
                  <a:srgbClr val="1B3A57"/>
                </a:solidFill>
                <a:latin typeface="Calibri" pitchFamily="34" charset="0"/>
                <a:ea typeface="Calibri" pitchFamily="34" charset="-122"/>
                <a:cs typeface="Calibri" pitchFamily="34" charset="-120"/>
              </a:rPr>
              <a:t>DI, Not Singleton</a:t>
            </a:r>
            <a:endParaRPr lang="en-US" dirty="0"/>
          </a:p>
        </p:txBody>
      </p:sp>
      <p:sp>
        <p:nvSpPr>
          <p:cNvPr id="7" name="Text 4"/>
          <p:cNvSpPr txBox="1"/>
          <p:nvPr/>
        </p:nvSpPr>
        <p:spPr>
          <a:xfrm>
            <a:off x="1005840" y="3156409"/>
            <a:ext cx="2534920" cy="822960"/>
          </a:xfrm>
          <a:prstGeom prst="rect">
            <a:avLst/>
          </a:prstGeom>
          <a:noFill/>
          <a:ln/>
        </p:spPr>
        <p:txBody>
          <a:bodyPr wrap="square" lIns="0" tIns="0" rIns="0" bIns="0" rtlCol="0" anchor="t"/>
          <a:lstStyle/>
          <a:p>
            <a:pPr marL="0" indent="0" algn="l">
              <a:buNone/>
            </a:pPr>
            <a:r>
              <a:rPr lang="en-US" dirty="0">
                <a:solidFill>
                  <a:srgbClr val="333333"/>
                </a:solidFill>
                <a:latin typeface="Calibri" pitchFamily="34" charset="0"/>
                <a:ea typeface="Calibri" pitchFamily="34" charset="-122"/>
                <a:cs typeface="Calibri" pitchFamily="34" charset="-120"/>
              </a:rPr>
              <a:t>Strategies are injected, swappable, and independently testable.</a:t>
            </a:r>
            <a:endParaRPr lang="en-US" dirty="0"/>
          </a:p>
        </p:txBody>
      </p:sp>
      <p:sp>
        <p:nvSpPr>
          <p:cNvPr id="8" name="Shape 5"/>
          <p:cNvSpPr/>
          <p:nvPr/>
        </p:nvSpPr>
        <p:spPr>
          <a:xfrm>
            <a:off x="4318846" y="2059129"/>
            <a:ext cx="3097107" cy="3182718"/>
          </a:xfrm>
          <a:prstGeom prst="roundRect">
            <a:avLst>
              <a:gd name="adj" fmla="val 3636"/>
            </a:avLst>
          </a:prstGeom>
          <a:solidFill>
            <a:srgbClr val="EAF3F5"/>
          </a:solidFill>
          <a:ln/>
        </p:spPr>
        <p:txBody>
          <a:bodyPr/>
          <a:lstStyle/>
          <a:p>
            <a:endParaRPr lang="en-US"/>
          </a:p>
        </p:txBody>
      </p:sp>
      <p:sp>
        <p:nvSpPr>
          <p:cNvPr id="9" name="Shape 6"/>
          <p:cNvSpPr/>
          <p:nvPr/>
        </p:nvSpPr>
        <p:spPr>
          <a:xfrm>
            <a:off x="4533899" y="2260297"/>
            <a:ext cx="685800" cy="685800"/>
          </a:xfrm>
          <a:prstGeom prst="ellipse">
            <a:avLst/>
          </a:prstGeom>
          <a:solidFill>
            <a:srgbClr val="1B3A57"/>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698491" y="2424889"/>
            <a:ext cx="356616" cy="356616"/>
          </a:xfrm>
          <a:prstGeom prst="rect">
            <a:avLst/>
          </a:prstGeom>
        </p:spPr>
      </p:pic>
      <p:sp>
        <p:nvSpPr>
          <p:cNvPr id="11" name="Text 7"/>
          <p:cNvSpPr txBox="1"/>
          <p:nvPr/>
        </p:nvSpPr>
        <p:spPr>
          <a:xfrm>
            <a:off x="5402579" y="2242009"/>
            <a:ext cx="1740747" cy="731520"/>
          </a:xfrm>
          <a:prstGeom prst="rect">
            <a:avLst/>
          </a:prstGeom>
          <a:noFill/>
          <a:ln/>
        </p:spPr>
        <p:txBody>
          <a:bodyPr wrap="square" lIns="0" tIns="0" rIns="0" bIns="0" rtlCol="0" anchor="ctr"/>
          <a:lstStyle/>
          <a:p>
            <a:pPr marL="0" indent="0" algn="l">
              <a:buNone/>
            </a:pPr>
            <a:r>
              <a:rPr lang="en-US" b="1" dirty="0">
                <a:solidFill>
                  <a:srgbClr val="1B3A57"/>
                </a:solidFill>
                <a:latin typeface="Calibri" pitchFamily="34" charset="0"/>
                <a:ea typeface="Calibri" pitchFamily="34" charset="-122"/>
                <a:cs typeface="Calibri" pitchFamily="34" charset="-120"/>
              </a:rPr>
              <a:t>Validate at Every Boundary</a:t>
            </a:r>
            <a:endParaRPr lang="en-US" dirty="0"/>
          </a:p>
        </p:txBody>
      </p:sp>
      <p:sp>
        <p:nvSpPr>
          <p:cNvPr id="12" name="Text 8"/>
          <p:cNvSpPr txBox="1"/>
          <p:nvPr/>
        </p:nvSpPr>
        <p:spPr>
          <a:xfrm>
            <a:off x="4593166" y="3156409"/>
            <a:ext cx="2550160" cy="822960"/>
          </a:xfrm>
          <a:prstGeom prst="rect">
            <a:avLst/>
          </a:prstGeom>
          <a:noFill/>
          <a:ln/>
        </p:spPr>
        <p:txBody>
          <a:bodyPr wrap="square" lIns="0" tIns="0" rIns="0" bIns="0" rtlCol="0" anchor="t"/>
          <a:lstStyle/>
          <a:p>
            <a:pPr marL="0" indent="0" algn="l">
              <a:buNone/>
            </a:pPr>
            <a:r>
              <a:rPr lang="en-US" dirty="0">
                <a:solidFill>
                  <a:srgbClr val="333333"/>
                </a:solidFill>
                <a:latin typeface="Calibri" pitchFamily="34" charset="0"/>
                <a:ea typeface="Calibri" pitchFamily="34" charset="-122"/>
                <a:cs typeface="Calibri" pitchFamily="34" charset="-120"/>
              </a:rPr>
              <a:t>Input validation and secure credential storage, kept separate concerns.</a:t>
            </a:r>
            <a:endParaRPr lang="en-US" dirty="0"/>
          </a:p>
        </p:txBody>
      </p:sp>
      <p:sp>
        <p:nvSpPr>
          <p:cNvPr id="18" name="Shape 13"/>
          <p:cNvSpPr/>
          <p:nvPr/>
        </p:nvSpPr>
        <p:spPr>
          <a:xfrm>
            <a:off x="7906173" y="2059128"/>
            <a:ext cx="3097107" cy="3182717"/>
          </a:xfrm>
          <a:prstGeom prst="roundRect">
            <a:avLst>
              <a:gd name="adj" fmla="val 3636"/>
            </a:avLst>
          </a:prstGeom>
          <a:solidFill>
            <a:srgbClr val="EAF3F5"/>
          </a:solidFill>
          <a:ln/>
        </p:spPr>
        <p:txBody>
          <a:bodyPr/>
          <a:lstStyle/>
          <a:p>
            <a:endParaRPr lang="en-US"/>
          </a:p>
        </p:txBody>
      </p:sp>
      <p:sp>
        <p:nvSpPr>
          <p:cNvPr id="19" name="Shape 14"/>
          <p:cNvSpPr/>
          <p:nvPr/>
        </p:nvSpPr>
        <p:spPr>
          <a:xfrm>
            <a:off x="8070426" y="2260297"/>
            <a:ext cx="685800" cy="685800"/>
          </a:xfrm>
          <a:prstGeom prst="ellipse">
            <a:avLst/>
          </a:prstGeom>
          <a:solidFill>
            <a:srgbClr val="1C7293"/>
          </a:solidFill>
          <a:ln/>
        </p:spPr>
        <p:txBody>
          <a:bodyPr/>
          <a:lstStyle/>
          <a:p>
            <a:endParaRPr lang="en-US"/>
          </a:p>
        </p:txBody>
      </p:sp>
      <p:pic>
        <p:nvPicPr>
          <p:cNvPr id="20" name="Image 3" descr="preencoded.png"/>
          <p:cNvPicPr>
            <a:picLocks noChangeAspect="1"/>
          </p:cNvPicPr>
          <p:nvPr/>
        </p:nvPicPr>
        <p:blipFill>
          <a:blip r:embed="rId5"/>
          <a:stretch>
            <a:fillRect/>
          </a:stretch>
        </p:blipFill>
        <p:spPr>
          <a:xfrm>
            <a:off x="8235018" y="2424889"/>
            <a:ext cx="356616" cy="356616"/>
          </a:xfrm>
          <a:prstGeom prst="rect">
            <a:avLst/>
          </a:prstGeom>
        </p:spPr>
      </p:pic>
      <p:sp>
        <p:nvSpPr>
          <p:cNvPr id="21" name="Text 15"/>
          <p:cNvSpPr txBox="1"/>
          <p:nvPr/>
        </p:nvSpPr>
        <p:spPr>
          <a:xfrm>
            <a:off x="8939106" y="2242009"/>
            <a:ext cx="1766147" cy="731520"/>
          </a:xfrm>
          <a:prstGeom prst="rect">
            <a:avLst/>
          </a:prstGeom>
          <a:noFill/>
          <a:ln/>
        </p:spPr>
        <p:txBody>
          <a:bodyPr wrap="square" lIns="0" tIns="0" rIns="0" bIns="0" rtlCol="0" anchor="ctr"/>
          <a:lstStyle/>
          <a:p>
            <a:pPr marL="0" indent="0" algn="l">
              <a:buNone/>
            </a:pPr>
            <a:r>
              <a:rPr lang="en-US" b="1" dirty="0">
                <a:solidFill>
                  <a:srgbClr val="1B3A57"/>
                </a:solidFill>
                <a:latin typeface="Calibri" pitchFamily="34" charset="0"/>
                <a:ea typeface="Calibri" pitchFamily="34" charset="-122"/>
                <a:cs typeface="Calibri" pitchFamily="34" charset="-120"/>
              </a:rPr>
              <a:t>Scan Every Dependency</a:t>
            </a:r>
            <a:endParaRPr lang="en-US" dirty="0"/>
          </a:p>
        </p:txBody>
      </p:sp>
      <p:sp>
        <p:nvSpPr>
          <p:cNvPr id="22" name="Text 16"/>
          <p:cNvSpPr txBox="1"/>
          <p:nvPr/>
        </p:nvSpPr>
        <p:spPr>
          <a:xfrm>
            <a:off x="8180493" y="3156409"/>
            <a:ext cx="2634827" cy="822960"/>
          </a:xfrm>
          <a:prstGeom prst="rect">
            <a:avLst/>
          </a:prstGeom>
          <a:noFill/>
          <a:ln/>
        </p:spPr>
        <p:txBody>
          <a:bodyPr wrap="square" lIns="0" tIns="0" rIns="0" bIns="0" rtlCol="0" anchor="t"/>
          <a:lstStyle/>
          <a:p>
            <a:pPr marL="0" indent="0" algn="l">
              <a:buNone/>
            </a:pPr>
            <a:r>
              <a:rPr lang="en-US" dirty="0">
                <a:solidFill>
                  <a:srgbClr val="333333"/>
                </a:solidFill>
                <a:latin typeface="Calibri" pitchFamily="34" charset="0"/>
                <a:ea typeface="Calibri" pitchFamily="34" charset="-122"/>
                <a:cs typeface="Calibri" pitchFamily="34" charset="-120"/>
              </a:rPr>
              <a:t>The </a:t>
            </a:r>
            <a:r>
              <a:rPr lang="en-US" dirty="0" err="1">
                <a:solidFill>
                  <a:srgbClr val="333333"/>
                </a:solidFill>
                <a:latin typeface="Calibri" pitchFamily="34" charset="0"/>
                <a:ea typeface="Calibri" pitchFamily="34" charset="-122"/>
                <a:cs typeface="Calibri" pitchFamily="34" charset="-120"/>
              </a:rPr>
              <a:t>WebAuthn</a:t>
            </a:r>
            <a:r>
              <a:rPr lang="en-US" dirty="0">
                <a:solidFill>
                  <a:srgbClr val="333333"/>
                </a:solidFill>
                <a:latin typeface="Calibri" pitchFamily="34" charset="0"/>
                <a:ea typeface="Calibri" pitchFamily="34" charset="-122"/>
                <a:cs typeface="Calibri" pitchFamily="34" charset="-120"/>
              </a:rPr>
              <a:t>, hashing, and TOTP libraries strategies call into are supply chain; scan continuously, e.g. with OWASP Dependency-Track.</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502920"/>
            <a:ext cx="10698480" cy="777240"/>
          </a:xfrm>
          <a:prstGeom prst="rect">
            <a:avLst/>
          </a:prstGeom>
          <a:noFill/>
          <a:ln/>
        </p:spPr>
        <p:txBody>
          <a:bodyPr wrap="square" lIns="0" tIns="0" rIns="0" bIns="0" rtlCol="0" anchor="ctr"/>
          <a:lstStyle/>
          <a:p>
            <a:pPr marL="0" indent="0" algn="l">
              <a:buNone/>
            </a:pPr>
            <a:r>
              <a:rPr lang="en-US" sz="3200" b="1" dirty="0">
                <a:solidFill>
                  <a:srgbClr val="1B3A57"/>
                </a:solidFill>
                <a:latin typeface="Cambria" pitchFamily="34" charset="0"/>
                <a:ea typeface="Cambria" pitchFamily="34" charset="-122"/>
                <a:cs typeface="Cambria" pitchFamily="34" charset="-120"/>
              </a:rPr>
              <a:t>No Plan Survives a Lost Phone</a:t>
            </a:r>
            <a:endParaRPr lang="en-US" sz="3200" dirty="0"/>
          </a:p>
        </p:txBody>
      </p:sp>
      <p:sp>
        <p:nvSpPr>
          <p:cNvPr id="3" name="Shape 1"/>
          <p:cNvSpPr/>
          <p:nvPr/>
        </p:nvSpPr>
        <p:spPr>
          <a:xfrm>
            <a:off x="822960" y="1691640"/>
            <a:ext cx="5120640" cy="3246120"/>
          </a:xfrm>
          <a:prstGeom prst="roundRect">
            <a:avLst>
              <a:gd name="adj" fmla="val 2254"/>
            </a:avLst>
          </a:prstGeom>
          <a:solidFill>
            <a:srgbClr val="EAF3F5"/>
          </a:solidFill>
          <a:ln/>
        </p:spPr>
        <p:txBody>
          <a:bodyPr/>
          <a:lstStyle/>
          <a:p>
            <a:endParaRPr lang="en-US"/>
          </a:p>
        </p:txBody>
      </p:sp>
      <p:sp>
        <p:nvSpPr>
          <p:cNvPr id="4" name="Shape 2"/>
          <p:cNvSpPr/>
          <p:nvPr/>
        </p:nvSpPr>
        <p:spPr>
          <a:xfrm>
            <a:off x="1143000" y="1965960"/>
            <a:ext cx="685800" cy="685800"/>
          </a:xfrm>
          <a:prstGeom prst="ellipse">
            <a:avLst/>
          </a:prstGeom>
          <a:solidFill>
            <a:srgbClr val="1C729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307592" y="2130552"/>
            <a:ext cx="356616" cy="356616"/>
          </a:xfrm>
          <a:prstGeom prst="rect">
            <a:avLst/>
          </a:prstGeom>
        </p:spPr>
      </p:pic>
      <p:sp>
        <p:nvSpPr>
          <p:cNvPr id="6" name="Text 3"/>
          <p:cNvSpPr txBox="1"/>
          <p:nvPr/>
        </p:nvSpPr>
        <p:spPr>
          <a:xfrm>
            <a:off x="1965960" y="1965960"/>
            <a:ext cx="3566160" cy="685800"/>
          </a:xfrm>
          <a:prstGeom prst="rect">
            <a:avLst/>
          </a:prstGeom>
          <a:noFill/>
          <a:ln/>
        </p:spPr>
        <p:txBody>
          <a:bodyPr wrap="square" lIns="0" tIns="0" rIns="0" bIns="0" rtlCol="0" anchor="ctr"/>
          <a:lstStyle/>
          <a:p>
            <a:pPr marL="0" indent="0" algn="l">
              <a:buNone/>
            </a:pPr>
            <a:r>
              <a:rPr lang="en-US" sz="1900" b="1" dirty="0">
                <a:solidFill>
                  <a:srgbClr val="1B3A57"/>
                </a:solidFill>
                <a:latin typeface="Calibri" pitchFamily="34" charset="0"/>
                <a:ea typeface="Calibri" pitchFamily="34" charset="-122"/>
                <a:cs typeface="Calibri" pitchFamily="34" charset="-120"/>
              </a:rPr>
              <a:t>Sync Helps</a:t>
            </a:r>
            <a:endParaRPr lang="en-US" sz="1900" dirty="0"/>
          </a:p>
        </p:txBody>
      </p:sp>
      <p:sp>
        <p:nvSpPr>
          <p:cNvPr id="7" name="Text 4"/>
          <p:cNvSpPr txBox="1"/>
          <p:nvPr/>
        </p:nvSpPr>
        <p:spPr>
          <a:xfrm>
            <a:off x="1143000" y="2834640"/>
            <a:ext cx="4480560" cy="1920240"/>
          </a:xfrm>
          <a:prstGeom prst="rect">
            <a:avLst/>
          </a:prstGeom>
          <a:noFill/>
          <a:ln/>
        </p:spPr>
        <p:txBody>
          <a:bodyPr wrap="square" lIns="0" tIns="0" rIns="0" bIns="0" rtlCol="0" anchor="t"/>
          <a:lstStyle/>
          <a:p>
            <a:pPr marL="342900" indent="-3429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iCloud Keychain, hardware-backed by the Secure Enclave</a:t>
            </a:r>
            <a:endParaRPr lang="en-US" sz="1400" dirty="0"/>
          </a:p>
          <a:p>
            <a:pPr marL="342900" indent="-3429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Google Password Manager, synced to the account</a:t>
            </a:r>
            <a:endParaRPr lang="en-US" sz="1400" dirty="0"/>
          </a:p>
          <a:p>
            <a:pPr marL="342900" indent="-342900" algn="l">
              <a:buSzPct val="100000"/>
              <a:buChar char="•"/>
            </a:pPr>
            <a:r>
              <a:rPr lang="en-US" sz="1400" dirty="0">
                <a:solidFill>
                  <a:srgbClr val="333333"/>
                </a:solidFill>
                <a:latin typeface="Calibri" pitchFamily="34" charset="0"/>
                <a:ea typeface="Calibri" pitchFamily="34" charset="-122"/>
                <a:cs typeface="Calibri" pitchFamily="34" charset="-120"/>
              </a:rPr>
              <a:t>Proton Pass: cross-platform, open-source implementation</a:t>
            </a:r>
            <a:endParaRPr lang="en-US" sz="1400" dirty="0"/>
          </a:p>
        </p:txBody>
      </p:sp>
      <p:sp>
        <p:nvSpPr>
          <p:cNvPr id="8" name="Shape 5"/>
          <p:cNvSpPr/>
          <p:nvPr/>
        </p:nvSpPr>
        <p:spPr>
          <a:xfrm>
            <a:off x="6217920" y="1691640"/>
            <a:ext cx="5120640" cy="3246120"/>
          </a:xfrm>
          <a:prstGeom prst="roundRect">
            <a:avLst>
              <a:gd name="adj" fmla="val 2254"/>
            </a:avLst>
          </a:prstGeom>
          <a:solidFill>
            <a:srgbClr val="FBEAE5"/>
          </a:solidFill>
          <a:ln/>
        </p:spPr>
        <p:txBody>
          <a:bodyPr/>
          <a:lstStyle/>
          <a:p>
            <a:endParaRPr lang="en-US"/>
          </a:p>
        </p:txBody>
      </p:sp>
      <p:sp>
        <p:nvSpPr>
          <p:cNvPr id="9" name="Shape 6"/>
          <p:cNvSpPr/>
          <p:nvPr/>
        </p:nvSpPr>
        <p:spPr>
          <a:xfrm>
            <a:off x="6537960" y="1965960"/>
            <a:ext cx="685800" cy="685800"/>
          </a:xfrm>
          <a:prstGeom prst="ellipse">
            <a:avLst/>
          </a:prstGeom>
          <a:solidFill>
            <a:srgbClr val="E4572E"/>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702552" y="2130552"/>
            <a:ext cx="356616" cy="356616"/>
          </a:xfrm>
          <a:prstGeom prst="rect">
            <a:avLst/>
          </a:prstGeom>
        </p:spPr>
      </p:pic>
      <p:sp>
        <p:nvSpPr>
          <p:cNvPr id="11" name="Text 7"/>
          <p:cNvSpPr txBox="1"/>
          <p:nvPr/>
        </p:nvSpPr>
        <p:spPr>
          <a:xfrm>
            <a:off x="7360920" y="1965960"/>
            <a:ext cx="3749040" cy="685800"/>
          </a:xfrm>
          <a:prstGeom prst="rect">
            <a:avLst/>
          </a:prstGeom>
          <a:noFill/>
          <a:ln/>
        </p:spPr>
        <p:txBody>
          <a:bodyPr wrap="square" lIns="0" tIns="0" rIns="0" bIns="0" rtlCol="0" anchor="ctr"/>
          <a:lstStyle/>
          <a:p>
            <a:pPr marL="0" indent="0" algn="l">
              <a:buNone/>
            </a:pPr>
            <a:r>
              <a:rPr lang="en-US" sz="1900" b="1" dirty="0">
                <a:solidFill>
                  <a:srgbClr val="1B3A57"/>
                </a:solidFill>
                <a:latin typeface="Calibri" pitchFamily="34" charset="0"/>
                <a:ea typeface="Calibri" pitchFamily="34" charset="-122"/>
                <a:cs typeface="Calibri" pitchFamily="34" charset="-120"/>
              </a:rPr>
              <a:t>But Trade-offs Remain</a:t>
            </a:r>
            <a:endParaRPr lang="en-US" sz="1900" dirty="0"/>
          </a:p>
        </p:txBody>
      </p:sp>
      <p:sp>
        <p:nvSpPr>
          <p:cNvPr id="12" name="Text 8"/>
          <p:cNvSpPr txBox="1"/>
          <p:nvPr/>
        </p:nvSpPr>
        <p:spPr>
          <a:xfrm>
            <a:off x="6537960" y="2834640"/>
            <a:ext cx="4480560" cy="1920240"/>
          </a:xfrm>
          <a:prstGeom prst="rect">
            <a:avLst/>
          </a:prstGeom>
          <a:noFill/>
          <a:ln/>
        </p:spPr>
        <p:txBody>
          <a:bodyPr wrap="square" lIns="0" tIns="0" rIns="0" bIns="0" rtlCol="0" anchor="t"/>
          <a:lstStyle/>
          <a:p>
            <a:pPr marL="342900" indent="-3429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Cross-ecosystem lock-in: Apple, Google, Windows rarely sync with each other</a:t>
            </a:r>
            <a:endParaRPr lang="en-US" sz="1400" dirty="0"/>
          </a:p>
          <a:p>
            <a:pPr marL="342900" indent="-342900" algn="l">
              <a:spcAft>
                <a:spcPts val="1000"/>
              </a:spcAft>
              <a:buSzPct val="100000"/>
              <a:buChar char="•"/>
            </a:pPr>
            <a:r>
              <a:rPr lang="en-US" sz="1400" dirty="0">
                <a:solidFill>
                  <a:srgbClr val="333333"/>
                </a:solidFill>
                <a:latin typeface="Calibri" pitchFamily="34" charset="0"/>
                <a:ea typeface="Calibri" pitchFamily="34" charset="-122"/>
                <a:cs typeface="Calibri" pitchFamily="34" charset="-120"/>
              </a:rPr>
              <a:t>Trust shifts from hardware enclave to a software vault</a:t>
            </a:r>
            <a:endParaRPr lang="en-US" sz="1400" dirty="0"/>
          </a:p>
          <a:p>
            <a:pPr marL="342900" indent="-342900" algn="l">
              <a:buSzPct val="100000"/>
              <a:buChar char="•"/>
            </a:pPr>
            <a:r>
              <a:rPr lang="en-US" sz="1400" dirty="0">
                <a:solidFill>
                  <a:srgbClr val="333333"/>
                </a:solidFill>
                <a:latin typeface="Calibri" pitchFamily="34" charset="0"/>
                <a:ea typeface="Calibri" pitchFamily="34" charset="-122"/>
                <a:cs typeface="Calibri" pitchFamily="34" charset="-120"/>
              </a:rPr>
              <a:t>Full-device-loss recovery still leans on an SMS verification step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21355" y="640080"/>
            <a:ext cx="1463040" cy="1463040"/>
          </a:xfrm>
          <a:prstGeom prst="ellipse">
            <a:avLst/>
          </a:prstGeom>
          <a:solidFill>
            <a:srgbClr val="1B3A57"/>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072485" y="991210"/>
            <a:ext cx="760781" cy="760781"/>
          </a:xfrm>
          <a:prstGeom prst="rect">
            <a:avLst/>
          </a:prstGeom>
        </p:spPr>
      </p:pic>
      <p:sp>
        <p:nvSpPr>
          <p:cNvPr id="4" name="Text 1"/>
          <p:cNvSpPr txBox="1"/>
          <p:nvPr/>
        </p:nvSpPr>
        <p:spPr>
          <a:xfrm>
            <a:off x="721355" y="3017520"/>
            <a:ext cx="9784080" cy="822960"/>
          </a:xfrm>
          <a:prstGeom prst="rect">
            <a:avLst/>
          </a:prstGeom>
          <a:noFill/>
          <a:ln/>
        </p:spPr>
        <p:txBody>
          <a:bodyPr wrap="square" lIns="0" tIns="0" rIns="0" bIns="0" rtlCol="0" anchor="ctr"/>
          <a:lstStyle/>
          <a:p>
            <a:pPr marL="0" indent="0">
              <a:buNone/>
            </a:pPr>
            <a:r>
              <a:rPr lang="en-US" sz="5400" b="1" dirty="0">
                <a:solidFill>
                  <a:srgbClr val="1B3A57"/>
                </a:solidFill>
                <a:latin typeface="Cambria" pitchFamily="34" charset="0"/>
                <a:ea typeface="Cambria" pitchFamily="34" charset="-122"/>
                <a:cs typeface="Cambria" pitchFamily="34" charset="-120"/>
              </a:rPr>
              <a:t>Thank You</a:t>
            </a:r>
            <a:endParaRPr lang="en-US" sz="5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457200"/>
            <a:ext cx="10698480" cy="548640"/>
          </a:xfrm>
          <a:prstGeom prst="rect">
            <a:avLst/>
          </a:prstGeom>
          <a:noFill/>
          <a:ln/>
        </p:spPr>
        <p:txBody>
          <a:bodyPr wrap="square" lIns="0" tIns="0" rIns="0" bIns="0" rtlCol="0" anchor="ctr"/>
          <a:lstStyle/>
          <a:p>
            <a:pPr marL="0" indent="0" algn="l">
              <a:buNone/>
            </a:pPr>
            <a:r>
              <a:rPr lang="en-US" sz="2600" b="1" dirty="0">
                <a:solidFill>
                  <a:srgbClr val="1B3A57"/>
                </a:solidFill>
                <a:latin typeface="Cambria" pitchFamily="34" charset="0"/>
                <a:ea typeface="Cambria" pitchFamily="34" charset="-122"/>
                <a:cs typeface="Cambria" pitchFamily="34" charset="-120"/>
              </a:rPr>
              <a:t>Reference List</a:t>
            </a:r>
            <a:endParaRPr lang="en-US" sz="2600" dirty="0"/>
          </a:p>
        </p:txBody>
      </p:sp>
      <p:sp>
        <p:nvSpPr>
          <p:cNvPr id="4" name="Text 2"/>
          <p:cNvSpPr txBox="1"/>
          <p:nvPr/>
        </p:nvSpPr>
        <p:spPr>
          <a:xfrm>
            <a:off x="731520" y="1508760"/>
            <a:ext cx="5349240" cy="4846320"/>
          </a:xfrm>
          <a:prstGeom prst="rect">
            <a:avLst/>
          </a:prstGeom>
          <a:noFill/>
          <a:ln/>
        </p:spPr>
        <p:txBody>
          <a:bodyPr wrap="square" lIns="0" tIns="0" rIns="0" bIns="0" rtlCol="0" anchor="t"/>
          <a:lstStyle/>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Baker, M. (2022) Secure Web Application Development: A Hands-On Guide with Python and Django. 1st edn. Berkeley, CA: Apress.</a:t>
            </a:r>
            <a:endParaRPr lang="en-US" sz="1100" dirty="0"/>
          </a:p>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Sarcar, V. (2022) Java Design Patterns: A Hands-On Experience with Real-World Examples. 3rd edn. Berkeley, CA: Apress.</a:t>
            </a:r>
            <a:endParaRPr lang="en-US" sz="1100" dirty="0"/>
          </a:p>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Shah, M. (2023) Cloud Native Software Security Handbook: Unleash the Power of Cloud-Native Tools for Robust Security in Modern Applications. 1st edn. Birmingham: Packt Publishing.</a:t>
            </a:r>
            <a:endParaRPr lang="en-US" sz="1100" dirty="0"/>
          </a:p>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Apple Support (n.d.) Recover your iCloud Keychain. Available at: support.apple.com/guide/platform-support (Accessed: 29 September 2026).</a:t>
            </a:r>
            <a:endParaRPr lang="en-US" sz="1100" dirty="0"/>
          </a:p>
        </p:txBody>
      </p:sp>
      <p:sp>
        <p:nvSpPr>
          <p:cNvPr id="5" name="Text 3"/>
          <p:cNvSpPr txBox="1"/>
          <p:nvPr/>
        </p:nvSpPr>
        <p:spPr>
          <a:xfrm>
            <a:off x="6263640" y="1508760"/>
            <a:ext cx="5349240" cy="4846320"/>
          </a:xfrm>
          <a:prstGeom prst="rect">
            <a:avLst/>
          </a:prstGeom>
          <a:noFill/>
          <a:ln/>
        </p:spPr>
        <p:txBody>
          <a:bodyPr wrap="square" lIns="0" tIns="0" rIns="0" bIns="0" rtlCol="0" anchor="t"/>
          <a:lstStyle/>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Google Security Blog (2022) Security of Passkeys in the Google Password Manager. Available at: security.googleblog.com (Accessed: 29 September 2026).</a:t>
            </a:r>
            <a:endParaRPr lang="en-US" sz="1100" dirty="0"/>
          </a:p>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Proton (n.d.) Proton Pass now supports passkeys for everyone. Available at: proton.me/blog/proton-pass-passkeys (Accessed: 29 September 2026).</a:t>
            </a:r>
            <a:endParaRPr lang="en-US" sz="1100" dirty="0"/>
          </a:p>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Authsignal (2025) June 2025 SMS OTP regulatory updates: Banking's global shift to secure authentication. Available at: authsignal.com/blog (Accessed: 29 September 2026).</a:t>
            </a:r>
            <a:endParaRPr lang="en-US" sz="1100" dirty="0"/>
          </a:p>
          <a:p>
            <a:pPr marL="0" indent="0" algn="l">
              <a:spcAft>
                <a:spcPts val="1200"/>
              </a:spcAft>
              <a:buNone/>
            </a:pPr>
            <a:r>
              <a:rPr lang="en-US" sz="1100" dirty="0">
                <a:solidFill>
                  <a:srgbClr val="333333"/>
                </a:solidFill>
                <a:latin typeface="Calibri" pitchFamily="34" charset="0"/>
                <a:ea typeface="Calibri" pitchFamily="34" charset="-122"/>
                <a:cs typeface="Calibri" pitchFamily="34" charset="-120"/>
              </a:rPr>
              <a:t>Help Net Security (2019) German banks to stop using SMS to deliver second authentication/verification factor. Available at: helpnetsecurity.com (Accessed: 29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1683</Words>
  <Application>Microsoft Macintosh PowerPoint</Application>
  <PresentationFormat>Widescreen</PresentationFormat>
  <Paragraphs>118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Séba Daher</cp:lastModifiedBy>
  <cp:revision>14</cp:revision>
  <dcterms:created xsi:type="dcterms:W3CDTF">2026-09-29T06:07:06Z</dcterms:created>
  <dcterms:modified xsi:type="dcterms:W3CDTF">2026-10-05T04:06:35Z</dcterms:modified>
  <cp:category/>
</cp:coreProperties>
</file>