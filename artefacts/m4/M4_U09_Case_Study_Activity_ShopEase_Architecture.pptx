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3" d="100"/>
          <a:sy n="123" d="100"/>
        </p:scale>
        <p:origin x="6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8240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5120640"/>
            <a:ext cx="1920240" cy="384048"/>
          </a:xfrm>
          <a:prstGeom prst="roundRect">
            <a:avLst>
              <a:gd name="adj" fmla="val 14286"/>
            </a:avLst>
          </a:prstGeom>
          <a:solidFill>
            <a:srgbClr val="CADCFC"/>
          </a:solidFill>
          <a:ln/>
        </p:spPr>
        <p:txBody>
          <a:bodyPr/>
          <a:lstStyle/>
          <a:p>
            <a:endParaRPr lang="en-US"/>
          </a:p>
        </p:txBody>
      </p:sp>
      <p:sp>
        <p:nvSpPr>
          <p:cNvPr id="3" name="Shape 1"/>
          <p:cNvSpPr/>
          <p:nvPr/>
        </p:nvSpPr>
        <p:spPr>
          <a:xfrm>
            <a:off x="9857232" y="5614416"/>
            <a:ext cx="1591056" cy="384048"/>
          </a:xfrm>
          <a:prstGeom prst="roundRect">
            <a:avLst>
              <a:gd name="adj" fmla="val 14286"/>
            </a:avLst>
          </a:prstGeom>
          <a:solidFill>
            <a:srgbClr val="8FA6D9"/>
          </a:solidFill>
          <a:ln/>
        </p:spPr>
        <p:txBody>
          <a:bodyPr/>
          <a:lstStyle/>
          <a:p>
            <a:endParaRPr lang="en-US"/>
          </a:p>
        </p:txBody>
      </p:sp>
      <p:sp>
        <p:nvSpPr>
          <p:cNvPr id="4" name="Shape 2"/>
          <p:cNvSpPr/>
          <p:nvPr/>
        </p:nvSpPr>
        <p:spPr>
          <a:xfrm>
            <a:off x="10021824" y="6108192"/>
            <a:ext cx="1261872" cy="384048"/>
          </a:xfrm>
          <a:prstGeom prst="roundRect">
            <a:avLst>
              <a:gd name="adj" fmla="val 14286"/>
            </a:avLst>
          </a:prstGeom>
          <a:solidFill>
            <a:srgbClr val="E8A33D"/>
          </a:solidFill>
          <a:ln/>
        </p:spPr>
        <p:txBody>
          <a:bodyPr/>
          <a:lstStyle/>
          <a:p>
            <a:endParaRPr lang="en-US"/>
          </a:p>
        </p:txBody>
      </p:sp>
      <p:sp>
        <p:nvSpPr>
          <p:cNvPr id="5" name="Text 3"/>
          <p:cNvSpPr txBox="1"/>
          <p:nvPr/>
        </p:nvSpPr>
        <p:spPr>
          <a:xfrm>
            <a:off x="548640" y="1965960"/>
            <a:ext cx="9601200" cy="320040"/>
          </a:xfrm>
          <a:prstGeom prst="rect">
            <a:avLst/>
          </a:prstGeom>
          <a:noFill/>
          <a:ln/>
        </p:spPr>
        <p:txBody>
          <a:bodyPr wrap="square" lIns="0" tIns="0" rIns="0" bIns="0"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AOODP25_PCOM7E · UNIT 9 CASE STUDY ACTIVITY</a:t>
            </a:r>
            <a:endParaRPr lang="en-US" sz="1300" dirty="0"/>
          </a:p>
        </p:txBody>
      </p:sp>
      <p:sp>
        <p:nvSpPr>
          <p:cNvPr id="6" name="Text 4"/>
          <p:cNvSpPr txBox="1"/>
          <p:nvPr/>
        </p:nvSpPr>
        <p:spPr>
          <a:xfrm>
            <a:off x="548640" y="2331720"/>
            <a:ext cx="9875520" cy="100584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ShopEase E-Commerce Platform</a:t>
            </a:r>
            <a:endParaRPr lang="en-US" sz="4000" dirty="0"/>
          </a:p>
        </p:txBody>
      </p:sp>
      <p:sp>
        <p:nvSpPr>
          <p:cNvPr id="7" name="Text 5"/>
          <p:cNvSpPr txBox="1"/>
          <p:nvPr/>
        </p:nvSpPr>
        <p:spPr>
          <a:xfrm>
            <a:off x="548640" y="3291840"/>
            <a:ext cx="9601200" cy="54864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An Object-Oriented, Layered Software Architecture</a:t>
            </a:r>
            <a:endParaRPr lang="en-US" sz="2000" dirty="0"/>
          </a:p>
        </p:txBody>
      </p:sp>
      <p:sp>
        <p:nvSpPr>
          <p:cNvPr id="8" name="Text 6"/>
          <p:cNvSpPr txBox="1"/>
          <p:nvPr/>
        </p:nvSpPr>
        <p:spPr>
          <a:xfrm>
            <a:off x="548640" y="3886200"/>
            <a:ext cx="8686800" cy="457200"/>
          </a:xfrm>
          <a:prstGeom prst="rect">
            <a:avLst/>
          </a:prstGeom>
          <a:noFill/>
          <a:ln/>
        </p:spPr>
        <p:txBody>
          <a:bodyPr wrap="square" lIns="0" tIns="0" rIns="0" bIns="0" rtlCol="0" anchor="ctr"/>
          <a:lstStyle/>
          <a:p>
            <a:pPr marL="0" indent="0">
              <a:buNone/>
            </a:pPr>
            <a:r>
              <a:rPr lang="en-US" sz="1300" i="1" dirty="0">
                <a:solidFill>
                  <a:srgbClr val="AAB7DE"/>
                </a:solidFill>
                <a:latin typeface="Calibri" pitchFamily="34" charset="0"/>
                <a:ea typeface="Calibri" pitchFamily="34" charset="-122"/>
                <a:cs typeface="Calibri" pitchFamily="34" charset="-120"/>
              </a:rPr>
              <a:t>Scalability, modularity, security and extensibility applied to a layered e-commerce design.</a:t>
            </a:r>
            <a:endParaRPr lang="en-US" sz="1300" dirty="0"/>
          </a:p>
        </p:txBody>
      </p:sp>
      <p:sp>
        <p:nvSpPr>
          <p:cNvPr id="9" name="Text 7"/>
          <p:cNvSpPr txBox="1"/>
          <p:nvPr/>
        </p:nvSpPr>
        <p:spPr>
          <a:xfrm>
            <a:off x="548640" y="6126480"/>
            <a:ext cx="9601200" cy="320040"/>
          </a:xfrm>
          <a:prstGeom prst="rect">
            <a:avLst/>
          </a:prstGeom>
          <a:noFill/>
          <a:ln/>
        </p:spPr>
        <p:txBody>
          <a:bodyPr wrap="square" lIns="0" tIns="0" rIns="0" bIns="0" rtlCol="0" anchor="ctr"/>
          <a:lstStyle/>
          <a:p>
            <a:pPr marL="0" indent="0">
              <a:buNone/>
            </a:pPr>
            <a:r>
              <a:rPr lang="en-US" sz="1100" dirty="0">
                <a:solidFill>
                  <a:srgbClr val="8FA0CC"/>
                </a:solidFill>
                <a:latin typeface="Calibri" pitchFamily="34" charset="0"/>
                <a:ea typeface="Calibri" pitchFamily="34" charset="-122"/>
                <a:cs typeface="Calibri" pitchFamily="34" charset="-120"/>
              </a:rPr>
              <a:t>Module: Advanced Object-Oriented Design and Programming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CASE STUDY BRIEF</a:t>
            </a:r>
            <a:endParaRPr lang="en-US" sz="1200" dirty="0"/>
          </a:p>
        </p:txBody>
      </p:sp>
      <p:sp>
        <p:nvSpPr>
          <p:cNvPr id="3" name="Text 1"/>
          <p:cNvSpPr txBox="1"/>
          <p:nvPr/>
        </p:nvSpPr>
        <p:spPr>
          <a:xfrm>
            <a:off x="548640" y="566928"/>
            <a:ext cx="11094415"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Design Requirements</a:t>
            </a:r>
            <a:endParaRPr lang="en-US" sz="2800" dirty="0"/>
          </a:p>
        </p:txBody>
      </p:sp>
      <p:sp>
        <p:nvSpPr>
          <p:cNvPr id="4" name="Text 2"/>
          <p:cNvSpPr txBox="1"/>
          <p:nvPr/>
        </p:nvSpPr>
        <p:spPr>
          <a:xfrm>
            <a:off x="548640" y="1143000"/>
            <a:ext cx="11094415" cy="457200"/>
          </a:xfrm>
          <a:prstGeom prst="rect">
            <a:avLst/>
          </a:prstGeom>
          <a:noFill/>
          <a:ln/>
        </p:spPr>
        <p:txBody>
          <a:bodyPr wrap="square" lIns="0" tIns="0" rIns="0" bIns="0" rtlCol="0" anchor="ctr"/>
          <a:lstStyle/>
          <a:p>
            <a:pPr marL="0" indent="0">
              <a:buNone/>
            </a:pPr>
            <a:r>
              <a:rPr lang="en-US" sz="1350" dirty="0">
                <a:solidFill>
                  <a:srgbClr val="24272E"/>
                </a:solidFill>
                <a:latin typeface="Calibri" pitchFamily="34" charset="0"/>
                <a:ea typeface="Calibri" pitchFamily="34" charset="-122"/>
                <a:cs typeface="Calibri" pitchFamily="34" charset="-120"/>
              </a:rPr>
              <a:t>ShopEase must support a growing catalogue and user base, so the architecture is organised around four requirements before any pattern or layer is chosen.</a:t>
            </a:r>
            <a:endParaRPr lang="en-US" sz="1350" dirty="0"/>
          </a:p>
        </p:txBody>
      </p:sp>
      <p:sp>
        <p:nvSpPr>
          <p:cNvPr id="5" name="Shape 3"/>
          <p:cNvSpPr/>
          <p:nvPr/>
        </p:nvSpPr>
        <p:spPr>
          <a:xfrm>
            <a:off x="1352512" y="1965960"/>
            <a:ext cx="822960" cy="822960"/>
          </a:xfrm>
          <a:prstGeom prst="ellipse">
            <a:avLst/>
          </a:prstGeom>
          <a:solidFill>
            <a:srgbClr val="1E2761"/>
          </a:solidFill>
          <a:ln/>
        </p:spPr>
        <p:txBody>
          <a:bodyPr/>
          <a:lstStyle/>
          <a:p>
            <a:endParaRPr lang="en-US"/>
          </a:p>
        </p:txBody>
      </p:sp>
      <p:sp>
        <p:nvSpPr>
          <p:cNvPr id="6" name="Text 4"/>
          <p:cNvSpPr txBox="1"/>
          <p:nvPr/>
        </p:nvSpPr>
        <p:spPr>
          <a:xfrm>
            <a:off x="1352512" y="1965960"/>
            <a:ext cx="822960" cy="8229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a:t>
            </a:r>
            <a:endParaRPr lang="en-US" sz="2000" dirty="0"/>
          </a:p>
        </p:txBody>
      </p:sp>
      <p:sp>
        <p:nvSpPr>
          <p:cNvPr id="7" name="Text 5"/>
          <p:cNvSpPr txBox="1"/>
          <p:nvPr/>
        </p:nvSpPr>
        <p:spPr>
          <a:xfrm>
            <a:off x="548640" y="2926080"/>
            <a:ext cx="2430704" cy="36576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Scalability</a:t>
            </a:r>
            <a:endParaRPr lang="en-US" sz="1500" dirty="0"/>
          </a:p>
        </p:txBody>
      </p:sp>
      <p:sp>
        <p:nvSpPr>
          <p:cNvPr id="8" name="Text 6"/>
          <p:cNvSpPr txBox="1"/>
          <p:nvPr/>
        </p:nvSpPr>
        <p:spPr>
          <a:xfrm>
            <a:off x="548640" y="3291840"/>
            <a:ext cx="2430704" cy="1005840"/>
          </a:xfrm>
          <a:prstGeom prst="rect">
            <a:avLst/>
          </a:prstGeom>
          <a:noFill/>
          <a:ln/>
        </p:spPr>
        <p:txBody>
          <a:bodyPr wrap="square" lIns="0" tIns="0" rIns="0" bIns="0" rtlCol="0" anchor="ctr"/>
          <a:lstStyle/>
          <a:p>
            <a:pPr marL="0" indent="0" algn="ctr">
              <a:buNone/>
            </a:pPr>
            <a:r>
              <a:rPr lang="en-US" sz="1150" dirty="0">
                <a:solidFill>
                  <a:srgbClr val="24272E"/>
                </a:solidFill>
                <a:latin typeface="Calibri" pitchFamily="34" charset="0"/>
                <a:ea typeface="Calibri" pitchFamily="34" charset="-122"/>
                <a:cs typeface="Calibri" pitchFamily="34" charset="-120"/>
              </a:rPr>
              <a:t>Handle rising numbers of users, products and transactions.</a:t>
            </a:r>
            <a:endParaRPr lang="en-US" sz="1150" dirty="0"/>
          </a:p>
        </p:txBody>
      </p:sp>
      <p:sp>
        <p:nvSpPr>
          <p:cNvPr id="9" name="Shape 7"/>
          <p:cNvSpPr/>
          <p:nvPr/>
        </p:nvSpPr>
        <p:spPr>
          <a:xfrm>
            <a:off x="4240416" y="1965960"/>
            <a:ext cx="822960" cy="822960"/>
          </a:xfrm>
          <a:prstGeom prst="ellipse">
            <a:avLst/>
          </a:prstGeom>
          <a:solidFill>
            <a:srgbClr val="3B4A8C"/>
          </a:solidFill>
          <a:ln/>
        </p:spPr>
        <p:txBody>
          <a:bodyPr/>
          <a:lstStyle/>
          <a:p>
            <a:endParaRPr lang="en-US"/>
          </a:p>
        </p:txBody>
      </p:sp>
      <p:sp>
        <p:nvSpPr>
          <p:cNvPr id="10" name="Text 8"/>
          <p:cNvSpPr txBox="1"/>
          <p:nvPr/>
        </p:nvSpPr>
        <p:spPr>
          <a:xfrm>
            <a:off x="4240416" y="1965960"/>
            <a:ext cx="822960" cy="8229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a:t>
            </a:r>
            <a:endParaRPr lang="en-US" sz="2000" dirty="0"/>
          </a:p>
        </p:txBody>
      </p:sp>
      <p:sp>
        <p:nvSpPr>
          <p:cNvPr id="11" name="Text 9"/>
          <p:cNvSpPr txBox="1"/>
          <p:nvPr/>
        </p:nvSpPr>
        <p:spPr>
          <a:xfrm>
            <a:off x="3436544" y="2926080"/>
            <a:ext cx="2430704" cy="36576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Modularity</a:t>
            </a:r>
            <a:endParaRPr lang="en-US" sz="1500" dirty="0"/>
          </a:p>
        </p:txBody>
      </p:sp>
      <p:sp>
        <p:nvSpPr>
          <p:cNvPr id="12" name="Text 10"/>
          <p:cNvSpPr txBox="1"/>
          <p:nvPr/>
        </p:nvSpPr>
        <p:spPr>
          <a:xfrm>
            <a:off x="3436544" y="3291840"/>
            <a:ext cx="2430704" cy="1005840"/>
          </a:xfrm>
          <a:prstGeom prst="rect">
            <a:avLst/>
          </a:prstGeom>
          <a:noFill/>
          <a:ln/>
        </p:spPr>
        <p:txBody>
          <a:bodyPr wrap="square" lIns="0" tIns="0" rIns="0" bIns="0" rtlCol="0" anchor="ctr"/>
          <a:lstStyle/>
          <a:p>
            <a:pPr marL="0" indent="0" algn="ctr">
              <a:buNone/>
            </a:pPr>
            <a:r>
              <a:rPr lang="en-US" sz="1150" dirty="0">
                <a:solidFill>
                  <a:srgbClr val="24272E"/>
                </a:solidFill>
                <a:latin typeface="Calibri" pitchFamily="34" charset="0"/>
                <a:ea typeface="Calibri" pitchFamily="34" charset="-122"/>
                <a:cs typeface="Calibri" pitchFamily="34" charset="-120"/>
              </a:rPr>
              <a:t>Independent modules for users, catalogue and orders.</a:t>
            </a:r>
            <a:endParaRPr lang="en-US" sz="1150" dirty="0"/>
          </a:p>
        </p:txBody>
      </p:sp>
      <p:sp>
        <p:nvSpPr>
          <p:cNvPr id="13" name="Shape 11"/>
          <p:cNvSpPr/>
          <p:nvPr/>
        </p:nvSpPr>
        <p:spPr>
          <a:xfrm>
            <a:off x="7128320" y="1965960"/>
            <a:ext cx="822960" cy="822960"/>
          </a:xfrm>
          <a:prstGeom prst="ellipse">
            <a:avLst/>
          </a:prstGeom>
          <a:solidFill>
            <a:srgbClr val="1E2761"/>
          </a:solidFill>
          <a:ln/>
        </p:spPr>
        <p:txBody>
          <a:bodyPr/>
          <a:lstStyle/>
          <a:p>
            <a:endParaRPr lang="en-US"/>
          </a:p>
        </p:txBody>
      </p:sp>
      <p:sp>
        <p:nvSpPr>
          <p:cNvPr id="14" name="Text 12"/>
          <p:cNvSpPr txBox="1"/>
          <p:nvPr/>
        </p:nvSpPr>
        <p:spPr>
          <a:xfrm>
            <a:off x="7128320" y="1965960"/>
            <a:ext cx="822960" cy="8229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Sec</a:t>
            </a:r>
            <a:endParaRPr lang="en-US" sz="2000" dirty="0"/>
          </a:p>
        </p:txBody>
      </p:sp>
      <p:sp>
        <p:nvSpPr>
          <p:cNvPr id="15" name="Text 13"/>
          <p:cNvSpPr txBox="1"/>
          <p:nvPr/>
        </p:nvSpPr>
        <p:spPr>
          <a:xfrm>
            <a:off x="6324448" y="2926080"/>
            <a:ext cx="2430704" cy="36576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Security</a:t>
            </a:r>
            <a:endParaRPr lang="en-US" sz="1500" dirty="0"/>
          </a:p>
        </p:txBody>
      </p:sp>
      <p:sp>
        <p:nvSpPr>
          <p:cNvPr id="16" name="Text 14"/>
          <p:cNvSpPr txBox="1"/>
          <p:nvPr/>
        </p:nvSpPr>
        <p:spPr>
          <a:xfrm>
            <a:off x="6324448" y="3291840"/>
            <a:ext cx="2430704" cy="1005840"/>
          </a:xfrm>
          <a:prstGeom prst="rect">
            <a:avLst/>
          </a:prstGeom>
          <a:noFill/>
          <a:ln/>
        </p:spPr>
        <p:txBody>
          <a:bodyPr wrap="square" lIns="0" tIns="0" rIns="0" bIns="0" rtlCol="0" anchor="ctr"/>
          <a:lstStyle/>
          <a:p>
            <a:pPr marL="0" indent="0" algn="ctr">
              <a:buNone/>
            </a:pPr>
            <a:r>
              <a:rPr lang="en-US" sz="1150" dirty="0">
                <a:solidFill>
                  <a:srgbClr val="24272E"/>
                </a:solidFill>
                <a:latin typeface="Calibri" pitchFamily="34" charset="0"/>
                <a:ea typeface="Calibri" pitchFamily="34" charset="-122"/>
                <a:cs typeface="Calibri" pitchFamily="34" charset="-120"/>
              </a:rPr>
              <a:t>Protect user data and transactions end to end.</a:t>
            </a:r>
            <a:endParaRPr lang="en-US" sz="1150" dirty="0"/>
          </a:p>
        </p:txBody>
      </p:sp>
      <p:sp>
        <p:nvSpPr>
          <p:cNvPr id="17" name="Shape 15"/>
          <p:cNvSpPr/>
          <p:nvPr/>
        </p:nvSpPr>
        <p:spPr>
          <a:xfrm>
            <a:off x="10016223" y="1965960"/>
            <a:ext cx="822960" cy="822960"/>
          </a:xfrm>
          <a:prstGeom prst="ellipse">
            <a:avLst/>
          </a:prstGeom>
          <a:solidFill>
            <a:srgbClr val="3B4A8C"/>
          </a:solidFill>
          <a:ln/>
        </p:spPr>
        <p:txBody>
          <a:bodyPr/>
          <a:lstStyle/>
          <a:p>
            <a:endParaRPr lang="en-US"/>
          </a:p>
        </p:txBody>
      </p:sp>
      <p:sp>
        <p:nvSpPr>
          <p:cNvPr id="18" name="Text 16"/>
          <p:cNvSpPr txBox="1"/>
          <p:nvPr/>
        </p:nvSpPr>
        <p:spPr>
          <a:xfrm>
            <a:off x="10016223" y="1965960"/>
            <a:ext cx="822960" cy="8229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E</a:t>
            </a:r>
            <a:endParaRPr lang="en-US" sz="2000" dirty="0"/>
          </a:p>
        </p:txBody>
      </p:sp>
      <p:sp>
        <p:nvSpPr>
          <p:cNvPr id="19" name="Text 17"/>
          <p:cNvSpPr txBox="1"/>
          <p:nvPr/>
        </p:nvSpPr>
        <p:spPr>
          <a:xfrm>
            <a:off x="9212351" y="2926080"/>
            <a:ext cx="2430704" cy="36576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Extensibility</a:t>
            </a:r>
            <a:endParaRPr lang="en-US" sz="1500" dirty="0"/>
          </a:p>
        </p:txBody>
      </p:sp>
      <p:sp>
        <p:nvSpPr>
          <p:cNvPr id="20" name="Text 18"/>
          <p:cNvSpPr txBox="1"/>
          <p:nvPr/>
        </p:nvSpPr>
        <p:spPr>
          <a:xfrm>
            <a:off x="9212351" y="3291840"/>
            <a:ext cx="2430704" cy="1005840"/>
          </a:xfrm>
          <a:prstGeom prst="rect">
            <a:avLst/>
          </a:prstGeom>
          <a:noFill/>
          <a:ln/>
        </p:spPr>
        <p:txBody>
          <a:bodyPr wrap="square" lIns="0" tIns="0" rIns="0" bIns="0" rtlCol="0" anchor="ctr"/>
          <a:lstStyle/>
          <a:p>
            <a:pPr marL="0" indent="0" algn="ctr">
              <a:buNone/>
            </a:pPr>
            <a:r>
              <a:rPr lang="en-US" sz="1150" dirty="0">
                <a:solidFill>
                  <a:srgbClr val="24272E"/>
                </a:solidFill>
                <a:latin typeface="Calibri" pitchFamily="34" charset="0"/>
                <a:ea typeface="Calibri" pitchFamily="34" charset="-122"/>
                <a:cs typeface="Calibri" pitchFamily="34" charset="-120"/>
              </a:rPr>
              <a:t>Add new payment methods or engines with minimal change.</a:t>
            </a:r>
            <a:endParaRPr lang="en-US" sz="1150" dirty="0"/>
          </a:p>
        </p:txBody>
      </p:sp>
      <p:sp>
        <p:nvSpPr>
          <p:cNvPr id="21" name="Shape 19"/>
          <p:cNvSpPr/>
          <p:nvPr/>
        </p:nvSpPr>
        <p:spPr>
          <a:xfrm>
            <a:off x="548640" y="5074920"/>
            <a:ext cx="11094415" cy="1234440"/>
          </a:xfrm>
          <a:prstGeom prst="rect">
            <a:avLst/>
          </a:prstGeom>
          <a:solidFill>
            <a:srgbClr val="E9EFFC"/>
          </a:solidFill>
          <a:ln/>
        </p:spPr>
        <p:txBody>
          <a:bodyPr/>
          <a:lstStyle/>
          <a:p>
            <a:endParaRPr lang="en-US"/>
          </a:p>
        </p:txBody>
      </p:sp>
      <p:sp>
        <p:nvSpPr>
          <p:cNvPr id="22" name="Text 20"/>
          <p:cNvSpPr txBox="1"/>
          <p:nvPr/>
        </p:nvSpPr>
        <p:spPr>
          <a:xfrm>
            <a:off x="777240" y="5230368"/>
            <a:ext cx="10637215" cy="960120"/>
          </a:xfrm>
          <a:prstGeom prst="rect">
            <a:avLst/>
          </a:prstGeom>
          <a:noFill/>
          <a:ln/>
        </p:spPr>
        <p:txBody>
          <a:bodyPr wrap="square" lIns="0" tIns="0" rIns="0" bIns="0" rtlCol="0" anchor="ctr"/>
          <a:lstStyle/>
          <a:p>
            <a:pPr marL="0" indent="0">
              <a:buNone/>
            </a:pPr>
            <a:r>
              <a:rPr lang="en-US" sz="1250" dirty="0">
                <a:solidFill>
                  <a:srgbClr val="1E2761"/>
                </a:solidFill>
                <a:latin typeface="Calibri" pitchFamily="34" charset="0"/>
                <a:ea typeface="Calibri" pitchFamily="34" charset="-122"/>
                <a:cs typeface="Calibri" pitchFamily="34" charset="-120"/>
              </a:rPr>
              <a:t>These four requirements motivate the design choices on the following slides: a layered architecture for modularity, dependency injection and the Observer pattern for scalability and extensibility, and a dedicated authentication layer for security.</a:t>
            </a:r>
            <a:endParaRPr lang="en-US" sz="1250" dirty="0"/>
          </a:p>
        </p:txBody>
      </p:sp>
      <p:sp>
        <p:nvSpPr>
          <p:cNvPr id="23" name="Text 21"/>
          <p:cNvSpPr txBox="1"/>
          <p:nvPr/>
        </p:nvSpPr>
        <p:spPr>
          <a:xfrm>
            <a:off x="548640" y="6565392"/>
            <a:ext cx="7772400" cy="256032"/>
          </a:xfrm>
          <a:prstGeom prst="rect">
            <a:avLst/>
          </a:prstGeom>
          <a:noFill/>
          <a:ln/>
        </p:spPr>
        <p:txBody>
          <a:bodyPr wrap="square" lIns="0" tIns="0" rIns="0" bIns="0" rtlCol="0" anchor="ctr"/>
          <a:lstStyle/>
          <a:p>
            <a:pPr marL="0" indent="0">
              <a:buNone/>
            </a:pPr>
            <a:r>
              <a:rPr lang="en-US" sz="900" dirty="0">
                <a:solidFill>
                  <a:srgbClr val="5A6B8C"/>
                </a:solidFill>
                <a:latin typeface="Calibri" pitchFamily="34" charset="0"/>
                <a:ea typeface="Calibri" pitchFamily="34" charset="-122"/>
                <a:cs typeface="Calibri" pitchFamily="34" charset="-120"/>
              </a:rPr>
              <a:t>AOODP25_PCOM7E, Unit 9 Case Study, ShopEase Architecture</a:t>
            </a:r>
            <a:endParaRPr lang="en-US" sz="900" dirty="0"/>
          </a:p>
        </p:txBody>
      </p:sp>
      <p:sp>
        <p:nvSpPr>
          <p:cNvPr id="24" name="Text 22"/>
          <p:cNvSpPr txBox="1"/>
          <p:nvPr/>
        </p:nvSpPr>
        <p:spPr>
          <a:xfrm>
            <a:off x="11185855" y="6565392"/>
            <a:ext cx="457200" cy="256032"/>
          </a:xfrm>
          <a:prstGeom prst="rect">
            <a:avLst/>
          </a:prstGeom>
          <a:noFill/>
          <a:ln/>
        </p:spPr>
        <p:txBody>
          <a:bodyPr wrap="square" lIns="0" tIns="0" rIns="0" bIns="0" rtlCol="0" anchor="ctr"/>
          <a:lstStyle/>
          <a:p>
            <a:pPr marL="0" indent="0" algn="r">
              <a:buNone/>
            </a:pPr>
            <a:r>
              <a:rPr lang="en-US" sz="900" dirty="0">
                <a:solidFill>
                  <a:srgbClr val="5A6B8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LAYERED ARCHITECTURE OVERVIEW</a:t>
            </a:r>
            <a:endParaRPr lang="en-US" sz="1200" dirty="0"/>
          </a:p>
        </p:txBody>
      </p:sp>
      <p:sp>
        <p:nvSpPr>
          <p:cNvPr id="3" name="Text 1"/>
          <p:cNvSpPr txBox="1"/>
          <p:nvPr/>
        </p:nvSpPr>
        <p:spPr>
          <a:xfrm>
            <a:off x="548640" y="566928"/>
            <a:ext cx="11094415"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Three-Layer Architecture</a:t>
            </a:r>
            <a:endParaRPr lang="en-US" sz="2800" dirty="0"/>
          </a:p>
        </p:txBody>
      </p:sp>
      <p:sp>
        <p:nvSpPr>
          <p:cNvPr id="4" name="Shape 2"/>
          <p:cNvSpPr/>
          <p:nvPr/>
        </p:nvSpPr>
        <p:spPr>
          <a:xfrm>
            <a:off x="548640" y="1234440"/>
            <a:ext cx="6949440" cy="1234440"/>
          </a:xfrm>
          <a:prstGeom prst="roundRect">
            <a:avLst>
              <a:gd name="adj" fmla="val 4444"/>
            </a:avLst>
          </a:prstGeom>
          <a:solidFill>
            <a:srgbClr val="E9EFFC"/>
          </a:solidFill>
          <a:ln/>
        </p:spPr>
        <p:txBody>
          <a:bodyPr/>
          <a:lstStyle/>
          <a:p>
            <a:endParaRPr lang="en-US"/>
          </a:p>
        </p:txBody>
      </p:sp>
      <p:sp>
        <p:nvSpPr>
          <p:cNvPr id="5" name="Text 3"/>
          <p:cNvSpPr txBox="1"/>
          <p:nvPr/>
        </p:nvSpPr>
        <p:spPr>
          <a:xfrm>
            <a:off x="822960" y="1344168"/>
            <a:ext cx="6400800" cy="3657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Presentation Layer</a:t>
            </a:r>
            <a:endParaRPr lang="en-US" sz="1600" dirty="0"/>
          </a:p>
        </p:txBody>
      </p:sp>
      <p:sp>
        <p:nvSpPr>
          <p:cNvPr id="6" name="Text 4"/>
          <p:cNvSpPr txBox="1"/>
          <p:nvPr/>
        </p:nvSpPr>
        <p:spPr>
          <a:xfrm>
            <a:off x="822960" y="1737360"/>
            <a:ext cx="6400800" cy="457200"/>
          </a:xfrm>
          <a:prstGeom prst="rect">
            <a:avLst/>
          </a:prstGeom>
          <a:noFill/>
          <a:ln/>
        </p:spPr>
        <p:txBody>
          <a:bodyPr wrap="square" lIns="0" tIns="0" rIns="0" bIns="0" rtlCol="0" anchor="ctr"/>
          <a:lstStyle/>
          <a:p>
            <a:pPr marL="0" indent="0">
              <a:buNone/>
            </a:pPr>
            <a:r>
              <a:rPr lang="en-US" sz="1150" dirty="0">
                <a:solidFill>
                  <a:srgbClr val="1E2761"/>
                </a:solidFill>
                <a:latin typeface="Calibri" pitchFamily="34" charset="0"/>
                <a:ea typeface="Calibri" pitchFamily="34" charset="-122"/>
                <a:cs typeface="Calibri" pitchFamily="34" charset="-120"/>
              </a:rPr>
              <a:t>Web and mobile UI  ·  Input validation  ·  Session management</a:t>
            </a:r>
            <a:endParaRPr lang="en-US" sz="1150" dirty="0"/>
          </a:p>
        </p:txBody>
      </p:sp>
      <p:sp>
        <p:nvSpPr>
          <p:cNvPr id="9" name="Text 7"/>
          <p:cNvSpPr txBox="1"/>
          <p:nvPr/>
        </p:nvSpPr>
        <p:spPr>
          <a:xfrm>
            <a:off x="3895344" y="2487168"/>
            <a:ext cx="256032" cy="281635"/>
          </a:xfrm>
          <a:prstGeom prst="rect">
            <a:avLst/>
          </a:prstGeom>
          <a:noFill/>
          <a:ln/>
        </p:spPr>
        <p:txBody>
          <a:bodyPr wrap="square" lIns="0" tIns="0" rIns="0" bIns="0" rtlCol="0" anchor="ctr"/>
          <a:lstStyle/>
          <a:p>
            <a:pPr marL="0" indent="0" algn="ctr">
              <a:buNone/>
            </a:pPr>
            <a:r>
              <a:rPr lang="en-US" sz="1300" b="1" dirty="0">
                <a:solidFill>
                  <a:srgbClr val="3B4A8C"/>
                </a:solidFill>
              </a:rPr>
              <a:t>↓</a:t>
            </a:r>
            <a:endParaRPr lang="en-US" sz="1300" dirty="0"/>
          </a:p>
        </p:txBody>
      </p:sp>
      <p:sp>
        <p:nvSpPr>
          <p:cNvPr id="10" name="Shape 8"/>
          <p:cNvSpPr/>
          <p:nvPr/>
        </p:nvSpPr>
        <p:spPr>
          <a:xfrm>
            <a:off x="548640" y="2761488"/>
            <a:ext cx="6949440" cy="1234440"/>
          </a:xfrm>
          <a:prstGeom prst="roundRect">
            <a:avLst>
              <a:gd name="adj" fmla="val 4444"/>
            </a:avLst>
          </a:prstGeom>
          <a:solidFill>
            <a:srgbClr val="3B4A8C"/>
          </a:solidFill>
          <a:ln/>
        </p:spPr>
        <p:txBody>
          <a:bodyPr/>
          <a:lstStyle/>
          <a:p>
            <a:endParaRPr lang="en-US"/>
          </a:p>
        </p:txBody>
      </p:sp>
      <p:sp>
        <p:nvSpPr>
          <p:cNvPr id="11" name="Text 9"/>
          <p:cNvSpPr txBox="1"/>
          <p:nvPr/>
        </p:nvSpPr>
        <p:spPr>
          <a:xfrm>
            <a:off x="822960" y="2871216"/>
            <a:ext cx="64008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Business Logic Layer</a:t>
            </a:r>
            <a:endParaRPr lang="en-US" sz="1600" dirty="0"/>
          </a:p>
        </p:txBody>
      </p:sp>
      <p:sp>
        <p:nvSpPr>
          <p:cNvPr id="12" name="Text 10"/>
          <p:cNvSpPr txBox="1"/>
          <p:nvPr/>
        </p:nvSpPr>
        <p:spPr>
          <a:xfrm>
            <a:off x="822960" y="3264408"/>
            <a:ext cx="6400800" cy="45720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Cart, orders, payments  ·  Authentication  ·  Inventory logic</a:t>
            </a:r>
            <a:endParaRPr lang="en-US" sz="1150" dirty="0"/>
          </a:p>
        </p:txBody>
      </p:sp>
      <p:sp>
        <p:nvSpPr>
          <p:cNvPr id="15" name="Text 13"/>
          <p:cNvSpPr txBox="1"/>
          <p:nvPr/>
        </p:nvSpPr>
        <p:spPr>
          <a:xfrm>
            <a:off x="3895344" y="4014216"/>
            <a:ext cx="256032" cy="281635"/>
          </a:xfrm>
          <a:prstGeom prst="rect">
            <a:avLst/>
          </a:prstGeom>
          <a:noFill/>
          <a:ln/>
        </p:spPr>
        <p:txBody>
          <a:bodyPr wrap="square" lIns="0" tIns="0" rIns="0" bIns="0" rtlCol="0" anchor="ctr"/>
          <a:lstStyle/>
          <a:p>
            <a:pPr marL="0" indent="0" algn="ctr">
              <a:buNone/>
            </a:pPr>
            <a:r>
              <a:rPr lang="en-US" sz="1300" b="1" dirty="0">
                <a:solidFill>
                  <a:srgbClr val="3B4A8C"/>
                </a:solidFill>
              </a:rPr>
              <a:t>↓</a:t>
            </a:r>
            <a:endParaRPr lang="en-US" sz="1300" dirty="0"/>
          </a:p>
        </p:txBody>
      </p:sp>
      <p:sp>
        <p:nvSpPr>
          <p:cNvPr id="16" name="Shape 14"/>
          <p:cNvSpPr/>
          <p:nvPr/>
        </p:nvSpPr>
        <p:spPr>
          <a:xfrm>
            <a:off x="548640" y="4288536"/>
            <a:ext cx="6949440" cy="1234440"/>
          </a:xfrm>
          <a:prstGeom prst="roundRect">
            <a:avLst>
              <a:gd name="adj" fmla="val 4444"/>
            </a:avLst>
          </a:prstGeom>
          <a:solidFill>
            <a:srgbClr val="1E2761"/>
          </a:solidFill>
          <a:ln/>
        </p:spPr>
        <p:txBody>
          <a:bodyPr/>
          <a:lstStyle/>
          <a:p>
            <a:endParaRPr lang="en-US"/>
          </a:p>
        </p:txBody>
      </p:sp>
      <p:sp>
        <p:nvSpPr>
          <p:cNvPr id="17" name="Text 15"/>
          <p:cNvSpPr txBox="1"/>
          <p:nvPr/>
        </p:nvSpPr>
        <p:spPr>
          <a:xfrm>
            <a:off x="822960" y="4398264"/>
            <a:ext cx="64008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Data Access Layer</a:t>
            </a:r>
            <a:endParaRPr lang="en-US" sz="1600" dirty="0"/>
          </a:p>
        </p:txBody>
      </p:sp>
      <p:sp>
        <p:nvSpPr>
          <p:cNvPr id="18" name="Text 16"/>
          <p:cNvSpPr txBox="1"/>
          <p:nvPr/>
        </p:nvSpPr>
        <p:spPr>
          <a:xfrm>
            <a:off x="822960" y="4791456"/>
            <a:ext cx="6400800" cy="45720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Database interactions  ·  Caching  ·  File storage</a:t>
            </a:r>
            <a:endParaRPr lang="en-US" sz="1150" dirty="0"/>
          </a:p>
        </p:txBody>
      </p:sp>
      <p:sp>
        <p:nvSpPr>
          <p:cNvPr id="21" name="Text 19"/>
          <p:cNvSpPr txBox="1"/>
          <p:nvPr/>
        </p:nvSpPr>
        <p:spPr>
          <a:xfrm>
            <a:off x="548640" y="5541264"/>
            <a:ext cx="6949440" cy="274320"/>
          </a:xfrm>
          <a:prstGeom prst="rect">
            <a:avLst/>
          </a:prstGeom>
          <a:noFill/>
          <a:ln/>
        </p:spPr>
        <p:txBody>
          <a:bodyPr wrap="square" lIns="0" tIns="0" rIns="0" bIns="0" rtlCol="0" anchor="ctr"/>
          <a:lstStyle/>
          <a:p>
            <a:pPr marL="0" indent="0">
              <a:buNone/>
            </a:pPr>
            <a:r>
              <a:rPr lang="en-US" sz="1000" i="1" dirty="0">
                <a:solidFill>
                  <a:srgbClr val="5A6B8C"/>
                </a:solidFill>
                <a:latin typeface="Calibri" pitchFamily="34" charset="0"/>
                <a:ea typeface="Calibri" pitchFamily="34" charset="-122"/>
                <a:cs typeface="Calibri" pitchFamily="34" charset="-120"/>
              </a:rPr>
              <a:t>Dependency direction: outer layers depend on inner layers</a:t>
            </a:r>
            <a:endParaRPr lang="en-US" sz="1000" dirty="0"/>
          </a:p>
        </p:txBody>
      </p:sp>
      <p:sp>
        <p:nvSpPr>
          <p:cNvPr id="22" name="Shape 20"/>
          <p:cNvSpPr/>
          <p:nvPr/>
        </p:nvSpPr>
        <p:spPr>
          <a:xfrm>
            <a:off x="7818120" y="1234440"/>
            <a:ext cx="3824935" cy="4288536"/>
          </a:xfrm>
          <a:prstGeom prst="rect">
            <a:avLst/>
          </a:prstGeom>
          <a:solidFill>
            <a:srgbClr val="E9EFFC"/>
          </a:solidFill>
          <a:ln/>
        </p:spPr>
        <p:txBody>
          <a:bodyPr/>
          <a:lstStyle/>
          <a:p>
            <a:endParaRPr lang="en-US"/>
          </a:p>
        </p:txBody>
      </p:sp>
      <p:sp>
        <p:nvSpPr>
          <p:cNvPr id="23" name="Text 21"/>
          <p:cNvSpPr txBox="1"/>
          <p:nvPr/>
        </p:nvSpPr>
        <p:spPr>
          <a:xfrm>
            <a:off x="8001000" y="1371600"/>
            <a:ext cx="3459175"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Why a layered design</a:t>
            </a:r>
            <a:endParaRPr lang="en-US" sz="1300" dirty="0"/>
          </a:p>
        </p:txBody>
      </p:sp>
      <p:sp>
        <p:nvSpPr>
          <p:cNvPr id="24" name="Text 22"/>
          <p:cNvSpPr txBox="1"/>
          <p:nvPr/>
        </p:nvSpPr>
        <p:spPr>
          <a:xfrm>
            <a:off x="8001000" y="1737360"/>
            <a:ext cx="3459175" cy="3739896"/>
          </a:xfrm>
          <a:prstGeom prst="rect">
            <a:avLst/>
          </a:prstGeom>
          <a:noFill/>
          <a:ln/>
        </p:spPr>
        <p:txBody>
          <a:bodyPr wrap="square" lIns="0" tIns="0" rIns="0" bIns="0" rtlCol="0" anchor="ctr"/>
          <a:lstStyle/>
          <a:p>
            <a:pPr marL="0" indent="0">
              <a:buNone/>
            </a:pPr>
            <a:r>
              <a:rPr lang="en-US" sz="1200" dirty="0">
                <a:solidFill>
                  <a:srgbClr val="24272E"/>
                </a:solidFill>
                <a:latin typeface="Calibri" pitchFamily="34" charset="0"/>
                <a:ea typeface="Calibri" pitchFamily="34" charset="-122"/>
                <a:cs typeface="Calibri" pitchFamily="34" charset="-120"/>
              </a:rPr>
              <a:t>Separating presentation, business logic and data access lets each module evolve, test and scale on its own, which directly answers the modularity requirement. Because dependencies point in one direction only, the data access layer can be swapped or scaled without the UI knowing, though this classic three-layer split still requires clear interfaces at each boundary to avoid cascading changes when the data model evolves.</a:t>
            </a:r>
            <a:endParaRPr lang="en-US" sz="1200" dirty="0"/>
          </a:p>
        </p:txBody>
      </p:sp>
      <p:sp>
        <p:nvSpPr>
          <p:cNvPr id="25" name="Text 23"/>
          <p:cNvSpPr txBox="1"/>
          <p:nvPr/>
        </p:nvSpPr>
        <p:spPr>
          <a:xfrm>
            <a:off x="548640" y="6565392"/>
            <a:ext cx="7772400" cy="256032"/>
          </a:xfrm>
          <a:prstGeom prst="rect">
            <a:avLst/>
          </a:prstGeom>
          <a:noFill/>
          <a:ln/>
        </p:spPr>
        <p:txBody>
          <a:bodyPr wrap="square" lIns="0" tIns="0" rIns="0" bIns="0" rtlCol="0" anchor="ctr"/>
          <a:lstStyle/>
          <a:p>
            <a:pPr marL="0" indent="0">
              <a:buNone/>
            </a:pPr>
            <a:r>
              <a:rPr lang="en-US" sz="900" dirty="0">
                <a:solidFill>
                  <a:srgbClr val="5A6B8C"/>
                </a:solidFill>
                <a:latin typeface="Calibri" pitchFamily="34" charset="0"/>
                <a:ea typeface="Calibri" pitchFamily="34" charset="-122"/>
                <a:cs typeface="Calibri" pitchFamily="34" charset="-120"/>
              </a:rPr>
              <a:t>AOODP25_PCOM7E, Unit 9 Case Study, ShopEase Architecture</a:t>
            </a:r>
            <a:endParaRPr lang="en-US" sz="900" dirty="0"/>
          </a:p>
        </p:txBody>
      </p:sp>
      <p:sp>
        <p:nvSpPr>
          <p:cNvPr id="26" name="Text 24"/>
          <p:cNvSpPr txBox="1"/>
          <p:nvPr/>
        </p:nvSpPr>
        <p:spPr>
          <a:xfrm>
            <a:off x="11185855" y="6565392"/>
            <a:ext cx="457200" cy="256032"/>
          </a:xfrm>
          <a:prstGeom prst="rect">
            <a:avLst/>
          </a:prstGeom>
          <a:noFill/>
          <a:ln/>
        </p:spPr>
        <p:txBody>
          <a:bodyPr wrap="square" lIns="0" tIns="0" rIns="0" bIns="0" rtlCol="0" anchor="ctr"/>
          <a:lstStyle/>
          <a:p>
            <a:pPr marL="0" indent="0" algn="r">
              <a:buNone/>
            </a:pPr>
            <a:r>
              <a:rPr lang="en-US" sz="900" dirty="0">
                <a:solidFill>
                  <a:srgbClr val="5A6B8C"/>
                </a:solidFill>
                <a:latin typeface="Calibri" pitchFamily="34" charset="0"/>
                <a:ea typeface="Calibri" pitchFamily="34" charset="-122"/>
                <a:cs typeface="Calibri" pitchFamily="34" charset="-120"/>
              </a:rPr>
              <a:t>3</a:t>
            </a:r>
            <a:endParaRPr lang="en-US" sz="900" dirty="0"/>
          </a:p>
        </p:txBody>
      </p:sp>
      <p:sp>
        <p:nvSpPr>
          <p:cNvPr id="27" name="Shape 5">
            <a:extLst>
              <a:ext uri="{FF2B5EF4-FFF2-40B4-BE49-F238E27FC236}">
                <a16:creationId xmlns:a16="http://schemas.microsoft.com/office/drawing/2014/main" id="{BD7CFFC5-40DD-A646-C61B-43A6F38CF8F1}"/>
              </a:ext>
            </a:extLst>
          </p:cNvPr>
          <p:cNvSpPr/>
          <p:nvPr/>
        </p:nvSpPr>
        <p:spPr>
          <a:xfrm>
            <a:off x="5276088" y="2112680"/>
            <a:ext cx="2130552" cy="292608"/>
          </a:xfrm>
          <a:prstGeom prst="roundRect">
            <a:avLst>
              <a:gd name="adj" fmla="val 25000"/>
            </a:avLst>
          </a:prstGeom>
          <a:solidFill>
            <a:srgbClr val="E8A33D"/>
          </a:solidFill>
          <a:ln/>
        </p:spPr>
        <p:txBody>
          <a:bodyPr anchor="ctr"/>
          <a:lstStyle/>
          <a:p>
            <a:pPr algn="ctr"/>
            <a:r>
              <a:rPr lang="en-US" sz="1100" b="1" dirty="0">
                <a:solidFill>
                  <a:srgbClr val="1E2761"/>
                </a:solidFill>
                <a:latin typeface="Calibri" pitchFamily="34" charset="0"/>
                <a:ea typeface="Calibri" pitchFamily="34" charset="-122"/>
                <a:cs typeface="Calibri" pitchFamily="34" charset="-120"/>
              </a:rPr>
              <a:t>Strategy (UI variants)</a:t>
            </a:r>
            <a:endParaRPr lang="en-US" sz="1100" dirty="0"/>
          </a:p>
        </p:txBody>
      </p:sp>
      <p:sp>
        <p:nvSpPr>
          <p:cNvPr id="28" name="Shape 11">
            <a:extLst>
              <a:ext uri="{FF2B5EF4-FFF2-40B4-BE49-F238E27FC236}">
                <a16:creationId xmlns:a16="http://schemas.microsoft.com/office/drawing/2014/main" id="{E8DC0C26-57A6-E3AB-BDCA-5698A3D3D421}"/>
              </a:ext>
            </a:extLst>
          </p:cNvPr>
          <p:cNvSpPr/>
          <p:nvPr/>
        </p:nvSpPr>
        <p:spPr>
          <a:xfrm>
            <a:off x="5276088" y="3630583"/>
            <a:ext cx="2130552" cy="292608"/>
          </a:xfrm>
          <a:prstGeom prst="roundRect">
            <a:avLst>
              <a:gd name="adj" fmla="val 25000"/>
            </a:avLst>
          </a:prstGeom>
          <a:solidFill>
            <a:srgbClr val="E8A33D"/>
          </a:solidFill>
          <a:ln/>
        </p:spPr>
        <p:txBody>
          <a:bodyPr anchor="ctr"/>
          <a:lstStyle/>
          <a:p>
            <a:pPr algn="ctr"/>
            <a:r>
              <a:rPr lang="en-US" sz="1100" b="1" dirty="0">
                <a:solidFill>
                  <a:srgbClr val="1E2761"/>
                </a:solidFill>
                <a:ea typeface="Calibri" pitchFamily="34" charset="-122"/>
                <a:cs typeface="Calibri" pitchFamily="34" charset="-120"/>
              </a:rPr>
              <a:t>Factory Method · Observer</a:t>
            </a:r>
            <a:endParaRPr lang="en-US" sz="1100" dirty="0"/>
          </a:p>
        </p:txBody>
      </p:sp>
      <p:sp>
        <p:nvSpPr>
          <p:cNvPr id="29" name="Shape 17">
            <a:extLst>
              <a:ext uri="{FF2B5EF4-FFF2-40B4-BE49-F238E27FC236}">
                <a16:creationId xmlns:a16="http://schemas.microsoft.com/office/drawing/2014/main" id="{018137D7-1A7A-7F07-123D-B50791FCB26C}"/>
              </a:ext>
            </a:extLst>
          </p:cNvPr>
          <p:cNvSpPr/>
          <p:nvPr/>
        </p:nvSpPr>
        <p:spPr>
          <a:xfrm>
            <a:off x="5276088" y="5156593"/>
            <a:ext cx="2130552" cy="292608"/>
          </a:xfrm>
          <a:prstGeom prst="roundRect">
            <a:avLst>
              <a:gd name="adj" fmla="val 25000"/>
            </a:avLst>
          </a:prstGeom>
          <a:solidFill>
            <a:srgbClr val="E8A33D"/>
          </a:solidFill>
          <a:ln/>
        </p:spPr>
        <p:txBody>
          <a:bodyPr anchor="ctr"/>
          <a:lstStyle/>
          <a:p>
            <a:pPr algn="ctr"/>
            <a:r>
              <a:rPr lang="en-US" sz="1100" b="1" dirty="0">
                <a:solidFill>
                  <a:srgbClr val="1E2761"/>
                </a:solidFill>
                <a:latin typeface="Calibri" pitchFamily="34" charset="0"/>
                <a:ea typeface="Calibri" pitchFamily="34" charset="-122"/>
                <a:cs typeface="Calibri" pitchFamily="34" charset="-120"/>
              </a:rPr>
              <a:t>Repository · DAO</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MODULAR DESIGN WITH OOP</a:t>
            </a:r>
            <a:endParaRPr lang="en-US" sz="1200" dirty="0"/>
          </a:p>
        </p:txBody>
      </p:sp>
      <p:sp>
        <p:nvSpPr>
          <p:cNvPr id="3" name="Text 1"/>
          <p:cNvSpPr txBox="1"/>
          <p:nvPr/>
        </p:nvSpPr>
        <p:spPr>
          <a:xfrm>
            <a:off x="548640" y="566928"/>
            <a:ext cx="11094415"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User Management Module</a:t>
            </a:r>
            <a:endParaRPr lang="en-US" sz="2800" dirty="0"/>
          </a:p>
        </p:txBody>
      </p:sp>
      <p:sp>
        <p:nvSpPr>
          <p:cNvPr id="4" name="Shape 2"/>
          <p:cNvSpPr/>
          <p:nvPr/>
        </p:nvSpPr>
        <p:spPr>
          <a:xfrm>
            <a:off x="548640" y="1234440"/>
            <a:ext cx="3429000" cy="3017520"/>
          </a:xfrm>
          <a:prstGeom prst="roundRect">
            <a:avLst>
              <a:gd name="adj" fmla="val 1818"/>
            </a:avLst>
          </a:prstGeom>
          <a:solidFill>
            <a:srgbClr val="E9EFFC"/>
          </a:solidFill>
          <a:ln/>
        </p:spPr>
        <p:txBody>
          <a:bodyPr/>
          <a:lstStyle/>
          <a:p>
            <a:endParaRPr lang="en-US"/>
          </a:p>
        </p:txBody>
      </p:sp>
      <p:sp>
        <p:nvSpPr>
          <p:cNvPr id="5" name="Text 3"/>
          <p:cNvSpPr txBox="1"/>
          <p:nvPr/>
        </p:nvSpPr>
        <p:spPr>
          <a:xfrm>
            <a:off x="749808" y="1380744"/>
            <a:ext cx="3026664"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Presentation</a:t>
            </a:r>
            <a:endParaRPr lang="en-US" sz="1300" dirty="0"/>
          </a:p>
        </p:txBody>
      </p:sp>
      <p:sp>
        <p:nvSpPr>
          <p:cNvPr id="6" name="Shape 4"/>
          <p:cNvSpPr/>
          <p:nvPr/>
        </p:nvSpPr>
        <p:spPr>
          <a:xfrm>
            <a:off x="749808" y="1764792"/>
            <a:ext cx="3026664" cy="0"/>
          </a:xfrm>
          <a:prstGeom prst="line">
            <a:avLst/>
          </a:prstGeom>
          <a:noFill/>
          <a:ln w="12700">
            <a:solidFill>
              <a:srgbClr val="B9C6E8"/>
            </a:solidFill>
            <a:prstDash val="solid"/>
          </a:ln>
        </p:spPr>
        <p:txBody>
          <a:bodyPr/>
          <a:lstStyle/>
          <a:p>
            <a:endParaRPr lang="en-US"/>
          </a:p>
        </p:txBody>
      </p:sp>
      <p:sp>
        <p:nvSpPr>
          <p:cNvPr id="7" name="Text 5"/>
          <p:cNvSpPr txBox="1"/>
          <p:nvPr/>
        </p:nvSpPr>
        <p:spPr>
          <a:xfrm>
            <a:off x="749808" y="1892808"/>
            <a:ext cx="3026664" cy="1965960"/>
          </a:xfrm>
          <a:prstGeom prst="rect">
            <a:avLst/>
          </a:prstGeom>
          <a:noFill/>
          <a:ln/>
        </p:spPr>
        <p:txBody>
          <a:bodyPr wrap="square" lIns="0" tIns="0" rIns="0" bIns="0" rtlCol="0" anchor="ctr"/>
          <a:lstStyle/>
          <a:p>
            <a:pPr marL="0" indent="0">
              <a:lnSpc>
                <a:spcPct val="125000"/>
              </a:lnSpc>
              <a:buNone/>
            </a:pPr>
            <a:r>
              <a:rPr lang="en-US" sz="1150" dirty="0">
                <a:solidFill>
                  <a:srgbClr val="1E2761"/>
                </a:solidFill>
                <a:latin typeface="Courier New" pitchFamily="34" charset="0"/>
                <a:ea typeface="Courier New" pitchFamily="34" charset="-122"/>
                <a:cs typeface="Courier New" pitchFamily="34" charset="-120"/>
              </a:rPr>
              <a:t>LoginView</a:t>
            </a:r>
            <a:endParaRPr lang="en-US" sz="1150" dirty="0"/>
          </a:p>
          <a:p>
            <a:pPr marL="0" indent="0">
              <a:lnSpc>
                <a:spcPct val="125000"/>
              </a:lnSpc>
              <a:buNone/>
            </a:pPr>
            <a:r>
              <a:rPr lang="en-US" sz="1150" dirty="0">
                <a:solidFill>
                  <a:srgbClr val="1E2761"/>
                </a:solidFill>
                <a:latin typeface="Courier New" pitchFamily="34" charset="0"/>
                <a:ea typeface="Courier New" pitchFamily="34" charset="-122"/>
                <a:cs typeface="Courier New" pitchFamily="34" charset="-120"/>
              </a:rPr>
              <a:t>  (Web)</a:t>
            </a:r>
            <a:endParaRPr lang="en-US" sz="1150" dirty="0"/>
          </a:p>
          <a:p>
            <a:pPr marL="0" indent="0">
              <a:lnSpc>
                <a:spcPct val="125000"/>
              </a:lnSpc>
              <a:buNone/>
            </a:pPr>
            <a:r>
              <a:rPr lang="en-US" sz="1150" dirty="0">
                <a:solidFill>
                  <a:srgbClr val="1E2761"/>
                </a:solidFill>
                <a:latin typeface="Courier New" pitchFamily="34" charset="0"/>
                <a:ea typeface="Courier New" pitchFamily="34" charset="-122"/>
                <a:cs typeface="Courier New" pitchFamily="34" charset="-120"/>
              </a:rPr>
              <a:t>LoginView</a:t>
            </a:r>
            <a:endParaRPr lang="en-US" sz="1150" dirty="0"/>
          </a:p>
          <a:p>
            <a:pPr marL="0" indent="0">
              <a:lnSpc>
                <a:spcPct val="125000"/>
              </a:lnSpc>
              <a:buNone/>
            </a:pPr>
            <a:r>
              <a:rPr lang="en-US" sz="1150" dirty="0">
                <a:solidFill>
                  <a:srgbClr val="1E2761"/>
                </a:solidFill>
                <a:latin typeface="Courier New" pitchFamily="34" charset="0"/>
                <a:ea typeface="Courier New" pitchFamily="34" charset="-122"/>
                <a:cs typeface="Courier New" pitchFamily="34" charset="-120"/>
              </a:rPr>
              <a:t>  (Mobile)</a:t>
            </a:r>
            <a:endParaRPr lang="en-US" sz="1150" dirty="0"/>
          </a:p>
        </p:txBody>
      </p:sp>
      <p:sp>
        <p:nvSpPr>
          <p:cNvPr id="8" name="Shape 6"/>
          <p:cNvSpPr/>
          <p:nvPr/>
        </p:nvSpPr>
        <p:spPr>
          <a:xfrm>
            <a:off x="749808" y="3794760"/>
            <a:ext cx="978408" cy="292608"/>
          </a:xfrm>
          <a:prstGeom prst="roundRect">
            <a:avLst>
              <a:gd name="adj" fmla="val 25000"/>
            </a:avLst>
          </a:prstGeom>
          <a:solidFill>
            <a:srgbClr val="E8A33D"/>
          </a:solidFill>
          <a:ln/>
        </p:spPr>
        <p:txBody>
          <a:bodyPr/>
          <a:lstStyle/>
          <a:p>
            <a:endParaRPr lang="en-US"/>
          </a:p>
        </p:txBody>
      </p:sp>
      <p:sp>
        <p:nvSpPr>
          <p:cNvPr id="9" name="Text 7"/>
          <p:cNvSpPr txBox="1"/>
          <p:nvPr/>
        </p:nvSpPr>
        <p:spPr>
          <a:xfrm>
            <a:off x="749808" y="3794760"/>
            <a:ext cx="978408" cy="292608"/>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Strategy</a:t>
            </a:r>
            <a:endParaRPr lang="en-US" sz="1050" dirty="0"/>
          </a:p>
        </p:txBody>
      </p:sp>
      <p:sp>
        <p:nvSpPr>
          <p:cNvPr id="10" name="Text 8"/>
          <p:cNvSpPr txBox="1"/>
          <p:nvPr/>
        </p:nvSpPr>
        <p:spPr>
          <a:xfrm>
            <a:off x="3995928" y="2606040"/>
            <a:ext cx="356616" cy="274320"/>
          </a:xfrm>
          <a:prstGeom prst="rect">
            <a:avLst/>
          </a:prstGeom>
          <a:noFill/>
          <a:ln/>
        </p:spPr>
        <p:txBody>
          <a:bodyPr wrap="square" lIns="0" tIns="0" rIns="0" bIns="0" rtlCol="0" anchor="ctr"/>
          <a:lstStyle/>
          <a:p>
            <a:pPr marL="0" indent="0" algn="ctr">
              <a:buNone/>
            </a:pPr>
            <a:r>
              <a:rPr lang="en-US" sz="1400" b="1" dirty="0">
                <a:solidFill>
                  <a:srgbClr val="3B4A8C"/>
                </a:solidFill>
              </a:rPr>
              <a:t>→</a:t>
            </a:r>
            <a:endParaRPr lang="en-US" sz="1400" dirty="0"/>
          </a:p>
        </p:txBody>
      </p:sp>
      <p:sp>
        <p:nvSpPr>
          <p:cNvPr id="11" name="Shape 9"/>
          <p:cNvSpPr/>
          <p:nvPr/>
        </p:nvSpPr>
        <p:spPr>
          <a:xfrm>
            <a:off x="4288536" y="1234440"/>
            <a:ext cx="3429000" cy="3017520"/>
          </a:xfrm>
          <a:prstGeom prst="roundRect">
            <a:avLst>
              <a:gd name="adj" fmla="val 1818"/>
            </a:avLst>
          </a:prstGeom>
          <a:solidFill>
            <a:srgbClr val="3B4A8C"/>
          </a:solidFill>
          <a:ln/>
        </p:spPr>
        <p:txBody>
          <a:bodyPr/>
          <a:lstStyle/>
          <a:p>
            <a:endParaRPr lang="en-US"/>
          </a:p>
        </p:txBody>
      </p:sp>
      <p:sp>
        <p:nvSpPr>
          <p:cNvPr id="12" name="Text 10"/>
          <p:cNvSpPr txBox="1"/>
          <p:nvPr/>
        </p:nvSpPr>
        <p:spPr>
          <a:xfrm>
            <a:off x="4489704" y="1380744"/>
            <a:ext cx="3026664"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Business Logic</a:t>
            </a:r>
            <a:endParaRPr lang="en-US" sz="1300" dirty="0"/>
          </a:p>
        </p:txBody>
      </p:sp>
      <p:sp>
        <p:nvSpPr>
          <p:cNvPr id="13" name="Shape 11"/>
          <p:cNvSpPr/>
          <p:nvPr/>
        </p:nvSpPr>
        <p:spPr>
          <a:xfrm>
            <a:off x="4489704" y="1764792"/>
            <a:ext cx="3026664" cy="0"/>
          </a:xfrm>
          <a:prstGeom prst="line">
            <a:avLst/>
          </a:prstGeom>
          <a:noFill/>
          <a:ln w="12700">
            <a:solidFill>
              <a:srgbClr val="6E7FB5"/>
            </a:solidFill>
            <a:prstDash val="solid"/>
          </a:ln>
        </p:spPr>
        <p:txBody>
          <a:bodyPr/>
          <a:lstStyle/>
          <a:p>
            <a:endParaRPr lang="en-US"/>
          </a:p>
        </p:txBody>
      </p:sp>
      <p:sp>
        <p:nvSpPr>
          <p:cNvPr id="14" name="Text 12"/>
          <p:cNvSpPr txBox="1"/>
          <p:nvPr/>
        </p:nvSpPr>
        <p:spPr>
          <a:xfrm>
            <a:off x="4489704" y="1892808"/>
            <a:ext cx="3026664" cy="1965960"/>
          </a:xfrm>
          <a:prstGeom prst="rect">
            <a:avLst/>
          </a:prstGeom>
          <a:noFill/>
          <a:ln/>
        </p:spPr>
        <p:txBody>
          <a:bodyPr wrap="square" lIns="0" tIns="0" rIns="0" bIns="0" rtlCol="0" anchor="ctr"/>
          <a:lstStyle/>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AuthenticationService</a:t>
            </a:r>
            <a:endParaRPr lang="en-US" sz="1150" dirty="0"/>
          </a:p>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  -&gt; IAuthStrategy</a:t>
            </a:r>
            <a:endParaRPr lang="en-US" sz="1150" dirty="0"/>
          </a:p>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  -&gt; ITokenService</a:t>
            </a:r>
            <a:endParaRPr lang="en-US" sz="1150" dirty="0"/>
          </a:p>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UserService</a:t>
            </a:r>
            <a:endParaRPr lang="en-US" sz="1150" dirty="0"/>
          </a:p>
        </p:txBody>
      </p:sp>
      <p:sp>
        <p:nvSpPr>
          <p:cNvPr id="15" name="Shape 13"/>
          <p:cNvSpPr/>
          <p:nvPr/>
        </p:nvSpPr>
        <p:spPr>
          <a:xfrm>
            <a:off x="4489704" y="3794760"/>
            <a:ext cx="1965960" cy="292608"/>
          </a:xfrm>
          <a:prstGeom prst="roundRect">
            <a:avLst>
              <a:gd name="adj" fmla="val 25000"/>
            </a:avLst>
          </a:prstGeom>
          <a:solidFill>
            <a:srgbClr val="E8A33D"/>
          </a:solidFill>
          <a:ln/>
        </p:spPr>
        <p:txBody>
          <a:bodyPr/>
          <a:lstStyle/>
          <a:p>
            <a:endParaRPr lang="en-US"/>
          </a:p>
        </p:txBody>
      </p:sp>
      <p:sp>
        <p:nvSpPr>
          <p:cNvPr id="16" name="Text 14"/>
          <p:cNvSpPr txBox="1"/>
          <p:nvPr/>
        </p:nvSpPr>
        <p:spPr>
          <a:xfrm>
            <a:off x="4489704" y="3794760"/>
            <a:ext cx="1965960" cy="292608"/>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Dependency Injection</a:t>
            </a:r>
            <a:endParaRPr lang="en-US" sz="1050" dirty="0"/>
          </a:p>
        </p:txBody>
      </p:sp>
      <p:sp>
        <p:nvSpPr>
          <p:cNvPr id="17" name="Text 15"/>
          <p:cNvSpPr txBox="1"/>
          <p:nvPr/>
        </p:nvSpPr>
        <p:spPr>
          <a:xfrm>
            <a:off x="7735824" y="2606040"/>
            <a:ext cx="356616" cy="274320"/>
          </a:xfrm>
          <a:prstGeom prst="rect">
            <a:avLst/>
          </a:prstGeom>
          <a:noFill/>
          <a:ln/>
        </p:spPr>
        <p:txBody>
          <a:bodyPr wrap="square" lIns="0" tIns="0" rIns="0" bIns="0" rtlCol="0" anchor="ctr"/>
          <a:lstStyle/>
          <a:p>
            <a:pPr marL="0" indent="0" algn="ctr">
              <a:buNone/>
            </a:pPr>
            <a:r>
              <a:rPr lang="en-US" sz="1400" b="1" dirty="0">
                <a:solidFill>
                  <a:srgbClr val="3B4A8C"/>
                </a:solidFill>
              </a:rPr>
              <a:t>→</a:t>
            </a:r>
            <a:endParaRPr lang="en-US" sz="1400" dirty="0"/>
          </a:p>
        </p:txBody>
      </p:sp>
      <p:sp>
        <p:nvSpPr>
          <p:cNvPr id="18" name="Shape 16"/>
          <p:cNvSpPr/>
          <p:nvPr/>
        </p:nvSpPr>
        <p:spPr>
          <a:xfrm>
            <a:off x="8028432" y="1234440"/>
            <a:ext cx="3429000" cy="3017520"/>
          </a:xfrm>
          <a:prstGeom prst="roundRect">
            <a:avLst>
              <a:gd name="adj" fmla="val 1818"/>
            </a:avLst>
          </a:prstGeom>
          <a:solidFill>
            <a:srgbClr val="1E2761"/>
          </a:solidFill>
          <a:ln/>
        </p:spPr>
        <p:txBody>
          <a:bodyPr/>
          <a:lstStyle/>
          <a:p>
            <a:endParaRPr lang="en-US"/>
          </a:p>
        </p:txBody>
      </p:sp>
      <p:sp>
        <p:nvSpPr>
          <p:cNvPr id="19" name="Text 17"/>
          <p:cNvSpPr txBox="1"/>
          <p:nvPr/>
        </p:nvSpPr>
        <p:spPr>
          <a:xfrm>
            <a:off x="8229600" y="1380744"/>
            <a:ext cx="3026664"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Access</a:t>
            </a:r>
            <a:endParaRPr lang="en-US" sz="1300" dirty="0"/>
          </a:p>
        </p:txBody>
      </p:sp>
      <p:sp>
        <p:nvSpPr>
          <p:cNvPr id="20" name="Shape 18"/>
          <p:cNvSpPr/>
          <p:nvPr/>
        </p:nvSpPr>
        <p:spPr>
          <a:xfrm>
            <a:off x="8229600" y="1764792"/>
            <a:ext cx="3026664" cy="0"/>
          </a:xfrm>
          <a:prstGeom prst="line">
            <a:avLst/>
          </a:prstGeom>
          <a:noFill/>
          <a:ln w="12700">
            <a:solidFill>
              <a:srgbClr val="6E7FB5"/>
            </a:solidFill>
            <a:prstDash val="solid"/>
          </a:ln>
        </p:spPr>
        <p:txBody>
          <a:bodyPr/>
          <a:lstStyle/>
          <a:p>
            <a:endParaRPr lang="en-US"/>
          </a:p>
        </p:txBody>
      </p:sp>
      <p:sp>
        <p:nvSpPr>
          <p:cNvPr id="21" name="Text 19"/>
          <p:cNvSpPr txBox="1"/>
          <p:nvPr/>
        </p:nvSpPr>
        <p:spPr>
          <a:xfrm>
            <a:off x="8229600" y="1892808"/>
            <a:ext cx="3026664" cy="1965960"/>
          </a:xfrm>
          <a:prstGeom prst="rect">
            <a:avLst/>
          </a:prstGeom>
          <a:noFill/>
          <a:ln/>
        </p:spPr>
        <p:txBody>
          <a:bodyPr wrap="square" lIns="0" tIns="0" rIns="0" bIns="0" rtlCol="0" anchor="ctr"/>
          <a:lstStyle/>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UserRepository</a:t>
            </a:r>
            <a:endParaRPr lang="en-US" sz="1150" dirty="0"/>
          </a:p>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  extends CrudRepository</a:t>
            </a:r>
            <a:endParaRPr lang="en-US" sz="1150" dirty="0"/>
          </a:p>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  &lt;User, Long&gt;</a:t>
            </a:r>
            <a:endParaRPr lang="en-US" sz="1150" dirty="0"/>
          </a:p>
        </p:txBody>
      </p:sp>
      <p:sp>
        <p:nvSpPr>
          <p:cNvPr id="22" name="Shape 20"/>
          <p:cNvSpPr/>
          <p:nvPr/>
        </p:nvSpPr>
        <p:spPr>
          <a:xfrm>
            <a:off x="8229600" y="3794760"/>
            <a:ext cx="1143000" cy="292608"/>
          </a:xfrm>
          <a:prstGeom prst="roundRect">
            <a:avLst>
              <a:gd name="adj" fmla="val 25000"/>
            </a:avLst>
          </a:prstGeom>
          <a:solidFill>
            <a:srgbClr val="E8A33D"/>
          </a:solidFill>
          <a:ln/>
        </p:spPr>
        <p:txBody>
          <a:bodyPr/>
          <a:lstStyle/>
          <a:p>
            <a:endParaRPr lang="en-US"/>
          </a:p>
        </p:txBody>
      </p:sp>
      <p:sp>
        <p:nvSpPr>
          <p:cNvPr id="23" name="Text 21"/>
          <p:cNvSpPr txBox="1"/>
          <p:nvPr/>
        </p:nvSpPr>
        <p:spPr>
          <a:xfrm>
            <a:off x="8229600" y="3794760"/>
            <a:ext cx="1143000" cy="292608"/>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Repository</a:t>
            </a:r>
            <a:endParaRPr lang="en-US" sz="1050" dirty="0"/>
          </a:p>
        </p:txBody>
      </p:sp>
      <p:sp>
        <p:nvSpPr>
          <p:cNvPr id="24" name="Shape 22"/>
          <p:cNvSpPr/>
          <p:nvPr/>
        </p:nvSpPr>
        <p:spPr>
          <a:xfrm>
            <a:off x="548640" y="4526280"/>
            <a:ext cx="11094415" cy="1554480"/>
          </a:xfrm>
          <a:prstGeom prst="rect">
            <a:avLst/>
          </a:prstGeom>
          <a:solidFill>
            <a:srgbClr val="E9EFFC"/>
          </a:solidFill>
          <a:ln/>
        </p:spPr>
        <p:txBody>
          <a:bodyPr/>
          <a:lstStyle/>
          <a:p>
            <a:endParaRPr lang="en-US"/>
          </a:p>
        </p:txBody>
      </p:sp>
      <p:sp>
        <p:nvSpPr>
          <p:cNvPr id="25" name="Text 23"/>
          <p:cNvSpPr txBox="1"/>
          <p:nvPr/>
        </p:nvSpPr>
        <p:spPr>
          <a:xfrm>
            <a:off x="777240" y="4663440"/>
            <a:ext cx="10637215" cy="1280160"/>
          </a:xfrm>
          <a:prstGeom prst="rect">
            <a:avLst/>
          </a:prstGeom>
          <a:noFill/>
          <a:ln/>
        </p:spPr>
        <p:txBody>
          <a:bodyPr wrap="square" lIns="0" tIns="0" rIns="0" bIns="0" rtlCol="0" anchor="ctr"/>
          <a:lstStyle/>
          <a:p>
            <a:pPr marL="0" indent="0">
              <a:buNone/>
            </a:pPr>
            <a:r>
              <a:rPr lang="en-US" sz="1250" dirty="0">
                <a:solidFill>
                  <a:srgbClr val="1E2761"/>
                </a:solidFill>
                <a:latin typeface="Calibri" pitchFamily="34" charset="0"/>
                <a:ea typeface="Calibri" pitchFamily="34" charset="-122"/>
                <a:cs typeface="Calibri" pitchFamily="34" charset="-120"/>
              </a:rPr>
              <a:t>AuthenticationService depends on an IAuthStrategy interface rather than a concrete hashing or token implementation, so the authentication mechanism can move from password hashing to one-time passwords later without changing the controller or repository code. UserRepository extends a generic CRUD repository, keeping persistence detail out of the business logic layer while satisfying the security requirement to protect user credentials.</a:t>
            </a:r>
            <a:endParaRPr lang="en-US" sz="1250" dirty="0"/>
          </a:p>
        </p:txBody>
      </p:sp>
      <p:sp>
        <p:nvSpPr>
          <p:cNvPr id="26" name="Text 24"/>
          <p:cNvSpPr txBox="1"/>
          <p:nvPr/>
        </p:nvSpPr>
        <p:spPr>
          <a:xfrm>
            <a:off x="548640" y="6565392"/>
            <a:ext cx="7772400" cy="256032"/>
          </a:xfrm>
          <a:prstGeom prst="rect">
            <a:avLst/>
          </a:prstGeom>
          <a:noFill/>
          <a:ln/>
        </p:spPr>
        <p:txBody>
          <a:bodyPr wrap="square" lIns="0" tIns="0" rIns="0" bIns="0" rtlCol="0" anchor="ctr"/>
          <a:lstStyle/>
          <a:p>
            <a:pPr marL="0" indent="0">
              <a:buNone/>
            </a:pPr>
            <a:r>
              <a:rPr lang="en-US" sz="900" dirty="0">
                <a:solidFill>
                  <a:srgbClr val="5A6B8C"/>
                </a:solidFill>
                <a:latin typeface="Calibri" pitchFamily="34" charset="0"/>
                <a:ea typeface="Calibri" pitchFamily="34" charset="-122"/>
                <a:cs typeface="Calibri" pitchFamily="34" charset="-120"/>
              </a:rPr>
              <a:t>AOODP25_PCOM7E, Unit 9 Case Study, ShopEase Architecture</a:t>
            </a:r>
            <a:endParaRPr lang="en-US" sz="900" dirty="0"/>
          </a:p>
        </p:txBody>
      </p:sp>
      <p:sp>
        <p:nvSpPr>
          <p:cNvPr id="27" name="Text 25"/>
          <p:cNvSpPr txBox="1"/>
          <p:nvPr/>
        </p:nvSpPr>
        <p:spPr>
          <a:xfrm>
            <a:off x="11185855" y="6565392"/>
            <a:ext cx="457200" cy="256032"/>
          </a:xfrm>
          <a:prstGeom prst="rect">
            <a:avLst/>
          </a:prstGeom>
          <a:noFill/>
          <a:ln/>
        </p:spPr>
        <p:txBody>
          <a:bodyPr wrap="square" lIns="0" tIns="0" rIns="0" bIns="0" rtlCol="0" anchor="ctr"/>
          <a:lstStyle/>
          <a:p>
            <a:pPr marL="0" indent="0" algn="r">
              <a:buNone/>
            </a:pPr>
            <a:r>
              <a:rPr lang="en-US" sz="900" dirty="0">
                <a:solidFill>
                  <a:srgbClr val="5A6B8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MODULAR DESIGN WITH OOP</a:t>
            </a:r>
            <a:endParaRPr lang="en-US" sz="1200" dirty="0"/>
          </a:p>
        </p:txBody>
      </p:sp>
      <p:sp>
        <p:nvSpPr>
          <p:cNvPr id="3" name="Text 1"/>
          <p:cNvSpPr txBox="1"/>
          <p:nvPr/>
        </p:nvSpPr>
        <p:spPr>
          <a:xfrm>
            <a:off x="548640" y="566928"/>
            <a:ext cx="11094415"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Product Catalogue Module</a:t>
            </a:r>
            <a:endParaRPr lang="en-US" sz="2800" dirty="0"/>
          </a:p>
        </p:txBody>
      </p:sp>
      <p:sp>
        <p:nvSpPr>
          <p:cNvPr id="4" name="Shape 2"/>
          <p:cNvSpPr/>
          <p:nvPr/>
        </p:nvSpPr>
        <p:spPr>
          <a:xfrm>
            <a:off x="548640" y="1234440"/>
            <a:ext cx="3429000" cy="3017520"/>
          </a:xfrm>
          <a:prstGeom prst="roundRect">
            <a:avLst>
              <a:gd name="adj" fmla="val 1818"/>
            </a:avLst>
          </a:prstGeom>
          <a:solidFill>
            <a:srgbClr val="E9EFFC"/>
          </a:solidFill>
          <a:ln/>
        </p:spPr>
        <p:txBody>
          <a:bodyPr/>
          <a:lstStyle/>
          <a:p>
            <a:endParaRPr lang="en-US"/>
          </a:p>
        </p:txBody>
      </p:sp>
      <p:sp>
        <p:nvSpPr>
          <p:cNvPr id="5" name="Text 3"/>
          <p:cNvSpPr txBox="1"/>
          <p:nvPr/>
        </p:nvSpPr>
        <p:spPr>
          <a:xfrm>
            <a:off x="749808" y="1380744"/>
            <a:ext cx="3026664"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Presentation</a:t>
            </a:r>
            <a:endParaRPr lang="en-US" sz="1300" dirty="0"/>
          </a:p>
        </p:txBody>
      </p:sp>
      <p:sp>
        <p:nvSpPr>
          <p:cNvPr id="6" name="Shape 4"/>
          <p:cNvSpPr/>
          <p:nvPr/>
        </p:nvSpPr>
        <p:spPr>
          <a:xfrm>
            <a:off x="749808" y="1764792"/>
            <a:ext cx="3026664" cy="0"/>
          </a:xfrm>
          <a:prstGeom prst="line">
            <a:avLst/>
          </a:prstGeom>
          <a:noFill/>
          <a:ln w="12700">
            <a:solidFill>
              <a:srgbClr val="B9C6E8"/>
            </a:solidFill>
            <a:prstDash val="solid"/>
          </a:ln>
        </p:spPr>
        <p:txBody>
          <a:bodyPr/>
          <a:lstStyle/>
          <a:p>
            <a:endParaRPr lang="en-US"/>
          </a:p>
        </p:txBody>
      </p:sp>
      <p:sp>
        <p:nvSpPr>
          <p:cNvPr id="7" name="Text 5"/>
          <p:cNvSpPr txBox="1"/>
          <p:nvPr/>
        </p:nvSpPr>
        <p:spPr>
          <a:xfrm>
            <a:off x="749808" y="1892808"/>
            <a:ext cx="3026664" cy="1965960"/>
          </a:xfrm>
          <a:prstGeom prst="rect">
            <a:avLst/>
          </a:prstGeom>
          <a:noFill/>
          <a:ln/>
        </p:spPr>
        <p:txBody>
          <a:bodyPr wrap="square" lIns="0" tIns="0" rIns="0" bIns="0" rtlCol="0" anchor="ctr"/>
          <a:lstStyle/>
          <a:p>
            <a:pPr marL="0" indent="0">
              <a:lnSpc>
                <a:spcPct val="125000"/>
              </a:lnSpc>
              <a:buNone/>
            </a:pPr>
            <a:r>
              <a:rPr lang="en-US" sz="1150" dirty="0">
                <a:solidFill>
                  <a:srgbClr val="1E2761"/>
                </a:solidFill>
                <a:latin typeface="Courier New" pitchFamily="34" charset="0"/>
                <a:ea typeface="Courier New" pitchFamily="34" charset="-122"/>
                <a:cs typeface="Courier New" pitchFamily="34" charset="-120"/>
              </a:rPr>
              <a:t>ProductListView</a:t>
            </a:r>
            <a:endParaRPr lang="en-US" sz="1150" dirty="0"/>
          </a:p>
          <a:p>
            <a:pPr marL="0" indent="0">
              <a:lnSpc>
                <a:spcPct val="125000"/>
              </a:lnSpc>
              <a:buNone/>
            </a:pPr>
            <a:r>
              <a:rPr lang="en-US" sz="1150" dirty="0">
                <a:solidFill>
                  <a:srgbClr val="1E2761"/>
                </a:solidFill>
                <a:latin typeface="Courier New" pitchFamily="34" charset="0"/>
                <a:ea typeface="Courier New" pitchFamily="34" charset="-122"/>
                <a:cs typeface="Courier New" pitchFamily="34" charset="-120"/>
              </a:rPr>
              <a:t>  (Web)</a:t>
            </a:r>
            <a:endParaRPr lang="en-US" sz="1150" dirty="0"/>
          </a:p>
          <a:p>
            <a:pPr marL="0" indent="0">
              <a:lnSpc>
                <a:spcPct val="125000"/>
              </a:lnSpc>
              <a:buNone/>
            </a:pPr>
            <a:r>
              <a:rPr lang="en-US" sz="1150" dirty="0">
                <a:solidFill>
                  <a:srgbClr val="1E2761"/>
                </a:solidFill>
                <a:latin typeface="Courier New" pitchFamily="34" charset="0"/>
                <a:ea typeface="Courier New" pitchFamily="34" charset="-122"/>
                <a:cs typeface="Courier New" pitchFamily="34" charset="-120"/>
              </a:rPr>
              <a:t>ProductListView</a:t>
            </a:r>
            <a:endParaRPr lang="en-US" sz="1150" dirty="0"/>
          </a:p>
          <a:p>
            <a:pPr marL="0" indent="0">
              <a:lnSpc>
                <a:spcPct val="125000"/>
              </a:lnSpc>
              <a:buNone/>
            </a:pPr>
            <a:r>
              <a:rPr lang="en-US" sz="1150" dirty="0">
                <a:solidFill>
                  <a:srgbClr val="1E2761"/>
                </a:solidFill>
                <a:latin typeface="Courier New" pitchFamily="34" charset="0"/>
                <a:ea typeface="Courier New" pitchFamily="34" charset="-122"/>
                <a:cs typeface="Courier New" pitchFamily="34" charset="-120"/>
              </a:rPr>
              <a:t>  (Mobile)</a:t>
            </a:r>
            <a:endParaRPr lang="en-US" sz="1150" dirty="0"/>
          </a:p>
        </p:txBody>
      </p:sp>
      <p:sp>
        <p:nvSpPr>
          <p:cNvPr id="8" name="Shape 6"/>
          <p:cNvSpPr/>
          <p:nvPr/>
        </p:nvSpPr>
        <p:spPr>
          <a:xfrm>
            <a:off x="749808" y="3794760"/>
            <a:ext cx="978408" cy="292608"/>
          </a:xfrm>
          <a:prstGeom prst="roundRect">
            <a:avLst>
              <a:gd name="adj" fmla="val 25000"/>
            </a:avLst>
          </a:prstGeom>
          <a:solidFill>
            <a:srgbClr val="E8A33D"/>
          </a:solidFill>
          <a:ln/>
        </p:spPr>
        <p:txBody>
          <a:bodyPr/>
          <a:lstStyle/>
          <a:p>
            <a:endParaRPr lang="en-US"/>
          </a:p>
        </p:txBody>
      </p:sp>
      <p:sp>
        <p:nvSpPr>
          <p:cNvPr id="9" name="Text 7"/>
          <p:cNvSpPr txBox="1"/>
          <p:nvPr/>
        </p:nvSpPr>
        <p:spPr>
          <a:xfrm>
            <a:off x="749808" y="3794760"/>
            <a:ext cx="978408" cy="292608"/>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Strategy</a:t>
            </a:r>
            <a:endParaRPr lang="en-US" sz="1050" dirty="0"/>
          </a:p>
        </p:txBody>
      </p:sp>
      <p:sp>
        <p:nvSpPr>
          <p:cNvPr id="10" name="Text 8"/>
          <p:cNvSpPr txBox="1"/>
          <p:nvPr/>
        </p:nvSpPr>
        <p:spPr>
          <a:xfrm>
            <a:off x="3995928" y="2606040"/>
            <a:ext cx="356616" cy="274320"/>
          </a:xfrm>
          <a:prstGeom prst="rect">
            <a:avLst/>
          </a:prstGeom>
          <a:noFill/>
          <a:ln/>
        </p:spPr>
        <p:txBody>
          <a:bodyPr wrap="square" lIns="0" tIns="0" rIns="0" bIns="0" rtlCol="0" anchor="ctr"/>
          <a:lstStyle/>
          <a:p>
            <a:pPr marL="0" indent="0" algn="ctr">
              <a:buNone/>
            </a:pPr>
            <a:r>
              <a:rPr lang="en-US" sz="1400" b="1" dirty="0">
                <a:solidFill>
                  <a:srgbClr val="3B4A8C"/>
                </a:solidFill>
              </a:rPr>
              <a:t>→</a:t>
            </a:r>
            <a:endParaRPr lang="en-US" sz="1400" dirty="0"/>
          </a:p>
        </p:txBody>
      </p:sp>
      <p:sp>
        <p:nvSpPr>
          <p:cNvPr id="11" name="Shape 9"/>
          <p:cNvSpPr/>
          <p:nvPr/>
        </p:nvSpPr>
        <p:spPr>
          <a:xfrm>
            <a:off x="4288536" y="1234440"/>
            <a:ext cx="3429000" cy="3017520"/>
          </a:xfrm>
          <a:prstGeom prst="roundRect">
            <a:avLst>
              <a:gd name="adj" fmla="val 1818"/>
            </a:avLst>
          </a:prstGeom>
          <a:solidFill>
            <a:srgbClr val="3B4A8C"/>
          </a:solidFill>
          <a:ln/>
        </p:spPr>
        <p:txBody>
          <a:bodyPr/>
          <a:lstStyle/>
          <a:p>
            <a:endParaRPr lang="en-US"/>
          </a:p>
        </p:txBody>
      </p:sp>
      <p:sp>
        <p:nvSpPr>
          <p:cNvPr id="12" name="Text 10"/>
          <p:cNvSpPr txBox="1"/>
          <p:nvPr/>
        </p:nvSpPr>
        <p:spPr>
          <a:xfrm>
            <a:off x="4489704" y="1380744"/>
            <a:ext cx="3026664"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Business Logic</a:t>
            </a:r>
            <a:endParaRPr lang="en-US" sz="1300" dirty="0"/>
          </a:p>
        </p:txBody>
      </p:sp>
      <p:sp>
        <p:nvSpPr>
          <p:cNvPr id="13" name="Shape 11"/>
          <p:cNvSpPr/>
          <p:nvPr/>
        </p:nvSpPr>
        <p:spPr>
          <a:xfrm>
            <a:off x="4489704" y="1764792"/>
            <a:ext cx="3026664" cy="0"/>
          </a:xfrm>
          <a:prstGeom prst="line">
            <a:avLst/>
          </a:prstGeom>
          <a:noFill/>
          <a:ln w="12700">
            <a:solidFill>
              <a:srgbClr val="6E7FB5"/>
            </a:solidFill>
            <a:prstDash val="solid"/>
          </a:ln>
        </p:spPr>
        <p:txBody>
          <a:bodyPr/>
          <a:lstStyle/>
          <a:p>
            <a:endParaRPr lang="en-US"/>
          </a:p>
        </p:txBody>
      </p:sp>
      <p:sp>
        <p:nvSpPr>
          <p:cNvPr id="14" name="Text 12"/>
          <p:cNvSpPr txBox="1"/>
          <p:nvPr/>
        </p:nvSpPr>
        <p:spPr>
          <a:xfrm>
            <a:off x="4489704" y="1892808"/>
            <a:ext cx="3026664" cy="1965960"/>
          </a:xfrm>
          <a:prstGeom prst="rect">
            <a:avLst/>
          </a:prstGeom>
          <a:noFill/>
          <a:ln/>
        </p:spPr>
        <p:txBody>
          <a:bodyPr wrap="square" lIns="0" tIns="0" rIns="0" bIns="0" rtlCol="0" anchor="ctr"/>
          <a:lstStyle/>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ProductService</a:t>
            </a:r>
            <a:endParaRPr lang="en-US" sz="1150" dirty="0"/>
          </a:p>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  search(), filter()</a:t>
            </a:r>
            <a:endParaRPr lang="en-US" sz="1150" dirty="0"/>
          </a:p>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PromotionService</a:t>
            </a:r>
            <a:endParaRPr lang="en-US" sz="1150" dirty="0"/>
          </a:p>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  -&gt; IPromotionStrategy</a:t>
            </a:r>
            <a:endParaRPr lang="en-US" sz="1150" dirty="0"/>
          </a:p>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StockService</a:t>
            </a:r>
            <a:endParaRPr lang="en-US" sz="1150" dirty="0"/>
          </a:p>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  raises StockChangedEvent</a:t>
            </a:r>
            <a:endParaRPr lang="en-US" sz="1150" dirty="0"/>
          </a:p>
        </p:txBody>
      </p:sp>
      <p:sp>
        <p:nvSpPr>
          <p:cNvPr id="15" name="Shape 13"/>
          <p:cNvSpPr/>
          <p:nvPr/>
        </p:nvSpPr>
        <p:spPr>
          <a:xfrm>
            <a:off x="4489704" y="3794760"/>
            <a:ext cx="978408" cy="292608"/>
          </a:xfrm>
          <a:prstGeom prst="roundRect">
            <a:avLst>
              <a:gd name="adj" fmla="val 25000"/>
            </a:avLst>
          </a:prstGeom>
          <a:solidFill>
            <a:srgbClr val="E8A33D"/>
          </a:solidFill>
          <a:ln/>
        </p:spPr>
        <p:txBody>
          <a:bodyPr/>
          <a:lstStyle/>
          <a:p>
            <a:endParaRPr lang="en-US"/>
          </a:p>
        </p:txBody>
      </p:sp>
      <p:sp>
        <p:nvSpPr>
          <p:cNvPr id="16" name="Text 14"/>
          <p:cNvSpPr txBox="1"/>
          <p:nvPr/>
        </p:nvSpPr>
        <p:spPr>
          <a:xfrm>
            <a:off x="4489704" y="3794760"/>
            <a:ext cx="978408" cy="292608"/>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Strategy</a:t>
            </a:r>
            <a:endParaRPr lang="en-US" sz="1050" dirty="0"/>
          </a:p>
        </p:txBody>
      </p:sp>
      <p:sp>
        <p:nvSpPr>
          <p:cNvPr id="17" name="Shape 15"/>
          <p:cNvSpPr/>
          <p:nvPr/>
        </p:nvSpPr>
        <p:spPr>
          <a:xfrm>
            <a:off x="5605272" y="3794760"/>
            <a:ext cx="978408" cy="292608"/>
          </a:xfrm>
          <a:prstGeom prst="roundRect">
            <a:avLst>
              <a:gd name="adj" fmla="val 25000"/>
            </a:avLst>
          </a:prstGeom>
          <a:solidFill>
            <a:srgbClr val="E8A33D"/>
          </a:solidFill>
          <a:ln/>
        </p:spPr>
        <p:txBody>
          <a:bodyPr/>
          <a:lstStyle/>
          <a:p>
            <a:endParaRPr lang="en-US"/>
          </a:p>
        </p:txBody>
      </p:sp>
      <p:sp>
        <p:nvSpPr>
          <p:cNvPr id="18" name="Text 16"/>
          <p:cNvSpPr txBox="1"/>
          <p:nvPr/>
        </p:nvSpPr>
        <p:spPr>
          <a:xfrm>
            <a:off x="5605272" y="3794760"/>
            <a:ext cx="978408" cy="292608"/>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Observer</a:t>
            </a:r>
            <a:endParaRPr lang="en-US" sz="1050" dirty="0"/>
          </a:p>
        </p:txBody>
      </p:sp>
      <p:sp>
        <p:nvSpPr>
          <p:cNvPr id="19" name="Text 17"/>
          <p:cNvSpPr txBox="1"/>
          <p:nvPr/>
        </p:nvSpPr>
        <p:spPr>
          <a:xfrm>
            <a:off x="7735824" y="2606040"/>
            <a:ext cx="356616" cy="274320"/>
          </a:xfrm>
          <a:prstGeom prst="rect">
            <a:avLst/>
          </a:prstGeom>
          <a:noFill/>
          <a:ln/>
        </p:spPr>
        <p:txBody>
          <a:bodyPr wrap="square" lIns="0" tIns="0" rIns="0" bIns="0" rtlCol="0" anchor="ctr"/>
          <a:lstStyle/>
          <a:p>
            <a:pPr marL="0" indent="0" algn="ctr">
              <a:buNone/>
            </a:pPr>
            <a:r>
              <a:rPr lang="en-US" sz="1400" b="1" dirty="0">
                <a:solidFill>
                  <a:srgbClr val="3B4A8C"/>
                </a:solidFill>
              </a:rPr>
              <a:t>→</a:t>
            </a:r>
            <a:endParaRPr lang="en-US" sz="1400" dirty="0"/>
          </a:p>
        </p:txBody>
      </p:sp>
      <p:sp>
        <p:nvSpPr>
          <p:cNvPr id="20" name="Shape 18"/>
          <p:cNvSpPr/>
          <p:nvPr/>
        </p:nvSpPr>
        <p:spPr>
          <a:xfrm>
            <a:off x="8028432" y="1234440"/>
            <a:ext cx="3429000" cy="3017520"/>
          </a:xfrm>
          <a:prstGeom prst="roundRect">
            <a:avLst>
              <a:gd name="adj" fmla="val 1818"/>
            </a:avLst>
          </a:prstGeom>
          <a:solidFill>
            <a:srgbClr val="1E2761"/>
          </a:solidFill>
          <a:ln/>
        </p:spPr>
        <p:txBody>
          <a:bodyPr/>
          <a:lstStyle/>
          <a:p>
            <a:endParaRPr lang="en-US"/>
          </a:p>
        </p:txBody>
      </p:sp>
      <p:sp>
        <p:nvSpPr>
          <p:cNvPr id="21" name="Text 19"/>
          <p:cNvSpPr txBox="1"/>
          <p:nvPr/>
        </p:nvSpPr>
        <p:spPr>
          <a:xfrm>
            <a:off x="8229600" y="1380744"/>
            <a:ext cx="3026664"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Access</a:t>
            </a:r>
            <a:endParaRPr lang="en-US" sz="1300" dirty="0"/>
          </a:p>
        </p:txBody>
      </p:sp>
      <p:sp>
        <p:nvSpPr>
          <p:cNvPr id="22" name="Shape 20"/>
          <p:cNvSpPr/>
          <p:nvPr/>
        </p:nvSpPr>
        <p:spPr>
          <a:xfrm>
            <a:off x="8229600" y="1764792"/>
            <a:ext cx="3026664" cy="0"/>
          </a:xfrm>
          <a:prstGeom prst="line">
            <a:avLst/>
          </a:prstGeom>
          <a:noFill/>
          <a:ln w="12700">
            <a:solidFill>
              <a:srgbClr val="6E7FB5"/>
            </a:solidFill>
            <a:prstDash val="solid"/>
          </a:ln>
        </p:spPr>
        <p:txBody>
          <a:bodyPr/>
          <a:lstStyle/>
          <a:p>
            <a:endParaRPr lang="en-US"/>
          </a:p>
        </p:txBody>
      </p:sp>
      <p:sp>
        <p:nvSpPr>
          <p:cNvPr id="23" name="Text 21"/>
          <p:cNvSpPr txBox="1"/>
          <p:nvPr/>
        </p:nvSpPr>
        <p:spPr>
          <a:xfrm>
            <a:off x="8229600" y="1892808"/>
            <a:ext cx="3026664" cy="1965960"/>
          </a:xfrm>
          <a:prstGeom prst="rect">
            <a:avLst/>
          </a:prstGeom>
          <a:noFill/>
          <a:ln/>
        </p:spPr>
        <p:txBody>
          <a:bodyPr wrap="square" lIns="0" tIns="0" rIns="0" bIns="0" rtlCol="0" anchor="ctr"/>
          <a:lstStyle/>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ProductRepository</a:t>
            </a:r>
            <a:endParaRPr lang="en-US" sz="1150" dirty="0"/>
          </a:p>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  extends CrudRepository</a:t>
            </a:r>
            <a:endParaRPr lang="en-US" sz="1150" dirty="0"/>
          </a:p>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StockRepository</a:t>
            </a:r>
            <a:endParaRPr lang="en-US" sz="1150" dirty="0"/>
          </a:p>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CacheProductRepository</a:t>
            </a:r>
            <a:endParaRPr lang="en-US" sz="1150" dirty="0"/>
          </a:p>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  (decorator)</a:t>
            </a:r>
            <a:endParaRPr lang="en-US" sz="1150" dirty="0"/>
          </a:p>
        </p:txBody>
      </p:sp>
      <p:sp>
        <p:nvSpPr>
          <p:cNvPr id="24" name="Shape 22"/>
          <p:cNvSpPr/>
          <p:nvPr/>
        </p:nvSpPr>
        <p:spPr>
          <a:xfrm>
            <a:off x="8229600" y="3794760"/>
            <a:ext cx="1801368" cy="292608"/>
          </a:xfrm>
          <a:prstGeom prst="roundRect">
            <a:avLst>
              <a:gd name="adj" fmla="val 25000"/>
            </a:avLst>
          </a:prstGeom>
          <a:solidFill>
            <a:srgbClr val="E8A33D"/>
          </a:solidFill>
          <a:ln/>
        </p:spPr>
        <p:txBody>
          <a:bodyPr/>
          <a:lstStyle/>
          <a:p>
            <a:endParaRPr lang="en-US"/>
          </a:p>
        </p:txBody>
      </p:sp>
      <p:sp>
        <p:nvSpPr>
          <p:cNvPr id="25" name="Text 23"/>
          <p:cNvSpPr txBox="1"/>
          <p:nvPr/>
        </p:nvSpPr>
        <p:spPr>
          <a:xfrm>
            <a:off x="8229600" y="3794760"/>
            <a:ext cx="1801368" cy="292608"/>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Repository + Cache</a:t>
            </a:r>
            <a:endParaRPr lang="en-US" sz="1050" dirty="0"/>
          </a:p>
        </p:txBody>
      </p:sp>
      <p:sp>
        <p:nvSpPr>
          <p:cNvPr id="26" name="Shape 24"/>
          <p:cNvSpPr/>
          <p:nvPr/>
        </p:nvSpPr>
        <p:spPr>
          <a:xfrm>
            <a:off x="548640" y="4526280"/>
            <a:ext cx="11094415" cy="1554480"/>
          </a:xfrm>
          <a:prstGeom prst="rect">
            <a:avLst/>
          </a:prstGeom>
          <a:solidFill>
            <a:srgbClr val="E9EFFC"/>
          </a:solidFill>
          <a:ln/>
        </p:spPr>
        <p:txBody>
          <a:bodyPr/>
          <a:lstStyle/>
          <a:p>
            <a:endParaRPr lang="en-US"/>
          </a:p>
        </p:txBody>
      </p:sp>
      <p:sp>
        <p:nvSpPr>
          <p:cNvPr id="27" name="Text 25"/>
          <p:cNvSpPr txBox="1"/>
          <p:nvPr/>
        </p:nvSpPr>
        <p:spPr>
          <a:xfrm>
            <a:off x="777240" y="4663440"/>
            <a:ext cx="10637215" cy="1280160"/>
          </a:xfrm>
          <a:prstGeom prst="rect">
            <a:avLst/>
          </a:prstGeom>
          <a:noFill/>
          <a:ln/>
        </p:spPr>
        <p:txBody>
          <a:bodyPr wrap="square" lIns="0" tIns="0" rIns="0" bIns="0" rtlCol="0" anchor="ctr"/>
          <a:lstStyle/>
          <a:p>
            <a:pPr marL="0" indent="0">
              <a:buNone/>
            </a:pPr>
            <a:r>
              <a:rPr lang="en-US" sz="1250" dirty="0">
                <a:solidFill>
                  <a:srgbClr val="1E2761"/>
                </a:solidFill>
                <a:latin typeface="Calibri" pitchFamily="34" charset="0"/>
                <a:ea typeface="Calibri" pitchFamily="34" charset="-122"/>
                <a:cs typeface="Calibri" pitchFamily="34" charset="-120"/>
              </a:rPr>
              <a:t>PromotionService and StockService, not ProductService, carry this module's real variability. PromotionService selects a discount calculation through an IPromotionStrategy interface, since new promotion types are expected without changing ProductService, and StockService raises a stock-changed event so that low-stock alerts can be added later for procurement or analytics without StockService needing to know who is listening. ProductService itself remains a plain service, since browsing and filtering still involve no comparable variability.</a:t>
            </a:r>
            <a:endParaRPr lang="en-US" sz="1250" dirty="0"/>
          </a:p>
        </p:txBody>
      </p:sp>
      <p:sp>
        <p:nvSpPr>
          <p:cNvPr id="28" name="Text 26"/>
          <p:cNvSpPr txBox="1"/>
          <p:nvPr/>
        </p:nvSpPr>
        <p:spPr>
          <a:xfrm>
            <a:off x="548640" y="6565392"/>
            <a:ext cx="7772400" cy="256032"/>
          </a:xfrm>
          <a:prstGeom prst="rect">
            <a:avLst/>
          </a:prstGeom>
          <a:noFill/>
          <a:ln/>
        </p:spPr>
        <p:txBody>
          <a:bodyPr wrap="square" lIns="0" tIns="0" rIns="0" bIns="0" rtlCol="0" anchor="ctr"/>
          <a:lstStyle/>
          <a:p>
            <a:pPr marL="0" indent="0">
              <a:buNone/>
            </a:pPr>
            <a:r>
              <a:rPr lang="en-US" sz="900" dirty="0">
                <a:solidFill>
                  <a:srgbClr val="5A6B8C"/>
                </a:solidFill>
                <a:latin typeface="Calibri" pitchFamily="34" charset="0"/>
                <a:ea typeface="Calibri" pitchFamily="34" charset="-122"/>
                <a:cs typeface="Calibri" pitchFamily="34" charset="-120"/>
              </a:rPr>
              <a:t>AOODP25_PCOM7E, Unit 9 Case Study, ShopEase Architecture</a:t>
            </a:r>
            <a:endParaRPr lang="en-US" sz="900" dirty="0"/>
          </a:p>
        </p:txBody>
      </p:sp>
      <p:sp>
        <p:nvSpPr>
          <p:cNvPr id="29" name="Text 27"/>
          <p:cNvSpPr txBox="1"/>
          <p:nvPr/>
        </p:nvSpPr>
        <p:spPr>
          <a:xfrm>
            <a:off x="11185855" y="6565392"/>
            <a:ext cx="457200" cy="256032"/>
          </a:xfrm>
          <a:prstGeom prst="rect">
            <a:avLst/>
          </a:prstGeom>
          <a:noFill/>
          <a:ln/>
        </p:spPr>
        <p:txBody>
          <a:bodyPr wrap="square" lIns="0" tIns="0" rIns="0" bIns="0" rtlCol="0" anchor="ctr"/>
          <a:lstStyle/>
          <a:p>
            <a:pPr marL="0" indent="0" algn="r">
              <a:buNone/>
            </a:pPr>
            <a:r>
              <a:rPr lang="en-US" sz="900" dirty="0">
                <a:solidFill>
                  <a:srgbClr val="5A6B8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MODULAR DESIGN WITH OOP</a:t>
            </a:r>
            <a:endParaRPr lang="en-US" sz="1200" dirty="0"/>
          </a:p>
        </p:txBody>
      </p:sp>
      <p:sp>
        <p:nvSpPr>
          <p:cNvPr id="3" name="Text 1"/>
          <p:cNvSpPr txBox="1"/>
          <p:nvPr/>
        </p:nvSpPr>
        <p:spPr>
          <a:xfrm>
            <a:off x="548640" y="566928"/>
            <a:ext cx="11094415"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Order Processing Module</a:t>
            </a:r>
            <a:endParaRPr lang="en-US" sz="2800" dirty="0"/>
          </a:p>
        </p:txBody>
      </p:sp>
      <p:sp>
        <p:nvSpPr>
          <p:cNvPr id="4" name="Shape 2"/>
          <p:cNvSpPr/>
          <p:nvPr/>
        </p:nvSpPr>
        <p:spPr>
          <a:xfrm>
            <a:off x="548640" y="1234440"/>
            <a:ext cx="3429000" cy="3017520"/>
          </a:xfrm>
          <a:prstGeom prst="roundRect">
            <a:avLst>
              <a:gd name="adj" fmla="val 1818"/>
            </a:avLst>
          </a:prstGeom>
          <a:solidFill>
            <a:srgbClr val="E9EFFC"/>
          </a:solidFill>
          <a:ln/>
        </p:spPr>
        <p:txBody>
          <a:bodyPr/>
          <a:lstStyle/>
          <a:p>
            <a:endParaRPr lang="en-US"/>
          </a:p>
        </p:txBody>
      </p:sp>
      <p:sp>
        <p:nvSpPr>
          <p:cNvPr id="5" name="Text 3"/>
          <p:cNvSpPr txBox="1"/>
          <p:nvPr/>
        </p:nvSpPr>
        <p:spPr>
          <a:xfrm>
            <a:off x="749808" y="1380744"/>
            <a:ext cx="3026664"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Presentation</a:t>
            </a:r>
            <a:endParaRPr lang="en-US" sz="1300" dirty="0"/>
          </a:p>
        </p:txBody>
      </p:sp>
      <p:sp>
        <p:nvSpPr>
          <p:cNvPr id="6" name="Shape 4"/>
          <p:cNvSpPr/>
          <p:nvPr/>
        </p:nvSpPr>
        <p:spPr>
          <a:xfrm>
            <a:off x="749808" y="1764792"/>
            <a:ext cx="3026664" cy="0"/>
          </a:xfrm>
          <a:prstGeom prst="line">
            <a:avLst/>
          </a:prstGeom>
          <a:noFill/>
          <a:ln w="12700">
            <a:solidFill>
              <a:srgbClr val="B9C6E8"/>
            </a:solidFill>
            <a:prstDash val="solid"/>
          </a:ln>
        </p:spPr>
        <p:txBody>
          <a:bodyPr/>
          <a:lstStyle/>
          <a:p>
            <a:endParaRPr lang="en-US"/>
          </a:p>
        </p:txBody>
      </p:sp>
      <p:sp>
        <p:nvSpPr>
          <p:cNvPr id="7" name="Text 5"/>
          <p:cNvSpPr txBox="1"/>
          <p:nvPr/>
        </p:nvSpPr>
        <p:spPr>
          <a:xfrm>
            <a:off x="749808" y="1892808"/>
            <a:ext cx="3026664" cy="1965960"/>
          </a:xfrm>
          <a:prstGeom prst="rect">
            <a:avLst/>
          </a:prstGeom>
          <a:noFill/>
          <a:ln/>
        </p:spPr>
        <p:txBody>
          <a:bodyPr wrap="square" lIns="0" tIns="0" rIns="0" bIns="0" rtlCol="0" anchor="ctr"/>
          <a:lstStyle/>
          <a:p>
            <a:pPr marL="0" indent="0">
              <a:lnSpc>
                <a:spcPct val="125000"/>
              </a:lnSpc>
              <a:buNone/>
            </a:pPr>
            <a:r>
              <a:rPr lang="en-US" sz="1150" dirty="0">
                <a:solidFill>
                  <a:srgbClr val="1E2761"/>
                </a:solidFill>
                <a:latin typeface="Courier New" pitchFamily="34" charset="0"/>
                <a:ea typeface="Courier New" pitchFamily="34" charset="-122"/>
                <a:cs typeface="Courier New" pitchFamily="34" charset="-120"/>
              </a:rPr>
              <a:t>CheckoutView</a:t>
            </a:r>
            <a:endParaRPr lang="en-US" sz="1150" dirty="0"/>
          </a:p>
          <a:p>
            <a:pPr marL="0" indent="0">
              <a:lnSpc>
                <a:spcPct val="125000"/>
              </a:lnSpc>
              <a:buNone/>
            </a:pPr>
            <a:r>
              <a:rPr lang="en-US" sz="1150" dirty="0">
                <a:solidFill>
                  <a:srgbClr val="1E2761"/>
                </a:solidFill>
                <a:latin typeface="Courier New" pitchFamily="34" charset="0"/>
                <a:ea typeface="Courier New" pitchFamily="34" charset="-122"/>
                <a:cs typeface="Courier New" pitchFamily="34" charset="-120"/>
              </a:rPr>
              <a:t>  (Web / Mobile)</a:t>
            </a:r>
            <a:endParaRPr lang="en-US" sz="1150" dirty="0"/>
          </a:p>
        </p:txBody>
      </p:sp>
      <p:sp>
        <p:nvSpPr>
          <p:cNvPr id="8" name="Shape 6"/>
          <p:cNvSpPr/>
          <p:nvPr/>
        </p:nvSpPr>
        <p:spPr>
          <a:xfrm>
            <a:off x="749808" y="3794760"/>
            <a:ext cx="978408" cy="292608"/>
          </a:xfrm>
          <a:prstGeom prst="roundRect">
            <a:avLst>
              <a:gd name="adj" fmla="val 25000"/>
            </a:avLst>
          </a:prstGeom>
          <a:solidFill>
            <a:srgbClr val="E8A33D"/>
          </a:solidFill>
          <a:ln/>
        </p:spPr>
        <p:txBody>
          <a:bodyPr/>
          <a:lstStyle/>
          <a:p>
            <a:endParaRPr lang="en-US"/>
          </a:p>
        </p:txBody>
      </p:sp>
      <p:sp>
        <p:nvSpPr>
          <p:cNvPr id="9" name="Text 7"/>
          <p:cNvSpPr txBox="1"/>
          <p:nvPr/>
        </p:nvSpPr>
        <p:spPr>
          <a:xfrm>
            <a:off x="749808" y="3794760"/>
            <a:ext cx="978408" cy="292608"/>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Strategy</a:t>
            </a:r>
            <a:endParaRPr lang="en-US" sz="1050" dirty="0"/>
          </a:p>
        </p:txBody>
      </p:sp>
      <p:sp>
        <p:nvSpPr>
          <p:cNvPr id="10" name="Text 8"/>
          <p:cNvSpPr txBox="1"/>
          <p:nvPr/>
        </p:nvSpPr>
        <p:spPr>
          <a:xfrm>
            <a:off x="3995928" y="2606040"/>
            <a:ext cx="356616" cy="274320"/>
          </a:xfrm>
          <a:prstGeom prst="rect">
            <a:avLst/>
          </a:prstGeom>
          <a:noFill/>
          <a:ln/>
        </p:spPr>
        <p:txBody>
          <a:bodyPr wrap="square" lIns="0" tIns="0" rIns="0" bIns="0" rtlCol="0" anchor="ctr"/>
          <a:lstStyle/>
          <a:p>
            <a:pPr marL="0" indent="0" algn="ctr">
              <a:buNone/>
            </a:pPr>
            <a:r>
              <a:rPr lang="en-US" sz="1400" b="1" dirty="0">
                <a:solidFill>
                  <a:srgbClr val="3B4A8C"/>
                </a:solidFill>
              </a:rPr>
              <a:t>→</a:t>
            </a:r>
            <a:endParaRPr lang="en-US" sz="1400" dirty="0"/>
          </a:p>
        </p:txBody>
      </p:sp>
      <p:sp>
        <p:nvSpPr>
          <p:cNvPr id="11" name="Shape 9"/>
          <p:cNvSpPr/>
          <p:nvPr/>
        </p:nvSpPr>
        <p:spPr>
          <a:xfrm>
            <a:off x="4288536" y="1234440"/>
            <a:ext cx="3429000" cy="3017520"/>
          </a:xfrm>
          <a:prstGeom prst="roundRect">
            <a:avLst>
              <a:gd name="adj" fmla="val 1818"/>
            </a:avLst>
          </a:prstGeom>
          <a:solidFill>
            <a:srgbClr val="3B4A8C"/>
          </a:solidFill>
          <a:ln/>
        </p:spPr>
        <p:txBody>
          <a:bodyPr/>
          <a:lstStyle/>
          <a:p>
            <a:endParaRPr lang="en-US"/>
          </a:p>
        </p:txBody>
      </p:sp>
      <p:sp>
        <p:nvSpPr>
          <p:cNvPr id="12" name="Text 10"/>
          <p:cNvSpPr txBox="1"/>
          <p:nvPr/>
        </p:nvSpPr>
        <p:spPr>
          <a:xfrm>
            <a:off x="4489704" y="1380744"/>
            <a:ext cx="3026664"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Business Logic</a:t>
            </a:r>
            <a:endParaRPr lang="en-US" sz="1300" dirty="0"/>
          </a:p>
        </p:txBody>
      </p:sp>
      <p:sp>
        <p:nvSpPr>
          <p:cNvPr id="13" name="Shape 11"/>
          <p:cNvSpPr/>
          <p:nvPr/>
        </p:nvSpPr>
        <p:spPr>
          <a:xfrm>
            <a:off x="4489704" y="1764792"/>
            <a:ext cx="3026664" cy="0"/>
          </a:xfrm>
          <a:prstGeom prst="line">
            <a:avLst/>
          </a:prstGeom>
          <a:noFill/>
          <a:ln w="12700">
            <a:solidFill>
              <a:srgbClr val="6E7FB5"/>
            </a:solidFill>
            <a:prstDash val="solid"/>
          </a:ln>
        </p:spPr>
        <p:txBody>
          <a:bodyPr/>
          <a:lstStyle/>
          <a:p>
            <a:endParaRPr lang="en-US"/>
          </a:p>
        </p:txBody>
      </p:sp>
      <p:sp>
        <p:nvSpPr>
          <p:cNvPr id="14" name="Text 12"/>
          <p:cNvSpPr txBox="1"/>
          <p:nvPr/>
        </p:nvSpPr>
        <p:spPr>
          <a:xfrm>
            <a:off x="4489704" y="1892808"/>
            <a:ext cx="3026664" cy="1965960"/>
          </a:xfrm>
          <a:prstGeom prst="rect">
            <a:avLst/>
          </a:prstGeom>
          <a:noFill/>
          <a:ln/>
        </p:spPr>
        <p:txBody>
          <a:bodyPr wrap="square" lIns="0" tIns="0" rIns="0" bIns="0" rtlCol="0" anchor="ctr"/>
          <a:lstStyle/>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OrderService</a:t>
            </a:r>
            <a:endParaRPr lang="en-US" sz="1150" dirty="0"/>
          </a:p>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  -&gt; PaymentProcessorFactory</a:t>
            </a:r>
            <a:endParaRPr lang="en-US" sz="1150" dirty="0"/>
          </a:p>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     -&gt; CardProcessor</a:t>
            </a:r>
            <a:endParaRPr lang="en-US" sz="1150" dirty="0"/>
          </a:p>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     -&gt; WalletProcessor</a:t>
            </a:r>
            <a:endParaRPr lang="en-US" sz="1150" dirty="0"/>
          </a:p>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  -&gt; OrderNotifier (subject)</a:t>
            </a:r>
            <a:endParaRPr lang="en-US" sz="1150" dirty="0"/>
          </a:p>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     -&gt; EmailObserver</a:t>
            </a:r>
            <a:endParaRPr lang="en-US" sz="1150" dirty="0"/>
          </a:p>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     -&gt; SmsObserver</a:t>
            </a:r>
            <a:endParaRPr lang="en-US" sz="1150" dirty="0"/>
          </a:p>
        </p:txBody>
      </p:sp>
      <p:sp>
        <p:nvSpPr>
          <p:cNvPr id="15" name="Shape 13"/>
          <p:cNvSpPr/>
          <p:nvPr/>
        </p:nvSpPr>
        <p:spPr>
          <a:xfrm>
            <a:off x="4489704" y="3794760"/>
            <a:ext cx="2377440" cy="292608"/>
          </a:xfrm>
          <a:prstGeom prst="roundRect">
            <a:avLst>
              <a:gd name="adj" fmla="val 25000"/>
            </a:avLst>
          </a:prstGeom>
          <a:solidFill>
            <a:srgbClr val="E8A33D"/>
          </a:solidFill>
          <a:ln/>
        </p:spPr>
        <p:txBody>
          <a:bodyPr/>
          <a:lstStyle/>
          <a:p>
            <a:endParaRPr lang="en-US"/>
          </a:p>
        </p:txBody>
      </p:sp>
      <p:sp>
        <p:nvSpPr>
          <p:cNvPr id="16" name="Text 14"/>
          <p:cNvSpPr txBox="1"/>
          <p:nvPr/>
        </p:nvSpPr>
        <p:spPr>
          <a:xfrm>
            <a:off x="4489704" y="3794760"/>
            <a:ext cx="2377440" cy="292608"/>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Factory Method + Observer</a:t>
            </a:r>
            <a:endParaRPr lang="en-US" sz="1050" dirty="0"/>
          </a:p>
        </p:txBody>
      </p:sp>
      <p:sp>
        <p:nvSpPr>
          <p:cNvPr id="17" name="Text 15"/>
          <p:cNvSpPr txBox="1"/>
          <p:nvPr/>
        </p:nvSpPr>
        <p:spPr>
          <a:xfrm>
            <a:off x="7735824" y="2606040"/>
            <a:ext cx="356616" cy="274320"/>
          </a:xfrm>
          <a:prstGeom prst="rect">
            <a:avLst/>
          </a:prstGeom>
          <a:noFill/>
          <a:ln/>
        </p:spPr>
        <p:txBody>
          <a:bodyPr wrap="square" lIns="0" tIns="0" rIns="0" bIns="0" rtlCol="0" anchor="ctr"/>
          <a:lstStyle/>
          <a:p>
            <a:pPr marL="0" indent="0" algn="ctr">
              <a:buNone/>
            </a:pPr>
            <a:r>
              <a:rPr lang="en-US" sz="1400" b="1" dirty="0">
                <a:solidFill>
                  <a:srgbClr val="3B4A8C"/>
                </a:solidFill>
              </a:rPr>
              <a:t>→</a:t>
            </a:r>
            <a:endParaRPr lang="en-US" sz="1400" dirty="0"/>
          </a:p>
        </p:txBody>
      </p:sp>
      <p:sp>
        <p:nvSpPr>
          <p:cNvPr id="18" name="Shape 16"/>
          <p:cNvSpPr/>
          <p:nvPr/>
        </p:nvSpPr>
        <p:spPr>
          <a:xfrm>
            <a:off x="8028432" y="1234440"/>
            <a:ext cx="3429000" cy="3017520"/>
          </a:xfrm>
          <a:prstGeom prst="roundRect">
            <a:avLst>
              <a:gd name="adj" fmla="val 1818"/>
            </a:avLst>
          </a:prstGeom>
          <a:solidFill>
            <a:srgbClr val="1E2761"/>
          </a:solidFill>
          <a:ln/>
        </p:spPr>
        <p:txBody>
          <a:bodyPr/>
          <a:lstStyle/>
          <a:p>
            <a:endParaRPr lang="en-US"/>
          </a:p>
        </p:txBody>
      </p:sp>
      <p:sp>
        <p:nvSpPr>
          <p:cNvPr id="19" name="Text 17"/>
          <p:cNvSpPr txBox="1"/>
          <p:nvPr/>
        </p:nvSpPr>
        <p:spPr>
          <a:xfrm>
            <a:off x="8229600" y="1380744"/>
            <a:ext cx="3026664"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Access</a:t>
            </a:r>
            <a:endParaRPr lang="en-US" sz="1300" dirty="0"/>
          </a:p>
        </p:txBody>
      </p:sp>
      <p:sp>
        <p:nvSpPr>
          <p:cNvPr id="20" name="Shape 18"/>
          <p:cNvSpPr/>
          <p:nvPr/>
        </p:nvSpPr>
        <p:spPr>
          <a:xfrm>
            <a:off x="8229600" y="1764792"/>
            <a:ext cx="3026664" cy="0"/>
          </a:xfrm>
          <a:prstGeom prst="line">
            <a:avLst/>
          </a:prstGeom>
          <a:noFill/>
          <a:ln w="12700">
            <a:solidFill>
              <a:srgbClr val="6E7FB5"/>
            </a:solidFill>
            <a:prstDash val="solid"/>
          </a:ln>
        </p:spPr>
        <p:txBody>
          <a:bodyPr/>
          <a:lstStyle/>
          <a:p>
            <a:endParaRPr lang="en-US"/>
          </a:p>
        </p:txBody>
      </p:sp>
      <p:sp>
        <p:nvSpPr>
          <p:cNvPr id="21" name="Text 19"/>
          <p:cNvSpPr txBox="1"/>
          <p:nvPr/>
        </p:nvSpPr>
        <p:spPr>
          <a:xfrm>
            <a:off x="8229600" y="1892808"/>
            <a:ext cx="3026664" cy="1965960"/>
          </a:xfrm>
          <a:prstGeom prst="rect">
            <a:avLst/>
          </a:prstGeom>
          <a:noFill/>
          <a:ln/>
        </p:spPr>
        <p:txBody>
          <a:bodyPr wrap="square" lIns="0" tIns="0" rIns="0" bIns="0" rtlCol="0" anchor="ctr"/>
          <a:lstStyle/>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OrderRepository</a:t>
            </a:r>
            <a:endParaRPr lang="en-US" sz="1150" dirty="0"/>
          </a:p>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PaymentRepository</a:t>
            </a:r>
            <a:endParaRPr lang="en-US" sz="1150" dirty="0"/>
          </a:p>
          <a:p>
            <a:pPr marL="0" indent="0">
              <a:lnSpc>
                <a:spcPct val="125000"/>
              </a:lnSpc>
              <a:buNone/>
            </a:pPr>
            <a:r>
              <a:rPr lang="en-US" sz="1150" dirty="0">
                <a:solidFill>
                  <a:srgbClr val="FFFFFF"/>
                </a:solidFill>
                <a:latin typeface="Courier New" pitchFamily="34" charset="0"/>
                <a:ea typeface="Courier New" pitchFamily="34" charset="-122"/>
                <a:cs typeface="Courier New" pitchFamily="34" charset="-120"/>
              </a:rPr>
              <a:t>  extends CrudRepository</a:t>
            </a:r>
            <a:endParaRPr lang="en-US" sz="1150" dirty="0"/>
          </a:p>
        </p:txBody>
      </p:sp>
      <p:sp>
        <p:nvSpPr>
          <p:cNvPr id="22" name="Shape 20"/>
          <p:cNvSpPr/>
          <p:nvPr/>
        </p:nvSpPr>
        <p:spPr>
          <a:xfrm>
            <a:off x="8229600" y="3794760"/>
            <a:ext cx="1143000" cy="292608"/>
          </a:xfrm>
          <a:prstGeom prst="roundRect">
            <a:avLst>
              <a:gd name="adj" fmla="val 25000"/>
            </a:avLst>
          </a:prstGeom>
          <a:solidFill>
            <a:srgbClr val="E8A33D"/>
          </a:solidFill>
          <a:ln/>
        </p:spPr>
        <p:txBody>
          <a:bodyPr/>
          <a:lstStyle/>
          <a:p>
            <a:endParaRPr lang="en-US"/>
          </a:p>
        </p:txBody>
      </p:sp>
      <p:sp>
        <p:nvSpPr>
          <p:cNvPr id="23" name="Text 21"/>
          <p:cNvSpPr txBox="1"/>
          <p:nvPr/>
        </p:nvSpPr>
        <p:spPr>
          <a:xfrm>
            <a:off x="8229600" y="3794760"/>
            <a:ext cx="1143000" cy="292608"/>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Repository</a:t>
            </a:r>
            <a:endParaRPr lang="en-US" sz="1050" dirty="0"/>
          </a:p>
        </p:txBody>
      </p:sp>
      <p:sp>
        <p:nvSpPr>
          <p:cNvPr id="24" name="Shape 22"/>
          <p:cNvSpPr/>
          <p:nvPr/>
        </p:nvSpPr>
        <p:spPr>
          <a:xfrm>
            <a:off x="548640" y="4526280"/>
            <a:ext cx="11094415" cy="1554480"/>
          </a:xfrm>
          <a:prstGeom prst="rect">
            <a:avLst/>
          </a:prstGeom>
          <a:solidFill>
            <a:srgbClr val="E9EFFC"/>
          </a:solidFill>
          <a:ln/>
        </p:spPr>
        <p:txBody>
          <a:bodyPr/>
          <a:lstStyle/>
          <a:p>
            <a:endParaRPr lang="en-US"/>
          </a:p>
        </p:txBody>
      </p:sp>
      <p:sp>
        <p:nvSpPr>
          <p:cNvPr id="25" name="Text 23"/>
          <p:cNvSpPr txBox="1"/>
          <p:nvPr/>
        </p:nvSpPr>
        <p:spPr>
          <a:xfrm>
            <a:off x="777240" y="4663440"/>
            <a:ext cx="10637215" cy="1280160"/>
          </a:xfrm>
          <a:prstGeom prst="rect">
            <a:avLst/>
          </a:prstGeom>
          <a:noFill/>
          <a:ln/>
        </p:spPr>
        <p:txBody>
          <a:bodyPr wrap="square" lIns="0" tIns="0" rIns="0" bIns="0" rtlCol="0" anchor="ctr"/>
          <a:lstStyle/>
          <a:p>
            <a:pPr marL="0" indent="0">
              <a:buNone/>
            </a:pPr>
            <a:r>
              <a:rPr lang="en-US" sz="1250" dirty="0">
                <a:solidFill>
                  <a:srgbClr val="1E2761"/>
                </a:solidFill>
                <a:latin typeface="Calibri" pitchFamily="34" charset="0"/>
                <a:ea typeface="Calibri" pitchFamily="34" charset="-122"/>
                <a:cs typeface="Calibri" pitchFamily="34" charset="-120"/>
              </a:rPr>
              <a:t>OrderService obtains the correct payment processor through a Factory Method at run time, so a new payment method only requires a new processor subclass and no change to the ordering logic itself. Order status changes are broadcast through an Observer so new notification channels can subscribe independently, though this loose coupling makes notification order non-deterministic and each observer must unsubscribe explicitly to avoid a memory leak from lapsed listeners.</a:t>
            </a:r>
            <a:endParaRPr lang="en-US" sz="1250" dirty="0"/>
          </a:p>
        </p:txBody>
      </p:sp>
      <p:sp>
        <p:nvSpPr>
          <p:cNvPr id="26" name="Text 24"/>
          <p:cNvSpPr txBox="1"/>
          <p:nvPr/>
        </p:nvSpPr>
        <p:spPr>
          <a:xfrm>
            <a:off x="548640" y="6565392"/>
            <a:ext cx="7772400" cy="256032"/>
          </a:xfrm>
          <a:prstGeom prst="rect">
            <a:avLst/>
          </a:prstGeom>
          <a:noFill/>
          <a:ln/>
        </p:spPr>
        <p:txBody>
          <a:bodyPr wrap="square" lIns="0" tIns="0" rIns="0" bIns="0" rtlCol="0" anchor="ctr"/>
          <a:lstStyle/>
          <a:p>
            <a:pPr marL="0" indent="0">
              <a:buNone/>
            </a:pPr>
            <a:r>
              <a:rPr lang="en-US" sz="900" dirty="0">
                <a:solidFill>
                  <a:srgbClr val="5A6B8C"/>
                </a:solidFill>
                <a:latin typeface="Calibri" pitchFamily="34" charset="0"/>
                <a:ea typeface="Calibri" pitchFamily="34" charset="-122"/>
                <a:cs typeface="Calibri" pitchFamily="34" charset="-120"/>
              </a:rPr>
              <a:t>AOODP25_PCOM7E, Unit 9 Case Study, ShopEase Architecture</a:t>
            </a:r>
            <a:endParaRPr lang="en-US" sz="900" dirty="0"/>
          </a:p>
        </p:txBody>
      </p:sp>
      <p:sp>
        <p:nvSpPr>
          <p:cNvPr id="27" name="Text 25"/>
          <p:cNvSpPr txBox="1"/>
          <p:nvPr/>
        </p:nvSpPr>
        <p:spPr>
          <a:xfrm>
            <a:off x="11185855" y="6565392"/>
            <a:ext cx="457200" cy="256032"/>
          </a:xfrm>
          <a:prstGeom prst="rect">
            <a:avLst/>
          </a:prstGeom>
          <a:noFill/>
          <a:ln/>
        </p:spPr>
        <p:txBody>
          <a:bodyPr wrap="square" lIns="0" tIns="0" rIns="0" bIns="0" rtlCol="0" anchor="ctr"/>
          <a:lstStyle/>
          <a:p>
            <a:pPr marL="0" indent="0" algn="r">
              <a:buNone/>
            </a:pPr>
            <a:r>
              <a:rPr lang="en-US" sz="900" dirty="0">
                <a:solidFill>
                  <a:srgbClr val="5A6B8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CROSS-CUTTING CONCERN</a:t>
            </a:r>
            <a:endParaRPr lang="en-US" sz="1200" dirty="0"/>
          </a:p>
        </p:txBody>
      </p:sp>
      <p:sp>
        <p:nvSpPr>
          <p:cNvPr id="3" name="Text 1"/>
          <p:cNvSpPr txBox="1"/>
          <p:nvPr/>
        </p:nvSpPr>
        <p:spPr>
          <a:xfrm>
            <a:off x="548640" y="566928"/>
            <a:ext cx="11094415"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Security Practices: Authentication</a:t>
            </a:r>
            <a:endParaRPr lang="en-US" sz="2800" dirty="0"/>
          </a:p>
        </p:txBody>
      </p:sp>
      <p:sp>
        <p:nvSpPr>
          <p:cNvPr id="4" name="Shape 2"/>
          <p:cNvSpPr/>
          <p:nvPr/>
        </p:nvSpPr>
        <p:spPr>
          <a:xfrm>
            <a:off x="1203808" y="1371600"/>
            <a:ext cx="2926080" cy="914400"/>
          </a:xfrm>
          <a:prstGeom prst="roundRect">
            <a:avLst>
              <a:gd name="adj" fmla="val 8000"/>
            </a:avLst>
          </a:prstGeom>
          <a:solidFill>
            <a:srgbClr val="E9EFFC"/>
          </a:solidFill>
          <a:ln/>
        </p:spPr>
        <p:txBody>
          <a:bodyPr/>
          <a:lstStyle/>
          <a:p>
            <a:endParaRPr lang="en-US"/>
          </a:p>
        </p:txBody>
      </p:sp>
      <p:sp>
        <p:nvSpPr>
          <p:cNvPr id="5" name="Text 3"/>
          <p:cNvSpPr txBox="1"/>
          <p:nvPr/>
        </p:nvSpPr>
        <p:spPr>
          <a:xfrm>
            <a:off x="1203808" y="1371600"/>
            <a:ext cx="2926080" cy="914400"/>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Client Request</a:t>
            </a:r>
            <a:endParaRPr lang="en-US" sz="1300" dirty="0"/>
          </a:p>
        </p:txBody>
      </p:sp>
      <p:sp>
        <p:nvSpPr>
          <p:cNvPr id="6" name="Text 4"/>
          <p:cNvSpPr txBox="1"/>
          <p:nvPr/>
        </p:nvSpPr>
        <p:spPr>
          <a:xfrm>
            <a:off x="4148176" y="1673352"/>
            <a:ext cx="404165" cy="310896"/>
          </a:xfrm>
          <a:prstGeom prst="rect">
            <a:avLst/>
          </a:prstGeom>
          <a:noFill/>
          <a:ln/>
        </p:spPr>
        <p:txBody>
          <a:bodyPr wrap="square" lIns="0" tIns="0" rIns="0" bIns="0" rtlCol="0" anchor="ctr"/>
          <a:lstStyle/>
          <a:p>
            <a:pPr marL="0" indent="0" algn="ctr">
              <a:buNone/>
            </a:pPr>
            <a:r>
              <a:rPr lang="en-US" sz="1600" b="1" dirty="0">
                <a:solidFill>
                  <a:srgbClr val="3B4A8C"/>
                </a:solidFill>
              </a:rPr>
              <a:t>→</a:t>
            </a:r>
            <a:endParaRPr lang="en-US" sz="1600" dirty="0"/>
          </a:p>
        </p:txBody>
      </p:sp>
      <p:sp>
        <p:nvSpPr>
          <p:cNvPr id="7" name="Shape 5"/>
          <p:cNvSpPr/>
          <p:nvPr/>
        </p:nvSpPr>
        <p:spPr>
          <a:xfrm>
            <a:off x="4632808" y="1371600"/>
            <a:ext cx="2926080" cy="914400"/>
          </a:xfrm>
          <a:prstGeom prst="roundRect">
            <a:avLst>
              <a:gd name="adj" fmla="val 8000"/>
            </a:avLst>
          </a:prstGeom>
          <a:solidFill>
            <a:srgbClr val="3B4A8C"/>
          </a:solidFill>
          <a:ln/>
        </p:spPr>
        <p:txBody>
          <a:bodyPr/>
          <a:lstStyle/>
          <a:p>
            <a:endParaRPr lang="en-US"/>
          </a:p>
        </p:txBody>
      </p:sp>
      <p:sp>
        <p:nvSpPr>
          <p:cNvPr id="8" name="Text 6"/>
          <p:cNvSpPr txBox="1"/>
          <p:nvPr/>
        </p:nvSpPr>
        <p:spPr>
          <a:xfrm>
            <a:off x="4632808" y="1371600"/>
            <a:ext cx="2926080" cy="9144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Authentication Filter</a:t>
            </a:r>
            <a:endParaRPr lang="en-US" sz="1300" dirty="0"/>
          </a:p>
        </p:txBody>
      </p:sp>
      <p:sp>
        <p:nvSpPr>
          <p:cNvPr id="9" name="Text 7"/>
          <p:cNvSpPr txBox="1"/>
          <p:nvPr/>
        </p:nvSpPr>
        <p:spPr>
          <a:xfrm>
            <a:off x="7577176" y="1673352"/>
            <a:ext cx="404165" cy="310896"/>
          </a:xfrm>
          <a:prstGeom prst="rect">
            <a:avLst/>
          </a:prstGeom>
          <a:noFill/>
          <a:ln/>
        </p:spPr>
        <p:txBody>
          <a:bodyPr wrap="square" lIns="0" tIns="0" rIns="0" bIns="0" rtlCol="0" anchor="ctr"/>
          <a:lstStyle/>
          <a:p>
            <a:pPr marL="0" indent="0" algn="ctr">
              <a:buNone/>
            </a:pPr>
            <a:r>
              <a:rPr lang="en-US" sz="1600" b="1" dirty="0">
                <a:solidFill>
                  <a:srgbClr val="3B4A8C"/>
                </a:solidFill>
              </a:rPr>
              <a:t>→</a:t>
            </a:r>
            <a:endParaRPr lang="en-US" sz="1600" dirty="0"/>
          </a:p>
        </p:txBody>
      </p:sp>
      <p:sp>
        <p:nvSpPr>
          <p:cNvPr id="10" name="Shape 8"/>
          <p:cNvSpPr/>
          <p:nvPr/>
        </p:nvSpPr>
        <p:spPr>
          <a:xfrm>
            <a:off x="8061808" y="1371600"/>
            <a:ext cx="2926080" cy="914400"/>
          </a:xfrm>
          <a:prstGeom prst="roundRect">
            <a:avLst>
              <a:gd name="adj" fmla="val 8000"/>
            </a:avLst>
          </a:prstGeom>
          <a:solidFill>
            <a:srgbClr val="1E2761"/>
          </a:solidFill>
          <a:ln/>
        </p:spPr>
        <p:txBody>
          <a:bodyPr/>
          <a:lstStyle/>
          <a:p>
            <a:endParaRPr lang="en-US"/>
          </a:p>
        </p:txBody>
      </p:sp>
      <p:sp>
        <p:nvSpPr>
          <p:cNvPr id="11" name="Text 9"/>
          <p:cNvSpPr txBox="1"/>
          <p:nvPr/>
        </p:nvSpPr>
        <p:spPr>
          <a:xfrm>
            <a:off x="8061808" y="1371600"/>
            <a:ext cx="2926080" cy="9144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Business Logic Layer</a:t>
            </a:r>
            <a:endParaRPr lang="en-US" sz="1300" dirty="0"/>
          </a:p>
        </p:txBody>
      </p:sp>
      <p:sp>
        <p:nvSpPr>
          <p:cNvPr id="12" name="Text 10"/>
          <p:cNvSpPr txBox="1"/>
          <p:nvPr/>
        </p:nvSpPr>
        <p:spPr>
          <a:xfrm>
            <a:off x="1203808" y="2423160"/>
            <a:ext cx="9784080" cy="274320"/>
          </a:xfrm>
          <a:prstGeom prst="rect">
            <a:avLst/>
          </a:prstGeom>
          <a:noFill/>
          <a:ln/>
        </p:spPr>
        <p:txBody>
          <a:bodyPr wrap="square" lIns="0" tIns="0" rIns="0" bIns="0" rtlCol="0" anchor="ctr"/>
          <a:lstStyle/>
          <a:p>
            <a:pPr marL="0" indent="0" algn="ctr">
              <a:buNone/>
            </a:pPr>
            <a:r>
              <a:rPr lang="en-US" sz="1050" i="1" dirty="0">
                <a:solidFill>
                  <a:srgbClr val="5A6B8C"/>
                </a:solidFill>
                <a:latin typeface="Calibri" pitchFamily="34" charset="0"/>
                <a:ea typeface="Calibri" pitchFamily="34" charset="-122"/>
                <a:cs typeface="Calibri" pitchFamily="34" charset="-120"/>
              </a:rPr>
              <a:t>Every request is checked once, in one place, before it reaches any module</a:t>
            </a:r>
            <a:endParaRPr lang="en-US" sz="1050" dirty="0"/>
          </a:p>
        </p:txBody>
      </p:sp>
      <p:sp>
        <p:nvSpPr>
          <p:cNvPr id="13" name="Shape 11"/>
          <p:cNvSpPr/>
          <p:nvPr/>
        </p:nvSpPr>
        <p:spPr>
          <a:xfrm>
            <a:off x="548640" y="2971800"/>
            <a:ext cx="11094415" cy="1417320"/>
          </a:xfrm>
          <a:prstGeom prst="rect">
            <a:avLst/>
          </a:prstGeom>
          <a:solidFill>
            <a:srgbClr val="E9EFFC"/>
          </a:solidFill>
          <a:ln/>
        </p:spPr>
        <p:txBody>
          <a:bodyPr/>
          <a:lstStyle/>
          <a:p>
            <a:endParaRPr lang="en-US"/>
          </a:p>
        </p:txBody>
      </p:sp>
      <p:sp>
        <p:nvSpPr>
          <p:cNvPr id="14" name="Text 12"/>
          <p:cNvSpPr txBox="1"/>
          <p:nvPr/>
        </p:nvSpPr>
        <p:spPr>
          <a:xfrm>
            <a:off x="822960" y="3154680"/>
            <a:ext cx="5090008" cy="45720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  Password policy enforcement</a:t>
            </a:r>
            <a:endParaRPr lang="en-US" sz="1200" dirty="0"/>
          </a:p>
        </p:txBody>
      </p:sp>
      <p:sp>
        <p:nvSpPr>
          <p:cNvPr id="15" name="Text 13"/>
          <p:cNvSpPr txBox="1"/>
          <p:nvPr/>
        </p:nvSpPr>
        <p:spPr>
          <a:xfrm>
            <a:off x="6095848" y="3154680"/>
            <a:ext cx="5090008" cy="45720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  Hashed credential storage (never plaintext)</a:t>
            </a:r>
            <a:endParaRPr lang="en-US" sz="1200" dirty="0"/>
          </a:p>
        </p:txBody>
      </p:sp>
      <p:sp>
        <p:nvSpPr>
          <p:cNvPr id="16" name="Text 14"/>
          <p:cNvSpPr txBox="1"/>
          <p:nvPr/>
        </p:nvSpPr>
        <p:spPr>
          <a:xfrm>
            <a:off x="822960" y="3703320"/>
            <a:ext cx="5090008" cy="45720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  Secure session token generation and timeout</a:t>
            </a:r>
            <a:endParaRPr lang="en-US" sz="1200" dirty="0"/>
          </a:p>
        </p:txBody>
      </p:sp>
      <p:sp>
        <p:nvSpPr>
          <p:cNvPr id="17" name="Text 15"/>
          <p:cNvSpPr txBox="1"/>
          <p:nvPr/>
        </p:nvSpPr>
        <p:spPr>
          <a:xfrm>
            <a:off x="6095848" y="3703320"/>
            <a:ext cx="5090008" cy="45720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  Role-based access control on order data</a:t>
            </a:r>
            <a:endParaRPr lang="en-US" sz="1200" dirty="0"/>
          </a:p>
        </p:txBody>
      </p:sp>
      <p:sp>
        <p:nvSpPr>
          <p:cNvPr id="18" name="Text 16"/>
          <p:cNvSpPr txBox="1"/>
          <p:nvPr/>
        </p:nvSpPr>
        <p:spPr>
          <a:xfrm>
            <a:off x="548640" y="4480560"/>
            <a:ext cx="11094415" cy="640080"/>
          </a:xfrm>
          <a:prstGeom prst="rect">
            <a:avLst/>
          </a:prstGeom>
          <a:noFill/>
          <a:ln/>
        </p:spPr>
        <p:txBody>
          <a:bodyPr wrap="square" lIns="0" tIns="0" rIns="0" bIns="0" rtlCol="0" anchor="ctr"/>
          <a:lstStyle/>
          <a:p>
            <a:pPr marL="0" indent="0">
              <a:buNone/>
            </a:pPr>
            <a:r>
              <a:rPr lang="en-US" sz="1200" dirty="0">
                <a:solidFill>
                  <a:srgbClr val="24272E"/>
                </a:solidFill>
                <a:latin typeface="Calibri" pitchFamily="34" charset="0"/>
                <a:ea typeface="Calibri" pitchFamily="34" charset="-122"/>
                <a:cs typeface="Calibri" pitchFamily="34" charset="-120"/>
              </a:rPr>
              <a:t>Centralising authentication means every module inherits the same verification instead of each service reimplementing login checks, which satisfies the OWASP ASVS authentication and session-management checks. The trade-off is that this filter becomes a single point of failure, so it must be tested more rigorously than any individual module.</a:t>
            </a:r>
            <a:endParaRPr lang="en-US" sz="1200" dirty="0"/>
          </a:p>
        </p:txBody>
      </p:sp>
      <p:sp>
        <p:nvSpPr>
          <p:cNvPr id="19" name="Text 17"/>
          <p:cNvSpPr txBox="1"/>
          <p:nvPr/>
        </p:nvSpPr>
        <p:spPr>
          <a:xfrm>
            <a:off x="548640" y="6565392"/>
            <a:ext cx="7772400" cy="256032"/>
          </a:xfrm>
          <a:prstGeom prst="rect">
            <a:avLst/>
          </a:prstGeom>
          <a:noFill/>
          <a:ln/>
        </p:spPr>
        <p:txBody>
          <a:bodyPr wrap="square" lIns="0" tIns="0" rIns="0" bIns="0" rtlCol="0" anchor="ctr"/>
          <a:lstStyle/>
          <a:p>
            <a:pPr marL="0" indent="0">
              <a:buNone/>
            </a:pPr>
            <a:r>
              <a:rPr lang="en-US" sz="900" dirty="0">
                <a:solidFill>
                  <a:srgbClr val="5A6B8C"/>
                </a:solidFill>
                <a:latin typeface="Calibri" pitchFamily="34" charset="0"/>
                <a:ea typeface="Calibri" pitchFamily="34" charset="-122"/>
                <a:cs typeface="Calibri" pitchFamily="34" charset="-120"/>
              </a:rPr>
              <a:t>AOODP25_PCOM7E, Unit 9 Case Study, ShopEase Architecture</a:t>
            </a:r>
            <a:endParaRPr lang="en-US" sz="900" dirty="0"/>
          </a:p>
        </p:txBody>
      </p:sp>
      <p:sp>
        <p:nvSpPr>
          <p:cNvPr id="20" name="Text 18"/>
          <p:cNvSpPr txBox="1"/>
          <p:nvPr/>
        </p:nvSpPr>
        <p:spPr>
          <a:xfrm>
            <a:off x="11185855" y="6565392"/>
            <a:ext cx="457200" cy="256032"/>
          </a:xfrm>
          <a:prstGeom prst="rect">
            <a:avLst/>
          </a:prstGeom>
          <a:noFill/>
          <a:ln/>
        </p:spPr>
        <p:txBody>
          <a:bodyPr wrap="square" lIns="0" tIns="0" rIns="0" bIns="0" rtlCol="0" anchor="ctr"/>
          <a:lstStyle/>
          <a:p>
            <a:pPr marL="0" indent="0" algn="r">
              <a:buNone/>
            </a:pPr>
            <a:r>
              <a:rPr lang="en-US" sz="900" dirty="0">
                <a:solidFill>
                  <a:srgbClr val="5A6B8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DEPENDENCY INJECTION · OBSERVER</a:t>
            </a:r>
            <a:endParaRPr lang="en-US" sz="1200" dirty="0"/>
          </a:p>
        </p:txBody>
      </p:sp>
      <p:sp>
        <p:nvSpPr>
          <p:cNvPr id="3" name="Text 1"/>
          <p:cNvSpPr txBox="1"/>
          <p:nvPr/>
        </p:nvSpPr>
        <p:spPr>
          <a:xfrm>
            <a:off x="548640" y="566928"/>
            <a:ext cx="11094415"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Scalability and Extensibility</a:t>
            </a:r>
            <a:endParaRPr lang="en-US" sz="2800" dirty="0"/>
          </a:p>
        </p:txBody>
      </p:sp>
      <p:sp>
        <p:nvSpPr>
          <p:cNvPr id="4" name="Text 2"/>
          <p:cNvSpPr txBox="1"/>
          <p:nvPr/>
        </p:nvSpPr>
        <p:spPr>
          <a:xfrm>
            <a:off x="548640" y="1188720"/>
            <a:ext cx="3291840" cy="274320"/>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Interfaces  (one example per module)</a:t>
            </a:r>
            <a:endParaRPr lang="en-US" sz="1150" dirty="0"/>
          </a:p>
        </p:txBody>
      </p:sp>
      <p:sp>
        <p:nvSpPr>
          <p:cNvPr id="5" name="Shape 3"/>
          <p:cNvSpPr/>
          <p:nvPr/>
        </p:nvSpPr>
        <p:spPr>
          <a:xfrm>
            <a:off x="548640" y="1554480"/>
            <a:ext cx="2926080" cy="566928"/>
          </a:xfrm>
          <a:prstGeom prst="roundRect">
            <a:avLst>
              <a:gd name="adj" fmla="val 9677"/>
            </a:avLst>
          </a:prstGeom>
          <a:solidFill>
            <a:srgbClr val="E9EFFC"/>
          </a:solidFill>
          <a:ln w="12700">
            <a:solidFill>
              <a:srgbClr val="3B4A8C"/>
            </a:solidFill>
            <a:prstDash val="solid"/>
          </a:ln>
        </p:spPr>
        <p:txBody>
          <a:bodyPr/>
          <a:lstStyle/>
          <a:p>
            <a:endParaRPr lang="en-US"/>
          </a:p>
        </p:txBody>
      </p:sp>
      <p:sp>
        <p:nvSpPr>
          <p:cNvPr id="6" name="Text 4"/>
          <p:cNvSpPr txBox="1"/>
          <p:nvPr/>
        </p:nvSpPr>
        <p:spPr>
          <a:xfrm>
            <a:off x="548640" y="1554480"/>
            <a:ext cx="2926080" cy="566928"/>
          </a:xfrm>
          <a:prstGeom prst="rect">
            <a:avLst/>
          </a:prstGeom>
          <a:noFill/>
          <a:ln/>
        </p:spPr>
        <p:txBody>
          <a:bodyPr wrap="square" lIns="0" tIns="0" rIns="0" bIns="0" rtlCol="0" anchor="ctr"/>
          <a:lstStyle/>
          <a:p>
            <a:pPr marL="0" indent="0" algn="ctr">
              <a:buNone/>
            </a:pPr>
            <a:r>
              <a:rPr lang="en-US" sz="1200" b="1" dirty="0">
                <a:solidFill>
                  <a:srgbClr val="1E2761"/>
                </a:solidFill>
                <a:latin typeface="Courier New" pitchFamily="34" charset="0"/>
                <a:ea typeface="Courier New" pitchFamily="34" charset="-122"/>
                <a:cs typeface="Courier New" pitchFamily="34" charset="-120"/>
              </a:rPr>
              <a:t>IUserRepository</a:t>
            </a:r>
            <a:endParaRPr lang="en-US" sz="1200" dirty="0"/>
          </a:p>
        </p:txBody>
      </p:sp>
      <p:sp>
        <p:nvSpPr>
          <p:cNvPr id="7" name="Shape 5"/>
          <p:cNvSpPr/>
          <p:nvPr/>
        </p:nvSpPr>
        <p:spPr>
          <a:xfrm>
            <a:off x="548640" y="2249424"/>
            <a:ext cx="2926080" cy="566928"/>
          </a:xfrm>
          <a:prstGeom prst="roundRect">
            <a:avLst>
              <a:gd name="adj" fmla="val 9677"/>
            </a:avLst>
          </a:prstGeom>
          <a:solidFill>
            <a:srgbClr val="E9EFFC"/>
          </a:solidFill>
          <a:ln w="12700">
            <a:solidFill>
              <a:srgbClr val="3B4A8C"/>
            </a:solidFill>
            <a:prstDash val="solid"/>
          </a:ln>
        </p:spPr>
        <p:txBody>
          <a:bodyPr/>
          <a:lstStyle/>
          <a:p>
            <a:endParaRPr lang="en-US"/>
          </a:p>
        </p:txBody>
      </p:sp>
      <p:sp>
        <p:nvSpPr>
          <p:cNvPr id="8" name="Text 6"/>
          <p:cNvSpPr txBox="1"/>
          <p:nvPr/>
        </p:nvSpPr>
        <p:spPr>
          <a:xfrm>
            <a:off x="548640" y="2249424"/>
            <a:ext cx="2926080" cy="566928"/>
          </a:xfrm>
          <a:prstGeom prst="rect">
            <a:avLst/>
          </a:prstGeom>
          <a:noFill/>
          <a:ln/>
        </p:spPr>
        <p:txBody>
          <a:bodyPr wrap="square" lIns="0" tIns="0" rIns="0" bIns="0" rtlCol="0" anchor="ctr"/>
          <a:lstStyle/>
          <a:p>
            <a:pPr marL="0" indent="0" algn="ctr">
              <a:buNone/>
            </a:pPr>
            <a:r>
              <a:rPr lang="en-US" sz="1200" b="1" dirty="0">
                <a:solidFill>
                  <a:srgbClr val="1E2761"/>
                </a:solidFill>
                <a:latin typeface="Courier New" pitchFamily="34" charset="0"/>
                <a:ea typeface="Courier New" pitchFamily="34" charset="-122"/>
                <a:cs typeface="Courier New" pitchFamily="34" charset="-120"/>
              </a:rPr>
              <a:t>IPaymentProcessor</a:t>
            </a:r>
            <a:endParaRPr lang="en-US" sz="1200" dirty="0"/>
          </a:p>
        </p:txBody>
      </p:sp>
      <p:sp>
        <p:nvSpPr>
          <p:cNvPr id="9" name="Shape 7"/>
          <p:cNvSpPr/>
          <p:nvPr/>
        </p:nvSpPr>
        <p:spPr>
          <a:xfrm>
            <a:off x="548640" y="2944368"/>
            <a:ext cx="2926080" cy="566928"/>
          </a:xfrm>
          <a:prstGeom prst="roundRect">
            <a:avLst>
              <a:gd name="adj" fmla="val 9677"/>
            </a:avLst>
          </a:prstGeom>
          <a:solidFill>
            <a:srgbClr val="E9EFFC"/>
          </a:solidFill>
          <a:ln w="12700">
            <a:solidFill>
              <a:srgbClr val="3B4A8C"/>
            </a:solidFill>
            <a:prstDash val="solid"/>
          </a:ln>
        </p:spPr>
        <p:txBody>
          <a:bodyPr/>
          <a:lstStyle/>
          <a:p>
            <a:endParaRPr lang="en-US"/>
          </a:p>
        </p:txBody>
      </p:sp>
      <p:sp>
        <p:nvSpPr>
          <p:cNvPr id="10" name="Text 8"/>
          <p:cNvSpPr txBox="1"/>
          <p:nvPr/>
        </p:nvSpPr>
        <p:spPr>
          <a:xfrm>
            <a:off x="548640" y="2944368"/>
            <a:ext cx="2926080" cy="566928"/>
          </a:xfrm>
          <a:prstGeom prst="rect">
            <a:avLst/>
          </a:prstGeom>
          <a:noFill/>
          <a:ln/>
        </p:spPr>
        <p:txBody>
          <a:bodyPr wrap="square" lIns="0" tIns="0" rIns="0" bIns="0" rtlCol="0" anchor="ctr"/>
          <a:lstStyle/>
          <a:p>
            <a:pPr marL="0" indent="0" algn="ctr">
              <a:buNone/>
            </a:pPr>
            <a:r>
              <a:rPr lang="en-US" sz="1200" b="1" dirty="0">
                <a:solidFill>
                  <a:srgbClr val="1E2761"/>
                </a:solidFill>
                <a:latin typeface="Courier New" pitchFamily="34" charset="0"/>
                <a:ea typeface="Courier New" pitchFamily="34" charset="-122"/>
                <a:cs typeface="Courier New" pitchFamily="34" charset="-120"/>
              </a:rPr>
              <a:t>INotifier</a:t>
            </a:r>
            <a:endParaRPr lang="en-US" sz="1200" dirty="0"/>
          </a:p>
        </p:txBody>
      </p:sp>
      <p:sp>
        <p:nvSpPr>
          <p:cNvPr id="11" name="Shape 9"/>
          <p:cNvSpPr/>
          <p:nvPr/>
        </p:nvSpPr>
        <p:spPr>
          <a:xfrm>
            <a:off x="548640" y="3639312"/>
            <a:ext cx="2926080" cy="566928"/>
          </a:xfrm>
          <a:prstGeom prst="roundRect">
            <a:avLst>
              <a:gd name="adj" fmla="val 9677"/>
            </a:avLst>
          </a:prstGeom>
          <a:solidFill>
            <a:srgbClr val="E9EFFC"/>
          </a:solidFill>
          <a:ln w="12700">
            <a:solidFill>
              <a:srgbClr val="3B4A8C"/>
            </a:solidFill>
            <a:prstDash val="solid"/>
          </a:ln>
        </p:spPr>
        <p:txBody>
          <a:bodyPr/>
          <a:lstStyle/>
          <a:p>
            <a:endParaRPr lang="en-US"/>
          </a:p>
        </p:txBody>
      </p:sp>
      <p:sp>
        <p:nvSpPr>
          <p:cNvPr id="12" name="Text 10"/>
          <p:cNvSpPr txBox="1"/>
          <p:nvPr/>
        </p:nvSpPr>
        <p:spPr>
          <a:xfrm>
            <a:off x="548640" y="3639312"/>
            <a:ext cx="2926080" cy="566928"/>
          </a:xfrm>
          <a:prstGeom prst="rect">
            <a:avLst/>
          </a:prstGeom>
          <a:noFill/>
          <a:ln/>
        </p:spPr>
        <p:txBody>
          <a:bodyPr wrap="square" lIns="0" tIns="0" rIns="0" bIns="0" rtlCol="0" anchor="ctr"/>
          <a:lstStyle/>
          <a:p>
            <a:pPr marL="0" indent="0" algn="ctr">
              <a:buNone/>
            </a:pPr>
            <a:r>
              <a:rPr lang="en-US" sz="1200" b="1" dirty="0">
                <a:solidFill>
                  <a:srgbClr val="1E2761"/>
                </a:solidFill>
                <a:latin typeface="Courier New" pitchFamily="34" charset="0"/>
                <a:ea typeface="Courier New" pitchFamily="34" charset="-122"/>
                <a:cs typeface="Courier New" pitchFamily="34" charset="-120"/>
              </a:rPr>
              <a:t>IPromotionStrategy</a:t>
            </a:r>
            <a:endParaRPr lang="en-US" sz="1200" dirty="0"/>
          </a:p>
        </p:txBody>
      </p:sp>
      <p:sp>
        <p:nvSpPr>
          <p:cNvPr id="13" name="Text 11"/>
          <p:cNvSpPr txBox="1"/>
          <p:nvPr/>
        </p:nvSpPr>
        <p:spPr>
          <a:xfrm>
            <a:off x="4023360" y="1188720"/>
            <a:ext cx="2743200" cy="274320"/>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Composition Root</a:t>
            </a:r>
            <a:endParaRPr lang="en-US" sz="1150" dirty="0"/>
          </a:p>
        </p:txBody>
      </p:sp>
      <p:sp>
        <p:nvSpPr>
          <p:cNvPr id="14" name="Shape 12"/>
          <p:cNvSpPr/>
          <p:nvPr/>
        </p:nvSpPr>
        <p:spPr>
          <a:xfrm>
            <a:off x="4023360" y="1554480"/>
            <a:ext cx="2743200" cy="2651760"/>
          </a:xfrm>
          <a:prstGeom prst="roundRect">
            <a:avLst>
              <a:gd name="adj" fmla="val 2759"/>
            </a:avLst>
          </a:prstGeom>
          <a:solidFill>
            <a:srgbClr val="3B4A8C"/>
          </a:solidFill>
          <a:ln/>
        </p:spPr>
        <p:txBody>
          <a:bodyPr/>
          <a:lstStyle/>
          <a:p>
            <a:endParaRPr lang="en-US"/>
          </a:p>
        </p:txBody>
      </p:sp>
      <p:sp>
        <p:nvSpPr>
          <p:cNvPr id="15" name="Text 13"/>
          <p:cNvSpPr txBox="1"/>
          <p:nvPr/>
        </p:nvSpPr>
        <p:spPr>
          <a:xfrm>
            <a:off x="4160520" y="1554480"/>
            <a:ext cx="2468880" cy="265176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Dependency Injection</a:t>
            </a:r>
            <a:endParaRPr lang="en-US" sz="1150" dirty="0"/>
          </a:p>
          <a:p>
            <a:pPr marL="0" indent="0" algn="ctr">
              <a:buNone/>
            </a:pPr>
            <a:r>
              <a:rPr lang="en-US" sz="1150" dirty="0">
                <a:solidFill>
                  <a:srgbClr val="FFFFFF"/>
                </a:solidFill>
                <a:latin typeface="Calibri" pitchFamily="34" charset="0"/>
                <a:ea typeface="Calibri" pitchFamily="34" charset="-122"/>
                <a:cs typeface="Calibri" pitchFamily="34" charset="-120"/>
              </a:rPr>
              <a:t>Container</a:t>
            </a:r>
            <a:endParaRPr lang="en-US" sz="1150" dirty="0"/>
          </a:p>
          <a:p>
            <a:pPr marL="0" indent="0" algn="ctr">
              <a:buNone/>
            </a:pPr>
            <a:endParaRPr lang="en-US" sz="1150" dirty="0"/>
          </a:p>
          <a:p>
            <a:pPr marL="0" indent="0" algn="ctr">
              <a:buNone/>
            </a:pPr>
            <a:r>
              <a:rPr lang="en-US" sz="1150" dirty="0">
                <a:solidFill>
                  <a:srgbClr val="FFFFFF"/>
                </a:solidFill>
                <a:latin typeface="Calibri" pitchFamily="34" charset="0"/>
                <a:ea typeface="Calibri" pitchFamily="34" charset="-122"/>
                <a:cs typeface="Calibri" pitchFamily="34" charset="-120"/>
              </a:rPr>
              <a:t>wires each interface to a</a:t>
            </a:r>
            <a:endParaRPr lang="en-US" sz="1150" dirty="0"/>
          </a:p>
          <a:p>
            <a:pPr marL="0" indent="0" algn="ctr">
              <a:buNone/>
            </a:pPr>
            <a:r>
              <a:rPr lang="en-US" sz="1150" dirty="0">
                <a:solidFill>
                  <a:srgbClr val="FFFFFF"/>
                </a:solidFill>
                <a:latin typeface="Calibri" pitchFamily="34" charset="0"/>
                <a:ea typeface="Calibri" pitchFamily="34" charset="-122"/>
                <a:cs typeface="Calibri" pitchFamily="34" charset="-120"/>
              </a:rPr>
              <a:t>concrete implementation</a:t>
            </a:r>
            <a:endParaRPr lang="en-US" sz="1150" dirty="0"/>
          </a:p>
          <a:p>
            <a:pPr marL="0" indent="0" algn="ctr">
              <a:buNone/>
            </a:pPr>
            <a:r>
              <a:rPr lang="en-US" sz="1150" dirty="0">
                <a:solidFill>
                  <a:srgbClr val="FFFFFF"/>
                </a:solidFill>
                <a:latin typeface="Calibri" pitchFamily="34" charset="0"/>
                <a:ea typeface="Calibri" pitchFamily="34" charset="-122"/>
                <a:cs typeface="Calibri" pitchFamily="34" charset="-120"/>
              </a:rPr>
              <a:t>at start-up</a:t>
            </a:r>
            <a:endParaRPr lang="en-US" sz="1150" dirty="0"/>
          </a:p>
        </p:txBody>
      </p:sp>
      <p:sp>
        <p:nvSpPr>
          <p:cNvPr id="16" name="Text 14"/>
          <p:cNvSpPr txBox="1"/>
          <p:nvPr/>
        </p:nvSpPr>
        <p:spPr>
          <a:xfrm>
            <a:off x="3493008" y="1719072"/>
            <a:ext cx="309067" cy="237744"/>
          </a:xfrm>
          <a:prstGeom prst="rect">
            <a:avLst/>
          </a:prstGeom>
          <a:noFill/>
          <a:ln/>
        </p:spPr>
        <p:txBody>
          <a:bodyPr wrap="square" lIns="0" tIns="0" rIns="0" bIns="0" rtlCol="0" anchor="ctr"/>
          <a:lstStyle/>
          <a:p>
            <a:pPr marL="0" indent="0" algn="ctr">
              <a:buNone/>
            </a:pPr>
            <a:r>
              <a:rPr lang="en-US" sz="1200" b="1" dirty="0">
                <a:solidFill>
                  <a:srgbClr val="3B4A8C"/>
                </a:solidFill>
              </a:rPr>
              <a:t>→</a:t>
            </a:r>
            <a:endParaRPr lang="en-US" sz="1200" dirty="0"/>
          </a:p>
        </p:txBody>
      </p:sp>
      <p:sp>
        <p:nvSpPr>
          <p:cNvPr id="17" name="Text 15"/>
          <p:cNvSpPr txBox="1"/>
          <p:nvPr/>
        </p:nvSpPr>
        <p:spPr>
          <a:xfrm>
            <a:off x="3493008" y="2414016"/>
            <a:ext cx="309067" cy="237744"/>
          </a:xfrm>
          <a:prstGeom prst="rect">
            <a:avLst/>
          </a:prstGeom>
          <a:noFill/>
          <a:ln/>
        </p:spPr>
        <p:txBody>
          <a:bodyPr wrap="square" lIns="0" tIns="0" rIns="0" bIns="0" rtlCol="0" anchor="ctr"/>
          <a:lstStyle/>
          <a:p>
            <a:pPr marL="0" indent="0" algn="ctr">
              <a:buNone/>
            </a:pPr>
            <a:r>
              <a:rPr lang="en-US" sz="1200" b="1" dirty="0">
                <a:solidFill>
                  <a:srgbClr val="3B4A8C"/>
                </a:solidFill>
              </a:rPr>
              <a:t>→</a:t>
            </a:r>
            <a:endParaRPr lang="en-US" sz="1200" dirty="0"/>
          </a:p>
        </p:txBody>
      </p:sp>
      <p:sp>
        <p:nvSpPr>
          <p:cNvPr id="18" name="Text 16"/>
          <p:cNvSpPr txBox="1"/>
          <p:nvPr/>
        </p:nvSpPr>
        <p:spPr>
          <a:xfrm>
            <a:off x="3493008" y="3108960"/>
            <a:ext cx="309067" cy="237744"/>
          </a:xfrm>
          <a:prstGeom prst="rect">
            <a:avLst/>
          </a:prstGeom>
          <a:noFill/>
          <a:ln/>
        </p:spPr>
        <p:txBody>
          <a:bodyPr wrap="square" lIns="0" tIns="0" rIns="0" bIns="0" rtlCol="0" anchor="ctr"/>
          <a:lstStyle/>
          <a:p>
            <a:pPr marL="0" indent="0" algn="ctr">
              <a:buNone/>
            </a:pPr>
            <a:r>
              <a:rPr lang="en-US" sz="1200" b="1" dirty="0">
                <a:solidFill>
                  <a:srgbClr val="3B4A8C"/>
                </a:solidFill>
              </a:rPr>
              <a:t>→</a:t>
            </a:r>
            <a:endParaRPr lang="en-US" sz="1200" dirty="0"/>
          </a:p>
        </p:txBody>
      </p:sp>
      <p:sp>
        <p:nvSpPr>
          <p:cNvPr id="19" name="Text 17"/>
          <p:cNvSpPr txBox="1"/>
          <p:nvPr/>
        </p:nvSpPr>
        <p:spPr>
          <a:xfrm>
            <a:off x="3493008" y="3803904"/>
            <a:ext cx="309067" cy="237744"/>
          </a:xfrm>
          <a:prstGeom prst="rect">
            <a:avLst/>
          </a:prstGeom>
          <a:noFill/>
          <a:ln/>
        </p:spPr>
        <p:txBody>
          <a:bodyPr wrap="square" lIns="0" tIns="0" rIns="0" bIns="0" rtlCol="0" anchor="ctr"/>
          <a:lstStyle/>
          <a:p>
            <a:pPr marL="0" indent="0" algn="ctr">
              <a:buNone/>
            </a:pPr>
            <a:r>
              <a:rPr lang="en-US" sz="1200" b="1" dirty="0">
                <a:solidFill>
                  <a:srgbClr val="3B4A8C"/>
                </a:solidFill>
              </a:rPr>
              <a:t>→</a:t>
            </a:r>
            <a:endParaRPr lang="en-US" sz="1200" dirty="0"/>
          </a:p>
        </p:txBody>
      </p:sp>
      <p:sp>
        <p:nvSpPr>
          <p:cNvPr id="20" name="Text 18"/>
          <p:cNvSpPr txBox="1"/>
          <p:nvPr/>
        </p:nvSpPr>
        <p:spPr>
          <a:xfrm>
            <a:off x="7315200" y="1188720"/>
            <a:ext cx="3108960" cy="274320"/>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Concrete Implementations</a:t>
            </a:r>
            <a:endParaRPr lang="en-US" sz="1150" dirty="0"/>
          </a:p>
        </p:txBody>
      </p:sp>
      <p:sp>
        <p:nvSpPr>
          <p:cNvPr id="21" name="Shape 19"/>
          <p:cNvSpPr/>
          <p:nvPr/>
        </p:nvSpPr>
        <p:spPr>
          <a:xfrm>
            <a:off x="7315200" y="1554480"/>
            <a:ext cx="3108960" cy="566928"/>
          </a:xfrm>
          <a:prstGeom prst="roundRect">
            <a:avLst>
              <a:gd name="adj" fmla="val 9677"/>
            </a:avLst>
          </a:prstGeom>
          <a:solidFill>
            <a:srgbClr val="1E2761"/>
          </a:solidFill>
          <a:ln/>
        </p:spPr>
        <p:txBody>
          <a:bodyPr/>
          <a:lstStyle/>
          <a:p>
            <a:endParaRPr lang="en-US"/>
          </a:p>
        </p:txBody>
      </p:sp>
      <p:sp>
        <p:nvSpPr>
          <p:cNvPr id="22" name="Text 20"/>
          <p:cNvSpPr txBox="1"/>
          <p:nvPr/>
        </p:nvSpPr>
        <p:spPr>
          <a:xfrm>
            <a:off x="7424928" y="1591056"/>
            <a:ext cx="2889504" cy="256032"/>
          </a:xfrm>
          <a:prstGeom prst="rect">
            <a:avLst/>
          </a:prstGeom>
          <a:noFill/>
          <a:ln/>
        </p:spPr>
        <p:txBody>
          <a:bodyPr wrap="square" lIns="0" tIns="0" rIns="0" bIns="0" rtlCol="0" anchor="ctr"/>
          <a:lstStyle/>
          <a:p>
            <a:pPr marL="0" indent="0">
              <a:buNone/>
            </a:pPr>
            <a:r>
              <a:rPr lang="en-US" sz="1050" b="1" dirty="0">
                <a:solidFill>
                  <a:srgbClr val="FFFFFF"/>
                </a:solidFill>
                <a:latin typeface="Courier New" pitchFamily="34" charset="0"/>
                <a:ea typeface="Courier New" pitchFamily="34" charset="-122"/>
                <a:cs typeface="Courier New" pitchFamily="34" charset="-120"/>
              </a:rPr>
              <a:t>SqlUserRepository</a:t>
            </a:r>
            <a:endParaRPr lang="en-US" sz="1050" dirty="0"/>
          </a:p>
        </p:txBody>
      </p:sp>
      <p:sp>
        <p:nvSpPr>
          <p:cNvPr id="23" name="Text 21"/>
          <p:cNvSpPr txBox="1"/>
          <p:nvPr/>
        </p:nvSpPr>
        <p:spPr>
          <a:xfrm>
            <a:off x="7424928" y="1847088"/>
            <a:ext cx="2889504" cy="256032"/>
          </a:xfrm>
          <a:prstGeom prst="rect">
            <a:avLst/>
          </a:prstGeom>
          <a:noFill/>
          <a:ln/>
        </p:spPr>
        <p:txBody>
          <a:bodyPr wrap="square" lIns="0" tIns="0" rIns="0" bIns="0" rtlCol="0" anchor="ctr"/>
          <a:lstStyle/>
          <a:p>
            <a:pPr marL="0" indent="0">
              <a:buNone/>
            </a:pPr>
            <a:r>
              <a:rPr lang="en-US" sz="800" i="1" dirty="0">
                <a:solidFill>
                  <a:srgbClr val="CADCFC"/>
                </a:solidFill>
                <a:latin typeface="Calibri" pitchFamily="34" charset="0"/>
                <a:ea typeface="Calibri" pitchFamily="34" charset="-122"/>
                <a:cs typeface="Calibri" pitchFamily="34" charset="-120"/>
              </a:rPr>
              <a:t>-&gt; can add DistributedUserRepository as load grows</a:t>
            </a:r>
            <a:endParaRPr lang="en-US" sz="800" dirty="0"/>
          </a:p>
        </p:txBody>
      </p:sp>
      <p:sp>
        <p:nvSpPr>
          <p:cNvPr id="24" name="Text 22"/>
          <p:cNvSpPr txBox="1"/>
          <p:nvPr/>
        </p:nvSpPr>
        <p:spPr>
          <a:xfrm>
            <a:off x="6784848" y="1719072"/>
            <a:ext cx="309067" cy="237744"/>
          </a:xfrm>
          <a:prstGeom prst="rect">
            <a:avLst/>
          </a:prstGeom>
          <a:noFill/>
          <a:ln/>
        </p:spPr>
        <p:txBody>
          <a:bodyPr wrap="square" lIns="0" tIns="0" rIns="0" bIns="0" rtlCol="0" anchor="ctr"/>
          <a:lstStyle/>
          <a:p>
            <a:pPr marL="0" indent="0" algn="ctr">
              <a:buNone/>
            </a:pPr>
            <a:r>
              <a:rPr lang="en-US" sz="1200" b="1" dirty="0">
                <a:solidFill>
                  <a:srgbClr val="3B4A8C"/>
                </a:solidFill>
              </a:rPr>
              <a:t>→</a:t>
            </a:r>
            <a:endParaRPr lang="en-US" sz="1200" dirty="0"/>
          </a:p>
        </p:txBody>
      </p:sp>
      <p:sp>
        <p:nvSpPr>
          <p:cNvPr id="25" name="Shape 23"/>
          <p:cNvSpPr/>
          <p:nvPr/>
        </p:nvSpPr>
        <p:spPr>
          <a:xfrm>
            <a:off x="7315200" y="2249424"/>
            <a:ext cx="3108960" cy="566928"/>
          </a:xfrm>
          <a:prstGeom prst="roundRect">
            <a:avLst>
              <a:gd name="adj" fmla="val 9677"/>
            </a:avLst>
          </a:prstGeom>
          <a:solidFill>
            <a:srgbClr val="1E2761"/>
          </a:solidFill>
          <a:ln/>
        </p:spPr>
        <p:txBody>
          <a:bodyPr/>
          <a:lstStyle/>
          <a:p>
            <a:endParaRPr lang="en-US"/>
          </a:p>
        </p:txBody>
      </p:sp>
      <p:sp>
        <p:nvSpPr>
          <p:cNvPr id="26" name="Text 24"/>
          <p:cNvSpPr txBox="1"/>
          <p:nvPr/>
        </p:nvSpPr>
        <p:spPr>
          <a:xfrm>
            <a:off x="7424928" y="2286000"/>
            <a:ext cx="2889504" cy="256032"/>
          </a:xfrm>
          <a:prstGeom prst="rect">
            <a:avLst/>
          </a:prstGeom>
          <a:noFill/>
          <a:ln/>
        </p:spPr>
        <p:txBody>
          <a:bodyPr wrap="square" lIns="0" tIns="0" rIns="0" bIns="0" rtlCol="0" anchor="ctr"/>
          <a:lstStyle/>
          <a:p>
            <a:pPr marL="0" indent="0">
              <a:buNone/>
            </a:pPr>
            <a:r>
              <a:rPr lang="en-US" sz="1050" b="1" dirty="0">
                <a:solidFill>
                  <a:srgbClr val="FFFFFF"/>
                </a:solidFill>
                <a:latin typeface="Courier New" pitchFamily="34" charset="0"/>
                <a:ea typeface="Courier New" pitchFamily="34" charset="-122"/>
                <a:cs typeface="Courier New" pitchFamily="34" charset="-120"/>
              </a:rPr>
              <a:t>StripePaymentProcessor</a:t>
            </a:r>
            <a:endParaRPr lang="en-US" sz="1050" dirty="0"/>
          </a:p>
        </p:txBody>
      </p:sp>
      <p:sp>
        <p:nvSpPr>
          <p:cNvPr id="27" name="Text 25"/>
          <p:cNvSpPr txBox="1"/>
          <p:nvPr/>
        </p:nvSpPr>
        <p:spPr>
          <a:xfrm>
            <a:off x="7424928" y="2542032"/>
            <a:ext cx="2889504" cy="256032"/>
          </a:xfrm>
          <a:prstGeom prst="rect">
            <a:avLst/>
          </a:prstGeom>
          <a:noFill/>
          <a:ln/>
        </p:spPr>
        <p:txBody>
          <a:bodyPr wrap="square" lIns="0" tIns="0" rIns="0" bIns="0" rtlCol="0" anchor="ctr"/>
          <a:lstStyle/>
          <a:p>
            <a:pPr marL="0" indent="0">
              <a:buNone/>
            </a:pPr>
            <a:r>
              <a:rPr lang="en-US" sz="800" i="1" dirty="0">
                <a:solidFill>
                  <a:srgbClr val="CADCFC"/>
                </a:solidFill>
                <a:latin typeface="Calibri" pitchFamily="34" charset="0"/>
                <a:ea typeface="Calibri" pitchFamily="34" charset="-122"/>
                <a:cs typeface="Calibri" pitchFamily="34" charset="-120"/>
              </a:rPr>
              <a:t>-&gt; new processors added without touching OrderService</a:t>
            </a:r>
            <a:endParaRPr lang="en-US" sz="800" dirty="0"/>
          </a:p>
        </p:txBody>
      </p:sp>
      <p:sp>
        <p:nvSpPr>
          <p:cNvPr id="28" name="Text 26"/>
          <p:cNvSpPr txBox="1"/>
          <p:nvPr/>
        </p:nvSpPr>
        <p:spPr>
          <a:xfrm>
            <a:off x="6784848" y="2414016"/>
            <a:ext cx="309067" cy="237744"/>
          </a:xfrm>
          <a:prstGeom prst="rect">
            <a:avLst/>
          </a:prstGeom>
          <a:noFill/>
          <a:ln/>
        </p:spPr>
        <p:txBody>
          <a:bodyPr wrap="square" lIns="0" tIns="0" rIns="0" bIns="0" rtlCol="0" anchor="ctr"/>
          <a:lstStyle/>
          <a:p>
            <a:pPr marL="0" indent="0" algn="ctr">
              <a:buNone/>
            </a:pPr>
            <a:r>
              <a:rPr lang="en-US" sz="1200" b="1" dirty="0">
                <a:solidFill>
                  <a:srgbClr val="3B4A8C"/>
                </a:solidFill>
              </a:rPr>
              <a:t>→</a:t>
            </a:r>
            <a:endParaRPr lang="en-US" sz="1200" dirty="0"/>
          </a:p>
        </p:txBody>
      </p:sp>
      <p:sp>
        <p:nvSpPr>
          <p:cNvPr id="29" name="Shape 27"/>
          <p:cNvSpPr/>
          <p:nvPr/>
        </p:nvSpPr>
        <p:spPr>
          <a:xfrm>
            <a:off x="7315200" y="2944368"/>
            <a:ext cx="3108960" cy="566928"/>
          </a:xfrm>
          <a:prstGeom prst="roundRect">
            <a:avLst>
              <a:gd name="adj" fmla="val 9677"/>
            </a:avLst>
          </a:prstGeom>
          <a:solidFill>
            <a:srgbClr val="1E2761"/>
          </a:solidFill>
          <a:ln/>
        </p:spPr>
        <p:txBody>
          <a:bodyPr/>
          <a:lstStyle/>
          <a:p>
            <a:endParaRPr lang="en-US"/>
          </a:p>
        </p:txBody>
      </p:sp>
      <p:sp>
        <p:nvSpPr>
          <p:cNvPr id="30" name="Text 28"/>
          <p:cNvSpPr txBox="1"/>
          <p:nvPr/>
        </p:nvSpPr>
        <p:spPr>
          <a:xfrm>
            <a:off x="7424928" y="2980944"/>
            <a:ext cx="2889504" cy="256032"/>
          </a:xfrm>
          <a:prstGeom prst="rect">
            <a:avLst/>
          </a:prstGeom>
          <a:noFill/>
          <a:ln/>
        </p:spPr>
        <p:txBody>
          <a:bodyPr wrap="square" lIns="0" tIns="0" rIns="0" bIns="0" rtlCol="0" anchor="ctr"/>
          <a:lstStyle/>
          <a:p>
            <a:pPr marL="0" indent="0">
              <a:buNone/>
            </a:pPr>
            <a:r>
              <a:rPr lang="en-US" sz="1050" b="1" dirty="0">
                <a:solidFill>
                  <a:srgbClr val="FFFFFF"/>
                </a:solidFill>
                <a:latin typeface="Courier New" pitchFamily="34" charset="0"/>
                <a:ea typeface="Courier New" pitchFamily="34" charset="-122"/>
                <a:cs typeface="Courier New" pitchFamily="34" charset="-120"/>
              </a:rPr>
              <a:t>EmailObserver + SmsObserver</a:t>
            </a:r>
            <a:endParaRPr lang="en-US" sz="1050" dirty="0"/>
          </a:p>
        </p:txBody>
      </p:sp>
      <p:sp>
        <p:nvSpPr>
          <p:cNvPr id="31" name="Text 29"/>
          <p:cNvSpPr txBox="1"/>
          <p:nvPr/>
        </p:nvSpPr>
        <p:spPr>
          <a:xfrm>
            <a:off x="7424928" y="3236976"/>
            <a:ext cx="2889504" cy="256032"/>
          </a:xfrm>
          <a:prstGeom prst="rect">
            <a:avLst/>
          </a:prstGeom>
          <a:noFill/>
          <a:ln/>
        </p:spPr>
        <p:txBody>
          <a:bodyPr wrap="square" lIns="0" tIns="0" rIns="0" bIns="0" rtlCol="0" anchor="ctr"/>
          <a:lstStyle/>
          <a:p>
            <a:pPr marL="0" indent="0">
              <a:buNone/>
            </a:pPr>
            <a:r>
              <a:rPr lang="en-US" sz="800" i="1" dirty="0">
                <a:solidFill>
                  <a:srgbClr val="CADCFC"/>
                </a:solidFill>
                <a:latin typeface="Calibri" pitchFamily="34" charset="0"/>
                <a:ea typeface="Calibri" pitchFamily="34" charset="-122"/>
                <a:cs typeface="Calibri" pitchFamily="34" charset="-120"/>
              </a:rPr>
              <a:t>-&gt; new channels subscribe without code changes</a:t>
            </a:r>
            <a:endParaRPr lang="en-US" sz="800" dirty="0"/>
          </a:p>
        </p:txBody>
      </p:sp>
      <p:sp>
        <p:nvSpPr>
          <p:cNvPr id="32" name="Text 30"/>
          <p:cNvSpPr txBox="1"/>
          <p:nvPr/>
        </p:nvSpPr>
        <p:spPr>
          <a:xfrm>
            <a:off x="6784848" y="3108960"/>
            <a:ext cx="309067" cy="237744"/>
          </a:xfrm>
          <a:prstGeom prst="rect">
            <a:avLst/>
          </a:prstGeom>
          <a:noFill/>
          <a:ln/>
        </p:spPr>
        <p:txBody>
          <a:bodyPr wrap="square" lIns="0" tIns="0" rIns="0" bIns="0" rtlCol="0" anchor="ctr"/>
          <a:lstStyle/>
          <a:p>
            <a:pPr marL="0" indent="0" algn="ctr">
              <a:buNone/>
            </a:pPr>
            <a:r>
              <a:rPr lang="en-US" sz="1200" b="1" dirty="0">
                <a:solidFill>
                  <a:srgbClr val="3B4A8C"/>
                </a:solidFill>
              </a:rPr>
              <a:t>→</a:t>
            </a:r>
            <a:endParaRPr lang="en-US" sz="1200" dirty="0"/>
          </a:p>
        </p:txBody>
      </p:sp>
      <p:sp>
        <p:nvSpPr>
          <p:cNvPr id="33" name="Shape 31"/>
          <p:cNvSpPr/>
          <p:nvPr/>
        </p:nvSpPr>
        <p:spPr>
          <a:xfrm>
            <a:off x="7315200" y="3639312"/>
            <a:ext cx="3108960" cy="566928"/>
          </a:xfrm>
          <a:prstGeom prst="roundRect">
            <a:avLst>
              <a:gd name="adj" fmla="val 9677"/>
            </a:avLst>
          </a:prstGeom>
          <a:solidFill>
            <a:srgbClr val="1E2761"/>
          </a:solidFill>
          <a:ln/>
        </p:spPr>
        <p:txBody>
          <a:bodyPr/>
          <a:lstStyle/>
          <a:p>
            <a:endParaRPr lang="en-US"/>
          </a:p>
        </p:txBody>
      </p:sp>
      <p:sp>
        <p:nvSpPr>
          <p:cNvPr id="34" name="Text 32"/>
          <p:cNvSpPr txBox="1"/>
          <p:nvPr/>
        </p:nvSpPr>
        <p:spPr>
          <a:xfrm>
            <a:off x="7424928" y="3675888"/>
            <a:ext cx="2889504" cy="256032"/>
          </a:xfrm>
          <a:prstGeom prst="rect">
            <a:avLst/>
          </a:prstGeom>
          <a:noFill/>
          <a:ln/>
        </p:spPr>
        <p:txBody>
          <a:bodyPr wrap="square" lIns="0" tIns="0" rIns="0" bIns="0" rtlCol="0" anchor="ctr"/>
          <a:lstStyle/>
          <a:p>
            <a:pPr marL="0" indent="0">
              <a:buNone/>
            </a:pPr>
            <a:r>
              <a:rPr lang="en-US" sz="1050" b="1" dirty="0">
                <a:solidFill>
                  <a:srgbClr val="FFFFFF"/>
                </a:solidFill>
                <a:latin typeface="Courier New" pitchFamily="34" charset="0"/>
                <a:ea typeface="Courier New" pitchFamily="34" charset="-122"/>
                <a:cs typeface="Courier New" pitchFamily="34" charset="-120"/>
              </a:rPr>
              <a:t>SeasonalPromotionStrategy</a:t>
            </a:r>
            <a:endParaRPr lang="en-US" sz="1050" dirty="0"/>
          </a:p>
        </p:txBody>
      </p:sp>
      <p:sp>
        <p:nvSpPr>
          <p:cNvPr id="35" name="Text 33"/>
          <p:cNvSpPr txBox="1"/>
          <p:nvPr/>
        </p:nvSpPr>
        <p:spPr>
          <a:xfrm>
            <a:off x="7424928" y="3931920"/>
            <a:ext cx="2889504" cy="256032"/>
          </a:xfrm>
          <a:prstGeom prst="rect">
            <a:avLst/>
          </a:prstGeom>
          <a:noFill/>
          <a:ln/>
        </p:spPr>
        <p:txBody>
          <a:bodyPr wrap="square" lIns="0" tIns="0" rIns="0" bIns="0" rtlCol="0" anchor="ctr"/>
          <a:lstStyle/>
          <a:p>
            <a:pPr marL="0" indent="0">
              <a:buNone/>
            </a:pPr>
            <a:r>
              <a:rPr lang="en-US" sz="800" i="1" dirty="0">
                <a:solidFill>
                  <a:srgbClr val="CADCFC"/>
                </a:solidFill>
                <a:latin typeface="Calibri" pitchFamily="34" charset="0"/>
                <a:ea typeface="Calibri" pitchFamily="34" charset="-122"/>
                <a:cs typeface="Calibri" pitchFamily="34" charset="-120"/>
              </a:rPr>
              <a:t>-&gt; new promotion types added without touching PromotionService</a:t>
            </a:r>
            <a:endParaRPr lang="en-US" sz="800" dirty="0"/>
          </a:p>
        </p:txBody>
      </p:sp>
      <p:sp>
        <p:nvSpPr>
          <p:cNvPr id="36" name="Text 34"/>
          <p:cNvSpPr txBox="1"/>
          <p:nvPr/>
        </p:nvSpPr>
        <p:spPr>
          <a:xfrm>
            <a:off x="6784848" y="3803904"/>
            <a:ext cx="309067" cy="237744"/>
          </a:xfrm>
          <a:prstGeom prst="rect">
            <a:avLst/>
          </a:prstGeom>
          <a:noFill/>
          <a:ln/>
        </p:spPr>
        <p:txBody>
          <a:bodyPr wrap="square" lIns="0" tIns="0" rIns="0" bIns="0" rtlCol="0" anchor="ctr"/>
          <a:lstStyle/>
          <a:p>
            <a:pPr marL="0" indent="0" algn="ctr">
              <a:buNone/>
            </a:pPr>
            <a:r>
              <a:rPr lang="en-US" sz="1200" b="1" dirty="0">
                <a:solidFill>
                  <a:srgbClr val="3B4A8C"/>
                </a:solidFill>
              </a:rPr>
              <a:t>→</a:t>
            </a:r>
            <a:endParaRPr lang="en-US" sz="1200" dirty="0"/>
          </a:p>
        </p:txBody>
      </p:sp>
      <p:sp>
        <p:nvSpPr>
          <p:cNvPr id="37" name="Shape 35"/>
          <p:cNvSpPr/>
          <p:nvPr/>
        </p:nvSpPr>
        <p:spPr>
          <a:xfrm>
            <a:off x="548640" y="4480560"/>
            <a:ext cx="11094415" cy="1417320"/>
          </a:xfrm>
          <a:prstGeom prst="rect">
            <a:avLst/>
          </a:prstGeom>
          <a:solidFill>
            <a:srgbClr val="E9EFFC"/>
          </a:solidFill>
          <a:ln/>
        </p:spPr>
        <p:txBody>
          <a:bodyPr/>
          <a:lstStyle/>
          <a:p>
            <a:endParaRPr lang="en-US"/>
          </a:p>
        </p:txBody>
      </p:sp>
      <p:sp>
        <p:nvSpPr>
          <p:cNvPr id="38" name="Text 36"/>
          <p:cNvSpPr txBox="1"/>
          <p:nvPr/>
        </p:nvSpPr>
        <p:spPr>
          <a:xfrm>
            <a:off x="777240" y="4617720"/>
            <a:ext cx="10637215" cy="1188720"/>
          </a:xfrm>
          <a:prstGeom prst="rect">
            <a:avLst/>
          </a:prstGeom>
          <a:noFill/>
          <a:ln/>
        </p:spPr>
        <p:txBody>
          <a:bodyPr wrap="square" lIns="0" tIns="0" rIns="0" bIns="0" rtlCol="0" anchor="ctr"/>
          <a:lstStyle/>
          <a:p>
            <a:pPr marL="0" indent="0">
              <a:buNone/>
            </a:pPr>
            <a:r>
              <a:rPr lang="en-US" sz="1150" dirty="0">
                <a:solidFill>
                  <a:srgbClr val="1E2761"/>
                </a:solidFill>
                <a:latin typeface="Calibri" pitchFamily="34" charset="0"/>
                <a:ea typeface="Calibri" pitchFamily="34" charset="-122"/>
                <a:cs typeface="Calibri" pitchFamily="34" charset="-120"/>
              </a:rPr>
              <a:t>The four interfaces above are one representative example per module, not the full list; every module depends on an abstraction rather than a concrete class, and the composition root performs the wiring at start-up. This means a repository can be replaced as load grows, a new payment method or promotion type can be added, and a new notification channel can subscribe, all as new implementations rather than changes to OrderService, PromotionService or any other existing class, in line with the open or closed principle.</a:t>
            </a:r>
            <a:endParaRPr lang="en-US" sz="1150" dirty="0"/>
          </a:p>
        </p:txBody>
      </p:sp>
      <p:sp>
        <p:nvSpPr>
          <p:cNvPr id="39" name="Text 37"/>
          <p:cNvSpPr txBox="1"/>
          <p:nvPr/>
        </p:nvSpPr>
        <p:spPr>
          <a:xfrm>
            <a:off x="548640" y="6565392"/>
            <a:ext cx="7772400" cy="256032"/>
          </a:xfrm>
          <a:prstGeom prst="rect">
            <a:avLst/>
          </a:prstGeom>
          <a:noFill/>
          <a:ln/>
        </p:spPr>
        <p:txBody>
          <a:bodyPr wrap="square" lIns="0" tIns="0" rIns="0" bIns="0" rtlCol="0" anchor="ctr"/>
          <a:lstStyle/>
          <a:p>
            <a:pPr marL="0" indent="0">
              <a:buNone/>
            </a:pPr>
            <a:r>
              <a:rPr lang="en-US" sz="900" dirty="0">
                <a:solidFill>
                  <a:srgbClr val="5A6B8C"/>
                </a:solidFill>
                <a:latin typeface="Calibri" pitchFamily="34" charset="0"/>
                <a:ea typeface="Calibri" pitchFamily="34" charset="-122"/>
                <a:cs typeface="Calibri" pitchFamily="34" charset="-120"/>
              </a:rPr>
              <a:t>AOODP25_PCOM7E, Unit 9 Case Study, ShopEase Architecture</a:t>
            </a:r>
            <a:endParaRPr lang="en-US" sz="900" dirty="0"/>
          </a:p>
        </p:txBody>
      </p:sp>
      <p:sp>
        <p:nvSpPr>
          <p:cNvPr id="40" name="Text 38"/>
          <p:cNvSpPr txBox="1"/>
          <p:nvPr/>
        </p:nvSpPr>
        <p:spPr>
          <a:xfrm>
            <a:off x="11185855" y="6565392"/>
            <a:ext cx="457200" cy="256032"/>
          </a:xfrm>
          <a:prstGeom prst="rect">
            <a:avLst/>
          </a:prstGeom>
          <a:noFill/>
          <a:ln/>
        </p:spPr>
        <p:txBody>
          <a:bodyPr wrap="square" lIns="0" tIns="0" rIns="0" bIns="0" rtlCol="0" anchor="ctr"/>
          <a:lstStyle/>
          <a:p>
            <a:pPr marL="0" indent="0" algn="r">
              <a:buNone/>
            </a:pPr>
            <a:r>
              <a:rPr lang="en-US" sz="900" dirty="0">
                <a:solidFill>
                  <a:srgbClr val="5A6B8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DATABASE DESIGN</a:t>
            </a:r>
            <a:endParaRPr lang="en-US" sz="1200" dirty="0"/>
          </a:p>
        </p:txBody>
      </p:sp>
      <p:sp>
        <p:nvSpPr>
          <p:cNvPr id="3" name="Text 1"/>
          <p:cNvSpPr txBox="1"/>
          <p:nvPr/>
        </p:nvSpPr>
        <p:spPr>
          <a:xfrm>
            <a:off x="548640" y="566928"/>
            <a:ext cx="11094415"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Access Layer</a:t>
            </a:r>
            <a:endParaRPr lang="en-US" sz="2800" dirty="0"/>
          </a:p>
        </p:txBody>
      </p:sp>
      <p:sp>
        <p:nvSpPr>
          <p:cNvPr id="4" name="Shape 2"/>
          <p:cNvSpPr/>
          <p:nvPr/>
        </p:nvSpPr>
        <p:spPr>
          <a:xfrm>
            <a:off x="548640" y="1371600"/>
            <a:ext cx="3429000" cy="1188720"/>
          </a:xfrm>
          <a:prstGeom prst="roundRect">
            <a:avLst>
              <a:gd name="adj" fmla="val 5385"/>
            </a:avLst>
          </a:prstGeom>
          <a:solidFill>
            <a:srgbClr val="1E2761"/>
          </a:solidFill>
          <a:ln/>
        </p:spPr>
        <p:txBody>
          <a:bodyPr/>
          <a:lstStyle/>
          <a:p>
            <a:endParaRPr lang="en-US"/>
          </a:p>
        </p:txBody>
      </p:sp>
      <p:sp>
        <p:nvSpPr>
          <p:cNvPr id="5" name="Text 3"/>
          <p:cNvSpPr txBox="1"/>
          <p:nvPr/>
        </p:nvSpPr>
        <p:spPr>
          <a:xfrm>
            <a:off x="731520" y="1536192"/>
            <a:ext cx="3063240" cy="365760"/>
          </a:xfrm>
          <a:prstGeom prst="rect">
            <a:avLst/>
          </a:prstGeom>
          <a:noFill/>
          <a:ln/>
        </p:spPr>
        <p:txBody>
          <a:bodyPr wrap="square" lIns="0" tIns="0" rIns="0" bIns="0" rtlCol="0" anchor="ctr"/>
          <a:lstStyle/>
          <a:p>
            <a:pPr marL="0" indent="0">
              <a:buNone/>
            </a:pPr>
            <a:r>
              <a:rPr lang="en-US" sz="1400" b="1" dirty="0">
                <a:solidFill>
                  <a:srgbClr val="FFFFFF"/>
                </a:solidFill>
                <a:latin typeface="Courier New" pitchFamily="34" charset="0"/>
                <a:ea typeface="Courier New" pitchFamily="34" charset="-122"/>
                <a:cs typeface="Courier New" pitchFamily="34" charset="-120"/>
              </a:rPr>
              <a:t>UserRepository</a:t>
            </a:r>
            <a:endParaRPr lang="en-US" sz="1400" dirty="0"/>
          </a:p>
        </p:txBody>
      </p:sp>
      <p:sp>
        <p:nvSpPr>
          <p:cNvPr id="6" name="Text 4"/>
          <p:cNvSpPr txBox="1"/>
          <p:nvPr/>
        </p:nvSpPr>
        <p:spPr>
          <a:xfrm>
            <a:off x="731520" y="1901952"/>
            <a:ext cx="3063240" cy="274320"/>
          </a:xfrm>
          <a:prstGeom prst="rect">
            <a:avLst/>
          </a:prstGeom>
          <a:noFill/>
          <a:ln/>
        </p:spPr>
        <p:txBody>
          <a:bodyPr wrap="square" lIns="0" tIns="0" rIns="0" bIns="0" rtlCol="0" anchor="ctr"/>
          <a:lstStyle/>
          <a:p>
            <a:pPr marL="0" indent="0">
              <a:buNone/>
            </a:pPr>
            <a:r>
              <a:rPr lang="en-US" sz="1050" i="1" dirty="0">
                <a:solidFill>
                  <a:srgbClr val="CADCFC"/>
                </a:solidFill>
                <a:latin typeface="Calibri" pitchFamily="34" charset="0"/>
                <a:ea typeface="Calibri" pitchFamily="34" charset="-122"/>
                <a:cs typeface="Calibri" pitchFamily="34" charset="-120"/>
              </a:rPr>
              <a:t>extends CrudRepository&lt;T, Long&gt;</a:t>
            </a:r>
            <a:endParaRPr lang="en-US" sz="1050" dirty="0"/>
          </a:p>
        </p:txBody>
      </p:sp>
      <p:sp>
        <p:nvSpPr>
          <p:cNvPr id="7" name="Text 5"/>
          <p:cNvSpPr txBox="1"/>
          <p:nvPr/>
        </p:nvSpPr>
        <p:spPr>
          <a:xfrm>
            <a:off x="731520" y="2212848"/>
            <a:ext cx="3063240" cy="274320"/>
          </a:xfrm>
          <a:prstGeom prst="rect">
            <a:avLst/>
          </a:prstGeom>
          <a:noFill/>
          <a:ln/>
        </p:spPr>
        <p:txBody>
          <a:bodyPr wrap="square" lIns="0" tIns="0" rIns="0" bIns="0" rtlCol="0" anchor="ctr"/>
          <a:lstStyle/>
          <a:p>
            <a:pPr marL="0" indent="0">
              <a:buNone/>
            </a:pPr>
            <a:r>
              <a:rPr lang="en-US" sz="1000" b="1" dirty="0">
                <a:solidFill>
                  <a:srgbClr val="E8A33D"/>
                </a:solidFill>
                <a:latin typeface="Calibri" pitchFamily="34" charset="0"/>
                <a:ea typeface="Calibri" pitchFamily="34" charset="-122"/>
                <a:cs typeface="Calibri" pitchFamily="34" charset="-120"/>
              </a:rPr>
              <a:t>User aggregate</a:t>
            </a:r>
            <a:endParaRPr lang="en-US" sz="1000" dirty="0"/>
          </a:p>
        </p:txBody>
      </p:sp>
      <p:sp>
        <p:nvSpPr>
          <p:cNvPr id="8" name="Text 6"/>
          <p:cNvSpPr txBox="1"/>
          <p:nvPr/>
        </p:nvSpPr>
        <p:spPr>
          <a:xfrm>
            <a:off x="2153412" y="2578608"/>
            <a:ext cx="219456" cy="241402"/>
          </a:xfrm>
          <a:prstGeom prst="rect">
            <a:avLst/>
          </a:prstGeom>
          <a:noFill/>
          <a:ln/>
        </p:spPr>
        <p:txBody>
          <a:bodyPr wrap="square" lIns="0" tIns="0" rIns="0" bIns="0" rtlCol="0" anchor="ctr"/>
          <a:lstStyle/>
          <a:p>
            <a:pPr marL="0" indent="0" algn="ctr">
              <a:buNone/>
            </a:pPr>
            <a:r>
              <a:rPr lang="en-US" sz="1100" b="1" dirty="0">
                <a:solidFill>
                  <a:srgbClr val="3B4A8C"/>
                </a:solidFill>
              </a:rPr>
              <a:t>↓</a:t>
            </a:r>
            <a:endParaRPr lang="en-US" sz="1100" dirty="0"/>
          </a:p>
        </p:txBody>
      </p:sp>
      <p:sp>
        <p:nvSpPr>
          <p:cNvPr id="9" name="Shape 7"/>
          <p:cNvSpPr/>
          <p:nvPr/>
        </p:nvSpPr>
        <p:spPr>
          <a:xfrm>
            <a:off x="4288536" y="1371600"/>
            <a:ext cx="3429000" cy="1188720"/>
          </a:xfrm>
          <a:prstGeom prst="roundRect">
            <a:avLst>
              <a:gd name="adj" fmla="val 5385"/>
            </a:avLst>
          </a:prstGeom>
          <a:solidFill>
            <a:srgbClr val="1E2761"/>
          </a:solidFill>
          <a:ln/>
        </p:spPr>
        <p:txBody>
          <a:bodyPr/>
          <a:lstStyle/>
          <a:p>
            <a:endParaRPr lang="en-US"/>
          </a:p>
        </p:txBody>
      </p:sp>
      <p:sp>
        <p:nvSpPr>
          <p:cNvPr id="10" name="Text 8"/>
          <p:cNvSpPr txBox="1"/>
          <p:nvPr/>
        </p:nvSpPr>
        <p:spPr>
          <a:xfrm>
            <a:off x="4471416" y="1536192"/>
            <a:ext cx="3063240" cy="365760"/>
          </a:xfrm>
          <a:prstGeom prst="rect">
            <a:avLst/>
          </a:prstGeom>
          <a:noFill/>
          <a:ln/>
        </p:spPr>
        <p:txBody>
          <a:bodyPr wrap="square" lIns="0" tIns="0" rIns="0" bIns="0" rtlCol="0" anchor="ctr"/>
          <a:lstStyle/>
          <a:p>
            <a:pPr marL="0" indent="0">
              <a:buNone/>
            </a:pPr>
            <a:r>
              <a:rPr lang="en-US" sz="1400" b="1" dirty="0">
                <a:solidFill>
                  <a:srgbClr val="FFFFFF"/>
                </a:solidFill>
                <a:latin typeface="Courier New" pitchFamily="34" charset="0"/>
                <a:ea typeface="Courier New" pitchFamily="34" charset="-122"/>
                <a:cs typeface="Courier New" pitchFamily="34" charset="-120"/>
              </a:rPr>
              <a:t>ProductRepository</a:t>
            </a:r>
            <a:endParaRPr lang="en-US" sz="1400" dirty="0"/>
          </a:p>
        </p:txBody>
      </p:sp>
      <p:sp>
        <p:nvSpPr>
          <p:cNvPr id="11" name="Text 9"/>
          <p:cNvSpPr txBox="1"/>
          <p:nvPr/>
        </p:nvSpPr>
        <p:spPr>
          <a:xfrm>
            <a:off x="4471416" y="1901952"/>
            <a:ext cx="3063240" cy="274320"/>
          </a:xfrm>
          <a:prstGeom prst="rect">
            <a:avLst/>
          </a:prstGeom>
          <a:noFill/>
          <a:ln/>
        </p:spPr>
        <p:txBody>
          <a:bodyPr wrap="square" lIns="0" tIns="0" rIns="0" bIns="0" rtlCol="0" anchor="ctr"/>
          <a:lstStyle/>
          <a:p>
            <a:pPr marL="0" indent="0">
              <a:buNone/>
            </a:pPr>
            <a:r>
              <a:rPr lang="en-US" sz="1050" i="1" dirty="0">
                <a:solidFill>
                  <a:srgbClr val="CADCFC"/>
                </a:solidFill>
                <a:latin typeface="Calibri" pitchFamily="34" charset="0"/>
                <a:ea typeface="Calibri" pitchFamily="34" charset="-122"/>
                <a:cs typeface="Calibri" pitchFamily="34" charset="-120"/>
              </a:rPr>
              <a:t>extends CrudRepository&lt;T, Long&gt;</a:t>
            </a:r>
            <a:endParaRPr lang="en-US" sz="1050" dirty="0"/>
          </a:p>
        </p:txBody>
      </p:sp>
      <p:sp>
        <p:nvSpPr>
          <p:cNvPr id="12" name="Text 10"/>
          <p:cNvSpPr txBox="1"/>
          <p:nvPr/>
        </p:nvSpPr>
        <p:spPr>
          <a:xfrm>
            <a:off x="4471416" y="2212848"/>
            <a:ext cx="3063240" cy="274320"/>
          </a:xfrm>
          <a:prstGeom prst="rect">
            <a:avLst/>
          </a:prstGeom>
          <a:noFill/>
          <a:ln/>
        </p:spPr>
        <p:txBody>
          <a:bodyPr wrap="square" lIns="0" tIns="0" rIns="0" bIns="0" rtlCol="0" anchor="ctr"/>
          <a:lstStyle/>
          <a:p>
            <a:pPr marL="0" indent="0">
              <a:buNone/>
            </a:pPr>
            <a:r>
              <a:rPr lang="en-US" sz="1000" b="1" dirty="0">
                <a:solidFill>
                  <a:srgbClr val="E8A33D"/>
                </a:solidFill>
                <a:latin typeface="Calibri" pitchFamily="34" charset="0"/>
                <a:ea typeface="Calibri" pitchFamily="34" charset="-122"/>
                <a:cs typeface="Calibri" pitchFamily="34" charset="-120"/>
              </a:rPr>
              <a:t>Product &amp; stock aggregate (cached)</a:t>
            </a:r>
            <a:endParaRPr lang="en-US" sz="1000" dirty="0"/>
          </a:p>
        </p:txBody>
      </p:sp>
      <p:sp>
        <p:nvSpPr>
          <p:cNvPr id="13" name="Text 11"/>
          <p:cNvSpPr txBox="1"/>
          <p:nvPr/>
        </p:nvSpPr>
        <p:spPr>
          <a:xfrm>
            <a:off x="5893308" y="2578608"/>
            <a:ext cx="219456" cy="241402"/>
          </a:xfrm>
          <a:prstGeom prst="rect">
            <a:avLst/>
          </a:prstGeom>
          <a:noFill/>
          <a:ln/>
        </p:spPr>
        <p:txBody>
          <a:bodyPr wrap="square" lIns="0" tIns="0" rIns="0" bIns="0" rtlCol="0" anchor="ctr"/>
          <a:lstStyle/>
          <a:p>
            <a:pPr marL="0" indent="0" algn="ctr">
              <a:buNone/>
            </a:pPr>
            <a:r>
              <a:rPr lang="en-US" sz="1100" b="1" dirty="0">
                <a:solidFill>
                  <a:srgbClr val="3B4A8C"/>
                </a:solidFill>
              </a:rPr>
              <a:t>↓</a:t>
            </a:r>
            <a:endParaRPr lang="en-US" sz="1100" dirty="0"/>
          </a:p>
        </p:txBody>
      </p:sp>
      <p:sp>
        <p:nvSpPr>
          <p:cNvPr id="14" name="Shape 12"/>
          <p:cNvSpPr/>
          <p:nvPr/>
        </p:nvSpPr>
        <p:spPr>
          <a:xfrm>
            <a:off x="8028432" y="1371600"/>
            <a:ext cx="3429000" cy="1188720"/>
          </a:xfrm>
          <a:prstGeom prst="roundRect">
            <a:avLst>
              <a:gd name="adj" fmla="val 5385"/>
            </a:avLst>
          </a:prstGeom>
          <a:solidFill>
            <a:srgbClr val="1E2761"/>
          </a:solidFill>
          <a:ln/>
        </p:spPr>
        <p:txBody>
          <a:bodyPr/>
          <a:lstStyle/>
          <a:p>
            <a:endParaRPr lang="en-US"/>
          </a:p>
        </p:txBody>
      </p:sp>
      <p:sp>
        <p:nvSpPr>
          <p:cNvPr id="15" name="Text 13"/>
          <p:cNvSpPr txBox="1"/>
          <p:nvPr/>
        </p:nvSpPr>
        <p:spPr>
          <a:xfrm>
            <a:off x="8211312" y="1536192"/>
            <a:ext cx="3063240" cy="365760"/>
          </a:xfrm>
          <a:prstGeom prst="rect">
            <a:avLst/>
          </a:prstGeom>
          <a:noFill/>
          <a:ln/>
        </p:spPr>
        <p:txBody>
          <a:bodyPr wrap="square" lIns="0" tIns="0" rIns="0" bIns="0" rtlCol="0" anchor="ctr"/>
          <a:lstStyle/>
          <a:p>
            <a:pPr marL="0" indent="0">
              <a:buNone/>
            </a:pPr>
            <a:r>
              <a:rPr lang="en-US" sz="1400" b="1" dirty="0">
                <a:solidFill>
                  <a:srgbClr val="FFFFFF"/>
                </a:solidFill>
                <a:latin typeface="Courier New" pitchFamily="34" charset="0"/>
                <a:ea typeface="Courier New" pitchFamily="34" charset="-122"/>
                <a:cs typeface="Courier New" pitchFamily="34" charset="-120"/>
              </a:rPr>
              <a:t>OrderRepository</a:t>
            </a:r>
            <a:endParaRPr lang="en-US" sz="1400" dirty="0"/>
          </a:p>
        </p:txBody>
      </p:sp>
      <p:sp>
        <p:nvSpPr>
          <p:cNvPr id="16" name="Text 14"/>
          <p:cNvSpPr txBox="1"/>
          <p:nvPr/>
        </p:nvSpPr>
        <p:spPr>
          <a:xfrm>
            <a:off x="8211312" y="1901952"/>
            <a:ext cx="3063240" cy="274320"/>
          </a:xfrm>
          <a:prstGeom prst="rect">
            <a:avLst/>
          </a:prstGeom>
          <a:noFill/>
          <a:ln/>
        </p:spPr>
        <p:txBody>
          <a:bodyPr wrap="square" lIns="0" tIns="0" rIns="0" bIns="0" rtlCol="0" anchor="ctr"/>
          <a:lstStyle/>
          <a:p>
            <a:pPr marL="0" indent="0">
              <a:buNone/>
            </a:pPr>
            <a:r>
              <a:rPr lang="en-US" sz="1050" i="1" dirty="0">
                <a:solidFill>
                  <a:srgbClr val="CADCFC"/>
                </a:solidFill>
                <a:latin typeface="Calibri" pitchFamily="34" charset="0"/>
                <a:ea typeface="Calibri" pitchFamily="34" charset="-122"/>
                <a:cs typeface="Calibri" pitchFamily="34" charset="-120"/>
              </a:rPr>
              <a:t>extends CrudRepository&lt;T, Long&gt;</a:t>
            </a:r>
            <a:endParaRPr lang="en-US" sz="1050" dirty="0"/>
          </a:p>
        </p:txBody>
      </p:sp>
      <p:sp>
        <p:nvSpPr>
          <p:cNvPr id="17" name="Text 15"/>
          <p:cNvSpPr txBox="1"/>
          <p:nvPr/>
        </p:nvSpPr>
        <p:spPr>
          <a:xfrm>
            <a:off x="8211312" y="2212848"/>
            <a:ext cx="3063240" cy="274320"/>
          </a:xfrm>
          <a:prstGeom prst="rect">
            <a:avLst/>
          </a:prstGeom>
          <a:noFill/>
          <a:ln/>
        </p:spPr>
        <p:txBody>
          <a:bodyPr wrap="square" lIns="0" tIns="0" rIns="0" bIns="0" rtlCol="0" anchor="ctr"/>
          <a:lstStyle/>
          <a:p>
            <a:pPr marL="0" indent="0">
              <a:buNone/>
            </a:pPr>
            <a:r>
              <a:rPr lang="en-US" sz="1000" b="1" dirty="0">
                <a:solidFill>
                  <a:srgbClr val="E8A33D"/>
                </a:solidFill>
                <a:latin typeface="Calibri" pitchFamily="34" charset="0"/>
                <a:ea typeface="Calibri" pitchFamily="34" charset="-122"/>
                <a:cs typeface="Calibri" pitchFamily="34" charset="-120"/>
              </a:rPr>
              <a:t>Order aggregate (not cached)</a:t>
            </a:r>
            <a:endParaRPr lang="en-US" sz="1000" dirty="0"/>
          </a:p>
        </p:txBody>
      </p:sp>
      <p:sp>
        <p:nvSpPr>
          <p:cNvPr id="18" name="Text 16"/>
          <p:cNvSpPr txBox="1"/>
          <p:nvPr/>
        </p:nvSpPr>
        <p:spPr>
          <a:xfrm>
            <a:off x="9633204" y="2578608"/>
            <a:ext cx="219456" cy="241402"/>
          </a:xfrm>
          <a:prstGeom prst="rect">
            <a:avLst/>
          </a:prstGeom>
          <a:noFill/>
          <a:ln/>
        </p:spPr>
        <p:txBody>
          <a:bodyPr wrap="square" lIns="0" tIns="0" rIns="0" bIns="0" rtlCol="0" anchor="ctr"/>
          <a:lstStyle/>
          <a:p>
            <a:pPr marL="0" indent="0" algn="ctr">
              <a:buNone/>
            </a:pPr>
            <a:r>
              <a:rPr lang="en-US" sz="1100" b="1" dirty="0">
                <a:solidFill>
                  <a:srgbClr val="3B4A8C"/>
                </a:solidFill>
              </a:rPr>
              <a:t>↓</a:t>
            </a:r>
            <a:endParaRPr lang="en-US" sz="1100" dirty="0"/>
          </a:p>
        </p:txBody>
      </p:sp>
      <p:sp>
        <p:nvSpPr>
          <p:cNvPr id="19" name="Shape 17"/>
          <p:cNvSpPr/>
          <p:nvPr/>
        </p:nvSpPr>
        <p:spPr>
          <a:xfrm>
            <a:off x="548640" y="3017520"/>
            <a:ext cx="11094415" cy="822960"/>
          </a:xfrm>
          <a:prstGeom prst="roundRect">
            <a:avLst>
              <a:gd name="adj" fmla="val 7778"/>
            </a:avLst>
          </a:prstGeom>
          <a:solidFill>
            <a:srgbClr val="3B4A8C"/>
          </a:solidFill>
          <a:ln/>
        </p:spPr>
        <p:txBody>
          <a:bodyPr/>
          <a:lstStyle/>
          <a:p>
            <a:endParaRPr lang="en-US"/>
          </a:p>
        </p:txBody>
      </p:sp>
      <p:sp>
        <p:nvSpPr>
          <p:cNvPr id="20" name="Text 18"/>
          <p:cNvSpPr txBox="1"/>
          <p:nvPr/>
        </p:nvSpPr>
        <p:spPr>
          <a:xfrm>
            <a:off x="548640" y="3017520"/>
            <a:ext cx="11094415" cy="8229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Relational Database  (ORM-mapped entities and DAOs)</a:t>
            </a:r>
            <a:endParaRPr lang="en-US" sz="1400" dirty="0"/>
          </a:p>
        </p:txBody>
      </p:sp>
      <p:sp>
        <p:nvSpPr>
          <p:cNvPr id="21" name="Shape 19"/>
          <p:cNvSpPr/>
          <p:nvPr/>
        </p:nvSpPr>
        <p:spPr>
          <a:xfrm>
            <a:off x="731520" y="3282696"/>
            <a:ext cx="2459736" cy="292608"/>
          </a:xfrm>
          <a:prstGeom prst="roundRect">
            <a:avLst>
              <a:gd name="adj" fmla="val 25000"/>
            </a:avLst>
          </a:prstGeom>
          <a:solidFill>
            <a:srgbClr val="E8A33D"/>
          </a:solidFill>
          <a:ln/>
        </p:spPr>
        <p:txBody>
          <a:bodyPr/>
          <a:lstStyle/>
          <a:p>
            <a:endParaRPr lang="en-US"/>
          </a:p>
        </p:txBody>
      </p:sp>
      <p:sp>
        <p:nvSpPr>
          <p:cNvPr id="22" name="Text 20"/>
          <p:cNvSpPr txBox="1"/>
          <p:nvPr/>
        </p:nvSpPr>
        <p:spPr>
          <a:xfrm>
            <a:off x="731520" y="3282696"/>
            <a:ext cx="2459736" cy="292608"/>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Cache-aside (Product only)</a:t>
            </a:r>
            <a:endParaRPr lang="en-US" sz="1050" dirty="0"/>
          </a:p>
        </p:txBody>
      </p:sp>
      <p:sp>
        <p:nvSpPr>
          <p:cNvPr id="23" name="Shape 21"/>
          <p:cNvSpPr/>
          <p:nvPr/>
        </p:nvSpPr>
        <p:spPr>
          <a:xfrm>
            <a:off x="548640" y="4069080"/>
            <a:ext cx="11094415" cy="1463040"/>
          </a:xfrm>
          <a:prstGeom prst="rect">
            <a:avLst/>
          </a:prstGeom>
          <a:solidFill>
            <a:srgbClr val="E9EFFC"/>
          </a:solidFill>
          <a:ln/>
        </p:spPr>
        <p:txBody>
          <a:bodyPr/>
          <a:lstStyle/>
          <a:p>
            <a:endParaRPr lang="en-US"/>
          </a:p>
        </p:txBody>
      </p:sp>
      <p:sp>
        <p:nvSpPr>
          <p:cNvPr id="24" name="Text 22"/>
          <p:cNvSpPr txBox="1"/>
          <p:nvPr/>
        </p:nvSpPr>
        <p:spPr>
          <a:xfrm>
            <a:off x="777240" y="4206240"/>
            <a:ext cx="10637215" cy="118872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Each aggregate is exposed through its own repository interface, so the business logic layer queries the database in object-oriented terms instead of writing raw SQL, and a new aggregate can be added as a new repository without touching existing ones. A cache sits only in front of the Product Catalogue repository, because catalogue reads vastly outnumber writes and caching reduces database load, whereas Order data is deliberately left uncached so that stock and payment state stay immediately consistent.</a:t>
            </a:r>
            <a:endParaRPr lang="en-US" sz="1200" dirty="0"/>
          </a:p>
        </p:txBody>
      </p:sp>
      <p:sp>
        <p:nvSpPr>
          <p:cNvPr id="25" name="Text 23"/>
          <p:cNvSpPr txBox="1"/>
          <p:nvPr/>
        </p:nvSpPr>
        <p:spPr>
          <a:xfrm>
            <a:off x="548640" y="6565392"/>
            <a:ext cx="7772400" cy="256032"/>
          </a:xfrm>
          <a:prstGeom prst="rect">
            <a:avLst/>
          </a:prstGeom>
          <a:noFill/>
          <a:ln/>
        </p:spPr>
        <p:txBody>
          <a:bodyPr wrap="square" lIns="0" tIns="0" rIns="0" bIns="0" rtlCol="0" anchor="ctr"/>
          <a:lstStyle/>
          <a:p>
            <a:pPr marL="0" indent="0">
              <a:buNone/>
            </a:pPr>
            <a:r>
              <a:rPr lang="en-US" sz="900" dirty="0">
                <a:solidFill>
                  <a:srgbClr val="5A6B8C"/>
                </a:solidFill>
                <a:latin typeface="Calibri" pitchFamily="34" charset="0"/>
                <a:ea typeface="Calibri" pitchFamily="34" charset="-122"/>
                <a:cs typeface="Calibri" pitchFamily="34" charset="-120"/>
              </a:rPr>
              <a:t>AOODP25_PCOM7E, Unit 9 Case Study, ShopEase Architecture</a:t>
            </a:r>
            <a:endParaRPr lang="en-US" sz="900" dirty="0"/>
          </a:p>
        </p:txBody>
      </p:sp>
      <p:sp>
        <p:nvSpPr>
          <p:cNvPr id="26" name="Text 24"/>
          <p:cNvSpPr txBox="1"/>
          <p:nvPr/>
        </p:nvSpPr>
        <p:spPr>
          <a:xfrm>
            <a:off x="11185855" y="6565392"/>
            <a:ext cx="457200" cy="256032"/>
          </a:xfrm>
          <a:prstGeom prst="rect">
            <a:avLst/>
          </a:prstGeom>
          <a:noFill/>
          <a:ln/>
        </p:spPr>
        <p:txBody>
          <a:bodyPr wrap="square" lIns="0" tIns="0" rIns="0" bIns="0" rtlCol="0" anchor="ctr"/>
          <a:lstStyle/>
          <a:p>
            <a:pPr marL="0" indent="0" algn="r">
              <a:buNone/>
            </a:pPr>
            <a:r>
              <a:rPr lang="en-US" sz="900" dirty="0">
                <a:solidFill>
                  <a:srgbClr val="5A6B8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ALIGNMENT</a:t>
            </a:r>
            <a:endParaRPr lang="en-US" sz="1200" dirty="0"/>
          </a:p>
        </p:txBody>
      </p:sp>
      <p:sp>
        <p:nvSpPr>
          <p:cNvPr id="3" name="Text 1"/>
          <p:cNvSpPr txBox="1"/>
          <p:nvPr/>
        </p:nvSpPr>
        <p:spPr>
          <a:xfrm>
            <a:off x="548640" y="566928"/>
            <a:ext cx="11094415"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Learning Outcomes Addressed</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4800600"/>
        </p:xfrm>
        <a:graphic>
          <a:graphicData uri="http://schemas.openxmlformats.org/drawingml/2006/table">
            <a:tbl>
              <a:tblPr/>
              <a:tblGrid>
                <a:gridCol w="9144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6519672">
                  <a:extLst>
                    <a:ext uri="{9D8B030D-6E8A-4147-A177-3AD203B41FA5}">
                      <a16:colId xmlns:a16="http://schemas.microsoft.com/office/drawing/2014/main" val="20002"/>
                    </a:ext>
                  </a:extLst>
                </a:gridCol>
              </a:tblGrid>
              <a:tr h="96012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LO</a:t>
                      </a:r>
                      <a:endParaRPr lang="en-US" sz="1200" dirty="0">
                        <a:latin typeface="Calibri" charset="0"/>
                        <a:ea typeface="Calibri" charset="0"/>
                        <a:cs typeface="Calibri" charset="0"/>
                      </a:endParaRPr>
                    </a:p>
                  </a:txBody>
                  <a:tcPr anchor="ctr">
                    <a:lnL w="9525" cap="flat" cmpd="sng" algn="ctr">
                      <a:solidFill>
                        <a:srgbClr val="D6DEEF"/>
                      </a:solidFill>
                      <a:prstDash val="solid"/>
                      <a:round/>
                      <a:headEnd type="none" w="med" len="med"/>
                      <a:tailEnd type="none" w="med" len="med"/>
                    </a:lnL>
                    <a:lnR w="9525" cap="flat" cmpd="sng" algn="ctr">
                      <a:solidFill>
                        <a:srgbClr val="D6DEEF"/>
                      </a:solidFill>
                      <a:prstDash val="solid"/>
                      <a:round/>
                      <a:headEnd type="none" w="med" len="med"/>
                      <a:tailEnd type="none" w="med" len="med"/>
                    </a:lnR>
                    <a:lnT w="9525" cap="flat" cmpd="sng" algn="ctr">
                      <a:solidFill>
                        <a:srgbClr val="D6DEEF"/>
                      </a:solidFill>
                      <a:prstDash val="solid"/>
                      <a:round/>
                      <a:headEnd type="none" w="med" len="med"/>
                      <a:tailEnd type="none" w="med" len="med"/>
                    </a:lnT>
                    <a:lnB w="9525" cap="flat" cmpd="sng" algn="ctr">
                      <a:solidFill>
                        <a:srgbClr val="D6DEEF"/>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Outcome</a:t>
                      </a:r>
                      <a:endParaRPr lang="en-US" sz="1200" dirty="0">
                        <a:latin typeface="Calibri" charset="0"/>
                        <a:ea typeface="Calibri" charset="0"/>
                        <a:cs typeface="Calibri" charset="0"/>
                      </a:endParaRPr>
                    </a:p>
                  </a:txBody>
                  <a:tcPr anchor="ctr">
                    <a:lnL w="9525" cap="flat" cmpd="sng" algn="ctr">
                      <a:solidFill>
                        <a:srgbClr val="D6DEEF"/>
                      </a:solidFill>
                      <a:prstDash val="solid"/>
                      <a:round/>
                      <a:headEnd type="none" w="med" len="med"/>
                      <a:tailEnd type="none" w="med" len="med"/>
                    </a:lnL>
                    <a:lnR w="9525" cap="flat" cmpd="sng" algn="ctr">
                      <a:solidFill>
                        <a:srgbClr val="D6DEEF"/>
                      </a:solidFill>
                      <a:prstDash val="solid"/>
                      <a:round/>
                      <a:headEnd type="none" w="med" len="med"/>
                      <a:tailEnd type="none" w="med" len="med"/>
                    </a:lnR>
                    <a:lnT w="9525" cap="flat" cmpd="sng" algn="ctr">
                      <a:solidFill>
                        <a:srgbClr val="D6DEEF"/>
                      </a:solidFill>
                      <a:prstDash val="solid"/>
                      <a:round/>
                      <a:headEnd type="none" w="med" len="med"/>
                      <a:tailEnd type="none" w="med" len="med"/>
                    </a:lnT>
                    <a:lnB w="9525" cap="flat" cmpd="sng" algn="ctr">
                      <a:solidFill>
                        <a:srgbClr val="D6DEEF"/>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Addressed by</a:t>
                      </a:r>
                      <a:endParaRPr lang="en-US" sz="1200" dirty="0">
                        <a:latin typeface="Calibri" charset="0"/>
                        <a:ea typeface="Calibri" charset="0"/>
                        <a:cs typeface="Calibri" charset="0"/>
                      </a:endParaRPr>
                    </a:p>
                  </a:txBody>
                  <a:tcPr anchor="ctr">
                    <a:lnL w="9525" cap="flat" cmpd="sng" algn="ctr">
                      <a:solidFill>
                        <a:srgbClr val="D6DEEF"/>
                      </a:solidFill>
                      <a:prstDash val="solid"/>
                      <a:round/>
                      <a:headEnd type="none" w="med" len="med"/>
                      <a:tailEnd type="none" w="med" len="med"/>
                    </a:lnL>
                    <a:lnR w="9525" cap="flat" cmpd="sng" algn="ctr">
                      <a:solidFill>
                        <a:srgbClr val="D6DEEF"/>
                      </a:solidFill>
                      <a:prstDash val="solid"/>
                      <a:round/>
                      <a:headEnd type="none" w="med" len="med"/>
                      <a:tailEnd type="none" w="med" len="med"/>
                    </a:lnR>
                    <a:lnT w="9525" cap="flat" cmpd="sng" algn="ctr">
                      <a:solidFill>
                        <a:srgbClr val="D6DEEF"/>
                      </a:solidFill>
                      <a:prstDash val="solid"/>
                      <a:round/>
                      <a:headEnd type="none" w="med" len="med"/>
                      <a:tailEnd type="none" w="med" len="med"/>
                    </a:lnT>
                    <a:lnB w="9525" cap="flat" cmpd="sng" algn="ctr">
                      <a:solidFill>
                        <a:srgbClr val="D6DE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960120">
                <a:tc>
                  <a:txBody>
                    <a:bodyPr/>
                    <a:lstStyle/>
                    <a:p>
                      <a:pPr marL="0" indent="0" algn="ctr">
                        <a:buNone/>
                      </a:pPr>
                      <a:r>
                        <a:rPr lang="en-US" sz="1200" b="1" dirty="0">
                          <a:solidFill>
                            <a:srgbClr val="1E2761"/>
                          </a:solidFill>
                          <a:latin typeface="Calibri" pitchFamily="34" charset="0"/>
                          <a:ea typeface="Calibri" pitchFamily="34" charset="-122"/>
                          <a:cs typeface="Calibri" pitchFamily="34" charset="-120"/>
                        </a:rPr>
                        <a:t>LO1</a:t>
                      </a:r>
                      <a:endParaRPr lang="en-US" sz="1200" dirty="0">
                        <a:latin typeface="Calibri" charset="0"/>
                        <a:ea typeface="Calibri" charset="0"/>
                        <a:cs typeface="Calibri" charset="0"/>
                      </a:endParaRPr>
                    </a:p>
                  </a:txBody>
                  <a:tcPr anchor="ctr">
                    <a:lnL w="9525" cap="flat" cmpd="sng" algn="ctr">
                      <a:solidFill>
                        <a:srgbClr val="D6DEEF"/>
                      </a:solidFill>
                      <a:prstDash val="solid"/>
                      <a:round/>
                      <a:headEnd type="none" w="med" len="med"/>
                      <a:tailEnd type="none" w="med" len="med"/>
                    </a:lnL>
                    <a:lnR w="9525" cap="flat" cmpd="sng" algn="ctr">
                      <a:solidFill>
                        <a:srgbClr val="D6DEEF"/>
                      </a:solidFill>
                      <a:prstDash val="solid"/>
                      <a:round/>
                      <a:headEnd type="none" w="med" len="med"/>
                      <a:tailEnd type="none" w="med" len="med"/>
                    </a:lnR>
                    <a:lnT w="9525" cap="flat" cmpd="sng" algn="ctr">
                      <a:solidFill>
                        <a:srgbClr val="D6DEEF"/>
                      </a:solidFill>
                      <a:prstDash val="solid"/>
                      <a:round/>
                      <a:headEnd type="none" w="med" len="med"/>
                      <a:tailEnd type="none" w="med" len="med"/>
                    </a:lnT>
                    <a:lnB w="9525" cap="flat" cmpd="sng" algn="ctr">
                      <a:solidFill>
                        <a:srgbClr val="D6DEEF"/>
                      </a:solidFill>
                      <a:prstDash val="solid"/>
                      <a:round/>
                      <a:headEnd type="none" w="med" len="med"/>
                      <a:tailEnd type="none" w="med" len="med"/>
                    </a:lnB>
                    <a:solidFill>
                      <a:srgbClr val="FFFFFF"/>
                    </a:solidFill>
                  </a:tcPr>
                </a:tc>
                <a:tc>
                  <a:txBody>
                    <a:bodyPr/>
                    <a:lstStyle/>
                    <a:p>
                      <a:pPr marL="0" indent="0">
                        <a:buNone/>
                      </a:pPr>
                      <a:r>
                        <a:rPr lang="en-US" sz="1200" dirty="0">
                          <a:solidFill>
                            <a:srgbClr val="24272E"/>
                          </a:solidFill>
                          <a:latin typeface="Calibri" pitchFamily="34" charset="0"/>
                          <a:ea typeface="Calibri" pitchFamily="34" charset="-122"/>
                          <a:cs typeface="Calibri" pitchFamily="34" charset="-120"/>
                        </a:rPr>
                        <a:t>Secure coding practices</a:t>
                      </a:r>
                      <a:endParaRPr lang="en-US" sz="1200" dirty="0">
                        <a:latin typeface="Calibri" charset="0"/>
                        <a:ea typeface="Calibri" charset="0"/>
                        <a:cs typeface="Calibri" charset="0"/>
                      </a:endParaRPr>
                    </a:p>
                  </a:txBody>
                  <a:tcPr anchor="ctr">
                    <a:lnL w="9525" cap="flat" cmpd="sng" algn="ctr">
                      <a:solidFill>
                        <a:srgbClr val="D6DEEF"/>
                      </a:solidFill>
                      <a:prstDash val="solid"/>
                      <a:round/>
                      <a:headEnd type="none" w="med" len="med"/>
                      <a:tailEnd type="none" w="med" len="med"/>
                    </a:lnL>
                    <a:lnR w="9525" cap="flat" cmpd="sng" algn="ctr">
                      <a:solidFill>
                        <a:srgbClr val="D6DEEF"/>
                      </a:solidFill>
                      <a:prstDash val="solid"/>
                      <a:round/>
                      <a:headEnd type="none" w="med" len="med"/>
                      <a:tailEnd type="none" w="med" len="med"/>
                    </a:lnR>
                    <a:lnT w="9525" cap="flat" cmpd="sng" algn="ctr">
                      <a:solidFill>
                        <a:srgbClr val="D6DEEF"/>
                      </a:solidFill>
                      <a:prstDash val="solid"/>
                      <a:round/>
                      <a:headEnd type="none" w="med" len="med"/>
                      <a:tailEnd type="none" w="med" len="med"/>
                    </a:lnT>
                    <a:lnB w="9525" cap="flat" cmpd="sng" algn="ctr">
                      <a:solidFill>
                        <a:srgbClr val="D6DEEF"/>
                      </a:solidFill>
                      <a:prstDash val="solid"/>
                      <a:round/>
                      <a:headEnd type="none" w="med" len="med"/>
                      <a:tailEnd type="none" w="med" len="med"/>
                    </a:lnB>
                    <a:solidFill>
                      <a:srgbClr val="FFFFFF"/>
                    </a:solidFill>
                  </a:tcPr>
                </a:tc>
                <a:tc>
                  <a:txBody>
                    <a:bodyPr/>
                    <a:lstStyle/>
                    <a:p>
                      <a:pPr marL="0" indent="0">
                        <a:buNone/>
                      </a:pPr>
                      <a:r>
                        <a:rPr lang="en-US" sz="1200" dirty="0">
                          <a:solidFill>
                            <a:srgbClr val="24272E"/>
                          </a:solidFill>
                          <a:latin typeface="Calibri" pitchFamily="34" charset="0"/>
                          <a:ea typeface="Calibri" pitchFamily="34" charset="-122"/>
                          <a:cs typeface="Calibri" pitchFamily="34" charset="-120"/>
                        </a:rPr>
                        <a:t>Centralised authentication; hashed credentials; OWASP ASVS checks</a:t>
                      </a:r>
                      <a:endParaRPr lang="en-US" sz="1200" dirty="0">
                        <a:latin typeface="Calibri" charset="0"/>
                        <a:ea typeface="Calibri" charset="0"/>
                        <a:cs typeface="Calibri" charset="0"/>
                      </a:endParaRPr>
                    </a:p>
                  </a:txBody>
                  <a:tcPr anchor="ctr">
                    <a:lnL w="9525" cap="flat" cmpd="sng" algn="ctr">
                      <a:solidFill>
                        <a:srgbClr val="D6DEEF"/>
                      </a:solidFill>
                      <a:prstDash val="solid"/>
                      <a:round/>
                      <a:headEnd type="none" w="med" len="med"/>
                      <a:tailEnd type="none" w="med" len="med"/>
                    </a:lnL>
                    <a:lnR w="9525" cap="flat" cmpd="sng" algn="ctr">
                      <a:solidFill>
                        <a:srgbClr val="D6DEEF"/>
                      </a:solidFill>
                      <a:prstDash val="solid"/>
                      <a:round/>
                      <a:headEnd type="none" w="med" len="med"/>
                      <a:tailEnd type="none" w="med" len="med"/>
                    </a:lnR>
                    <a:lnT w="9525" cap="flat" cmpd="sng" algn="ctr">
                      <a:solidFill>
                        <a:srgbClr val="D6DEEF"/>
                      </a:solidFill>
                      <a:prstDash val="solid"/>
                      <a:round/>
                      <a:headEnd type="none" w="med" len="med"/>
                      <a:tailEnd type="none" w="med" len="med"/>
                    </a:lnT>
                    <a:lnB w="9525" cap="flat" cmpd="sng" algn="ctr">
                      <a:solidFill>
                        <a:srgbClr val="D6DE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60120">
                <a:tc>
                  <a:txBody>
                    <a:bodyPr/>
                    <a:lstStyle/>
                    <a:p>
                      <a:pPr marL="0" indent="0" algn="ctr">
                        <a:buNone/>
                      </a:pPr>
                      <a:r>
                        <a:rPr lang="en-US" sz="1200" b="1" dirty="0">
                          <a:solidFill>
                            <a:srgbClr val="1E2761"/>
                          </a:solidFill>
                          <a:latin typeface="Calibri" pitchFamily="34" charset="0"/>
                          <a:ea typeface="Calibri" pitchFamily="34" charset="-122"/>
                          <a:cs typeface="Calibri" pitchFamily="34" charset="-120"/>
                        </a:rPr>
                        <a:t>LO2</a:t>
                      </a:r>
                      <a:endParaRPr lang="en-US" sz="1200" dirty="0">
                        <a:latin typeface="Calibri" charset="0"/>
                        <a:ea typeface="Calibri" charset="0"/>
                        <a:cs typeface="Calibri" charset="0"/>
                      </a:endParaRPr>
                    </a:p>
                  </a:txBody>
                  <a:tcPr anchor="ctr">
                    <a:lnL w="9525" cap="flat" cmpd="sng" algn="ctr">
                      <a:solidFill>
                        <a:srgbClr val="D6DEEF"/>
                      </a:solidFill>
                      <a:prstDash val="solid"/>
                      <a:round/>
                      <a:headEnd type="none" w="med" len="med"/>
                      <a:tailEnd type="none" w="med" len="med"/>
                    </a:lnL>
                    <a:lnR w="9525" cap="flat" cmpd="sng" algn="ctr">
                      <a:solidFill>
                        <a:srgbClr val="D6DEEF"/>
                      </a:solidFill>
                      <a:prstDash val="solid"/>
                      <a:round/>
                      <a:headEnd type="none" w="med" len="med"/>
                      <a:tailEnd type="none" w="med" len="med"/>
                    </a:lnR>
                    <a:lnT w="9525" cap="flat" cmpd="sng" algn="ctr">
                      <a:solidFill>
                        <a:srgbClr val="D6DEEF"/>
                      </a:solidFill>
                      <a:prstDash val="solid"/>
                      <a:round/>
                      <a:headEnd type="none" w="med" len="med"/>
                      <a:tailEnd type="none" w="med" len="med"/>
                    </a:lnT>
                    <a:lnB w="9525" cap="flat" cmpd="sng" algn="ctr">
                      <a:solidFill>
                        <a:srgbClr val="D6DEEF"/>
                      </a:solidFill>
                      <a:prstDash val="solid"/>
                      <a:round/>
                      <a:headEnd type="none" w="med" len="med"/>
                      <a:tailEnd type="none" w="med" len="med"/>
                    </a:lnB>
                    <a:solidFill>
                      <a:srgbClr val="E9EFFC"/>
                    </a:solidFill>
                  </a:tcPr>
                </a:tc>
                <a:tc>
                  <a:txBody>
                    <a:bodyPr/>
                    <a:lstStyle/>
                    <a:p>
                      <a:pPr marL="0" indent="0">
                        <a:buNone/>
                      </a:pPr>
                      <a:r>
                        <a:rPr lang="en-US" sz="1200" dirty="0">
                          <a:solidFill>
                            <a:srgbClr val="24272E"/>
                          </a:solidFill>
                          <a:latin typeface="Calibri" pitchFamily="34" charset="0"/>
                          <a:ea typeface="Calibri" pitchFamily="34" charset="-122"/>
                          <a:cs typeface="Calibri" pitchFamily="34" charset="-120"/>
                        </a:rPr>
                        <a:t>Advanced OO principles</a:t>
                      </a:r>
                      <a:endParaRPr lang="en-US" sz="1200" dirty="0">
                        <a:latin typeface="Calibri" charset="0"/>
                        <a:ea typeface="Calibri" charset="0"/>
                        <a:cs typeface="Calibri" charset="0"/>
                      </a:endParaRPr>
                    </a:p>
                  </a:txBody>
                  <a:tcPr anchor="ctr">
                    <a:lnL w="9525" cap="flat" cmpd="sng" algn="ctr">
                      <a:solidFill>
                        <a:srgbClr val="D6DEEF"/>
                      </a:solidFill>
                      <a:prstDash val="solid"/>
                      <a:round/>
                      <a:headEnd type="none" w="med" len="med"/>
                      <a:tailEnd type="none" w="med" len="med"/>
                    </a:lnL>
                    <a:lnR w="9525" cap="flat" cmpd="sng" algn="ctr">
                      <a:solidFill>
                        <a:srgbClr val="D6DEEF"/>
                      </a:solidFill>
                      <a:prstDash val="solid"/>
                      <a:round/>
                      <a:headEnd type="none" w="med" len="med"/>
                      <a:tailEnd type="none" w="med" len="med"/>
                    </a:lnR>
                    <a:lnT w="9525" cap="flat" cmpd="sng" algn="ctr">
                      <a:solidFill>
                        <a:srgbClr val="D6DEEF"/>
                      </a:solidFill>
                      <a:prstDash val="solid"/>
                      <a:round/>
                      <a:headEnd type="none" w="med" len="med"/>
                      <a:tailEnd type="none" w="med" len="med"/>
                    </a:lnT>
                    <a:lnB w="9525" cap="flat" cmpd="sng" algn="ctr">
                      <a:solidFill>
                        <a:srgbClr val="D6DEEF"/>
                      </a:solidFill>
                      <a:prstDash val="solid"/>
                      <a:round/>
                      <a:headEnd type="none" w="med" len="med"/>
                      <a:tailEnd type="none" w="med" len="med"/>
                    </a:lnB>
                    <a:solidFill>
                      <a:srgbClr val="E9EFFC"/>
                    </a:solidFill>
                  </a:tcPr>
                </a:tc>
                <a:tc>
                  <a:txBody>
                    <a:bodyPr/>
                    <a:lstStyle/>
                    <a:p>
                      <a:pPr marL="0" indent="0">
                        <a:buNone/>
                      </a:pPr>
                      <a:r>
                        <a:rPr lang="en-US" sz="1200" dirty="0">
                          <a:solidFill>
                            <a:srgbClr val="24272E"/>
                          </a:solidFill>
                          <a:latin typeface="Calibri" pitchFamily="34" charset="0"/>
                          <a:ea typeface="Calibri" pitchFamily="34" charset="-122"/>
                          <a:cs typeface="Calibri" pitchFamily="34" charset="-120"/>
                        </a:rPr>
                        <a:t>Encapsulation of persistence; interface-based composition across layers</a:t>
                      </a:r>
                      <a:endParaRPr lang="en-US" sz="1200" dirty="0">
                        <a:latin typeface="Calibri" charset="0"/>
                        <a:ea typeface="Calibri" charset="0"/>
                        <a:cs typeface="Calibri" charset="0"/>
                      </a:endParaRPr>
                    </a:p>
                  </a:txBody>
                  <a:tcPr anchor="ctr">
                    <a:lnL w="9525" cap="flat" cmpd="sng" algn="ctr">
                      <a:solidFill>
                        <a:srgbClr val="D6DEEF"/>
                      </a:solidFill>
                      <a:prstDash val="solid"/>
                      <a:round/>
                      <a:headEnd type="none" w="med" len="med"/>
                      <a:tailEnd type="none" w="med" len="med"/>
                    </a:lnL>
                    <a:lnR w="9525" cap="flat" cmpd="sng" algn="ctr">
                      <a:solidFill>
                        <a:srgbClr val="D6DEEF"/>
                      </a:solidFill>
                      <a:prstDash val="solid"/>
                      <a:round/>
                      <a:headEnd type="none" w="med" len="med"/>
                      <a:tailEnd type="none" w="med" len="med"/>
                    </a:lnR>
                    <a:lnT w="9525" cap="flat" cmpd="sng" algn="ctr">
                      <a:solidFill>
                        <a:srgbClr val="D6DEEF"/>
                      </a:solidFill>
                      <a:prstDash val="solid"/>
                      <a:round/>
                      <a:headEnd type="none" w="med" len="med"/>
                      <a:tailEnd type="none" w="med" len="med"/>
                    </a:lnT>
                    <a:lnB w="9525" cap="flat" cmpd="sng" algn="ctr">
                      <a:solidFill>
                        <a:srgbClr val="D6DEEF"/>
                      </a:solidFill>
                      <a:prstDash val="solid"/>
                      <a:round/>
                      <a:headEnd type="none" w="med" len="med"/>
                      <a:tailEnd type="none" w="med" len="med"/>
                    </a:lnB>
                    <a:solidFill>
                      <a:srgbClr val="E9EFFC"/>
                    </a:solidFill>
                  </a:tcPr>
                </a:tc>
                <a:extLst>
                  <a:ext uri="{0D108BD9-81ED-4DB2-BD59-A6C34878D82A}">
                    <a16:rowId xmlns:a16="http://schemas.microsoft.com/office/drawing/2014/main" val="10002"/>
                  </a:ext>
                </a:extLst>
              </a:tr>
              <a:tr h="960120">
                <a:tc>
                  <a:txBody>
                    <a:bodyPr/>
                    <a:lstStyle/>
                    <a:p>
                      <a:pPr marL="0" indent="0" algn="ctr">
                        <a:buNone/>
                      </a:pPr>
                      <a:r>
                        <a:rPr lang="en-US" sz="1200" b="1" dirty="0">
                          <a:solidFill>
                            <a:srgbClr val="1E2761"/>
                          </a:solidFill>
                          <a:latin typeface="Calibri" pitchFamily="34" charset="0"/>
                          <a:ea typeface="Calibri" pitchFamily="34" charset="-122"/>
                          <a:cs typeface="Calibri" pitchFamily="34" charset="-120"/>
                        </a:rPr>
                        <a:t>LO3</a:t>
                      </a:r>
                      <a:endParaRPr lang="en-US" sz="1200" dirty="0">
                        <a:latin typeface="Calibri" charset="0"/>
                        <a:ea typeface="Calibri" charset="0"/>
                        <a:cs typeface="Calibri" charset="0"/>
                      </a:endParaRPr>
                    </a:p>
                  </a:txBody>
                  <a:tcPr anchor="ctr">
                    <a:lnL w="9525" cap="flat" cmpd="sng" algn="ctr">
                      <a:solidFill>
                        <a:srgbClr val="D6DEEF"/>
                      </a:solidFill>
                      <a:prstDash val="solid"/>
                      <a:round/>
                      <a:headEnd type="none" w="med" len="med"/>
                      <a:tailEnd type="none" w="med" len="med"/>
                    </a:lnL>
                    <a:lnR w="9525" cap="flat" cmpd="sng" algn="ctr">
                      <a:solidFill>
                        <a:srgbClr val="D6DEEF"/>
                      </a:solidFill>
                      <a:prstDash val="solid"/>
                      <a:round/>
                      <a:headEnd type="none" w="med" len="med"/>
                      <a:tailEnd type="none" w="med" len="med"/>
                    </a:lnR>
                    <a:lnT w="9525" cap="flat" cmpd="sng" algn="ctr">
                      <a:solidFill>
                        <a:srgbClr val="D6DEEF"/>
                      </a:solidFill>
                      <a:prstDash val="solid"/>
                      <a:round/>
                      <a:headEnd type="none" w="med" len="med"/>
                      <a:tailEnd type="none" w="med" len="med"/>
                    </a:lnT>
                    <a:lnB w="9525" cap="flat" cmpd="sng" algn="ctr">
                      <a:solidFill>
                        <a:srgbClr val="D6DEEF"/>
                      </a:solidFill>
                      <a:prstDash val="solid"/>
                      <a:round/>
                      <a:headEnd type="none" w="med" len="med"/>
                      <a:tailEnd type="none" w="med" len="med"/>
                    </a:lnB>
                    <a:solidFill>
                      <a:srgbClr val="FFFFFF"/>
                    </a:solidFill>
                  </a:tcPr>
                </a:tc>
                <a:tc>
                  <a:txBody>
                    <a:bodyPr/>
                    <a:lstStyle/>
                    <a:p>
                      <a:pPr marL="0" indent="0">
                        <a:buNone/>
                      </a:pPr>
                      <a:r>
                        <a:rPr lang="en-US" sz="1200" dirty="0">
                          <a:solidFill>
                            <a:srgbClr val="24272E"/>
                          </a:solidFill>
                          <a:latin typeface="Calibri" pitchFamily="34" charset="0"/>
                          <a:ea typeface="Calibri" pitchFamily="34" charset="-122"/>
                          <a:cs typeface="Calibri" pitchFamily="34" charset="-120"/>
                        </a:rPr>
                        <a:t>Design patterns for reusable, maintainable code</a:t>
                      </a:r>
                      <a:endParaRPr lang="en-US" sz="1200" dirty="0">
                        <a:latin typeface="Calibri" charset="0"/>
                        <a:ea typeface="Calibri" charset="0"/>
                        <a:cs typeface="Calibri" charset="0"/>
                      </a:endParaRPr>
                    </a:p>
                  </a:txBody>
                  <a:tcPr anchor="ctr">
                    <a:lnL w="9525" cap="flat" cmpd="sng" algn="ctr">
                      <a:solidFill>
                        <a:srgbClr val="D6DEEF"/>
                      </a:solidFill>
                      <a:prstDash val="solid"/>
                      <a:round/>
                      <a:headEnd type="none" w="med" len="med"/>
                      <a:tailEnd type="none" w="med" len="med"/>
                    </a:lnL>
                    <a:lnR w="9525" cap="flat" cmpd="sng" algn="ctr">
                      <a:solidFill>
                        <a:srgbClr val="D6DEEF"/>
                      </a:solidFill>
                      <a:prstDash val="solid"/>
                      <a:round/>
                      <a:headEnd type="none" w="med" len="med"/>
                      <a:tailEnd type="none" w="med" len="med"/>
                    </a:lnR>
                    <a:lnT w="9525" cap="flat" cmpd="sng" algn="ctr">
                      <a:solidFill>
                        <a:srgbClr val="D6DEEF"/>
                      </a:solidFill>
                      <a:prstDash val="solid"/>
                      <a:round/>
                      <a:headEnd type="none" w="med" len="med"/>
                      <a:tailEnd type="none" w="med" len="med"/>
                    </a:lnT>
                    <a:lnB w="9525" cap="flat" cmpd="sng" algn="ctr">
                      <a:solidFill>
                        <a:srgbClr val="D6DEEF"/>
                      </a:solidFill>
                      <a:prstDash val="solid"/>
                      <a:round/>
                      <a:headEnd type="none" w="med" len="med"/>
                      <a:tailEnd type="none" w="med" len="med"/>
                    </a:lnB>
                    <a:solidFill>
                      <a:srgbClr val="FFFFFF"/>
                    </a:solidFill>
                  </a:tcPr>
                </a:tc>
                <a:tc>
                  <a:txBody>
                    <a:bodyPr/>
                    <a:lstStyle/>
                    <a:p>
                      <a:pPr marL="0" indent="0">
                        <a:buNone/>
                      </a:pPr>
                      <a:r>
                        <a:rPr lang="en-US" sz="1200" dirty="0">
                          <a:solidFill>
                            <a:srgbClr val="24272E"/>
                          </a:solidFill>
                          <a:latin typeface="Calibri" pitchFamily="34" charset="0"/>
                          <a:ea typeface="Calibri" pitchFamily="34" charset="-122"/>
                          <a:cs typeface="Calibri" pitchFamily="34" charset="-120"/>
                        </a:rPr>
                        <a:t>Strategy (UI variants and promotions), Factory Method, Observer, Repository</a:t>
                      </a:r>
                      <a:endParaRPr lang="en-US" sz="1200" dirty="0">
                        <a:latin typeface="Calibri" charset="0"/>
                        <a:ea typeface="Calibri" charset="0"/>
                        <a:cs typeface="Calibri" charset="0"/>
                      </a:endParaRPr>
                    </a:p>
                  </a:txBody>
                  <a:tcPr anchor="ctr">
                    <a:lnL w="9525" cap="flat" cmpd="sng" algn="ctr">
                      <a:solidFill>
                        <a:srgbClr val="D6DEEF"/>
                      </a:solidFill>
                      <a:prstDash val="solid"/>
                      <a:round/>
                      <a:headEnd type="none" w="med" len="med"/>
                      <a:tailEnd type="none" w="med" len="med"/>
                    </a:lnL>
                    <a:lnR w="9525" cap="flat" cmpd="sng" algn="ctr">
                      <a:solidFill>
                        <a:srgbClr val="D6DEEF"/>
                      </a:solidFill>
                      <a:prstDash val="solid"/>
                      <a:round/>
                      <a:headEnd type="none" w="med" len="med"/>
                      <a:tailEnd type="none" w="med" len="med"/>
                    </a:lnR>
                    <a:lnT w="9525" cap="flat" cmpd="sng" algn="ctr">
                      <a:solidFill>
                        <a:srgbClr val="D6DEEF"/>
                      </a:solidFill>
                      <a:prstDash val="solid"/>
                      <a:round/>
                      <a:headEnd type="none" w="med" len="med"/>
                      <a:tailEnd type="none" w="med" len="med"/>
                    </a:lnT>
                    <a:lnB w="9525" cap="flat" cmpd="sng" algn="ctr">
                      <a:solidFill>
                        <a:srgbClr val="D6DE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60120">
                <a:tc>
                  <a:txBody>
                    <a:bodyPr/>
                    <a:lstStyle/>
                    <a:p>
                      <a:pPr marL="0" indent="0" algn="ctr">
                        <a:buNone/>
                      </a:pPr>
                      <a:r>
                        <a:rPr lang="en-US" sz="1200" b="1" dirty="0">
                          <a:solidFill>
                            <a:srgbClr val="1E2761"/>
                          </a:solidFill>
                          <a:latin typeface="Calibri" pitchFamily="34" charset="0"/>
                          <a:ea typeface="Calibri" pitchFamily="34" charset="-122"/>
                          <a:cs typeface="Calibri" pitchFamily="34" charset="-120"/>
                        </a:rPr>
                        <a:t>LO4</a:t>
                      </a:r>
                      <a:endParaRPr lang="en-US" sz="1200" dirty="0">
                        <a:latin typeface="Calibri" charset="0"/>
                        <a:ea typeface="Calibri" charset="0"/>
                        <a:cs typeface="Calibri" charset="0"/>
                      </a:endParaRPr>
                    </a:p>
                  </a:txBody>
                  <a:tcPr anchor="ctr">
                    <a:lnL w="9525" cap="flat" cmpd="sng" algn="ctr">
                      <a:solidFill>
                        <a:srgbClr val="D6DEEF"/>
                      </a:solidFill>
                      <a:prstDash val="solid"/>
                      <a:round/>
                      <a:headEnd type="none" w="med" len="med"/>
                      <a:tailEnd type="none" w="med" len="med"/>
                    </a:lnL>
                    <a:lnR w="9525" cap="flat" cmpd="sng" algn="ctr">
                      <a:solidFill>
                        <a:srgbClr val="D6DEEF"/>
                      </a:solidFill>
                      <a:prstDash val="solid"/>
                      <a:round/>
                      <a:headEnd type="none" w="med" len="med"/>
                      <a:tailEnd type="none" w="med" len="med"/>
                    </a:lnR>
                    <a:lnT w="9525" cap="flat" cmpd="sng" algn="ctr">
                      <a:solidFill>
                        <a:srgbClr val="D6DEEF"/>
                      </a:solidFill>
                      <a:prstDash val="solid"/>
                      <a:round/>
                      <a:headEnd type="none" w="med" len="med"/>
                      <a:tailEnd type="none" w="med" len="med"/>
                    </a:lnT>
                    <a:lnB w="9525" cap="flat" cmpd="sng" algn="ctr">
                      <a:solidFill>
                        <a:srgbClr val="D6DEEF"/>
                      </a:solidFill>
                      <a:prstDash val="solid"/>
                      <a:round/>
                      <a:headEnd type="none" w="med" len="med"/>
                      <a:tailEnd type="none" w="med" len="med"/>
                    </a:lnB>
                    <a:solidFill>
                      <a:srgbClr val="E9EFFC"/>
                    </a:solidFill>
                  </a:tcPr>
                </a:tc>
                <a:tc>
                  <a:txBody>
                    <a:bodyPr/>
                    <a:lstStyle/>
                    <a:p>
                      <a:pPr marL="0" indent="0">
                        <a:buNone/>
                      </a:pPr>
                      <a:r>
                        <a:rPr lang="en-US" sz="1200" dirty="0">
                          <a:solidFill>
                            <a:srgbClr val="24272E"/>
                          </a:solidFill>
                          <a:latin typeface="Calibri" pitchFamily="34" charset="0"/>
                          <a:ea typeface="Calibri" pitchFamily="34" charset="-122"/>
                          <a:cs typeface="Calibri" pitchFamily="34" charset="-120"/>
                        </a:rPr>
                        <a:t>Architecture for large-scale, secure systems</a:t>
                      </a:r>
                      <a:endParaRPr lang="en-US" sz="1200" dirty="0">
                        <a:latin typeface="Calibri" charset="0"/>
                        <a:ea typeface="Calibri" charset="0"/>
                        <a:cs typeface="Calibri" charset="0"/>
                      </a:endParaRPr>
                    </a:p>
                  </a:txBody>
                  <a:tcPr anchor="ctr">
                    <a:lnL w="9525" cap="flat" cmpd="sng" algn="ctr">
                      <a:solidFill>
                        <a:srgbClr val="D6DEEF"/>
                      </a:solidFill>
                      <a:prstDash val="solid"/>
                      <a:round/>
                      <a:headEnd type="none" w="med" len="med"/>
                      <a:tailEnd type="none" w="med" len="med"/>
                    </a:lnL>
                    <a:lnR w="9525" cap="flat" cmpd="sng" algn="ctr">
                      <a:solidFill>
                        <a:srgbClr val="D6DEEF"/>
                      </a:solidFill>
                      <a:prstDash val="solid"/>
                      <a:round/>
                      <a:headEnd type="none" w="med" len="med"/>
                      <a:tailEnd type="none" w="med" len="med"/>
                    </a:lnR>
                    <a:lnT w="9525" cap="flat" cmpd="sng" algn="ctr">
                      <a:solidFill>
                        <a:srgbClr val="D6DEEF"/>
                      </a:solidFill>
                      <a:prstDash val="solid"/>
                      <a:round/>
                      <a:headEnd type="none" w="med" len="med"/>
                      <a:tailEnd type="none" w="med" len="med"/>
                    </a:lnT>
                    <a:lnB w="9525" cap="flat" cmpd="sng" algn="ctr">
                      <a:solidFill>
                        <a:srgbClr val="D6DEEF"/>
                      </a:solidFill>
                      <a:prstDash val="solid"/>
                      <a:round/>
                      <a:headEnd type="none" w="med" len="med"/>
                      <a:tailEnd type="none" w="med" len="med"/>
                    </a:lnB>
                    <a:solidFill>
                      <a:srgbClr val="E9EFFC"/>
                    </a:solidFill>
                  </a:tcPr>
                </a:tc>
                <a:tc>
                  <a:txBody>
                    <a:bodyPr/>
                    <a:lstStyle/>
                    <a:p>
                      <a:pPr marL="0" indent="0">
                        <a:buNone/>
                      </a:pPr>
                      <a:r>
                        <a:rPr lang="en-US" sz="1200" dirty="0">
                          <a:solidFill>
                            <a:srgbClr val="24272E"/>
                          </a:solidFill>
                          <a:latin typeface="Calibri" pitchFamily="34" charset="0"/>
                          <a:ea typeface="Calibri" pitchFamily="34" charset="-122"/>
                          <a:cs typeface="Calibri" pitchFamily="34" charset="-120"/>
                        </a:rPr>
                        <a:t>Layered architecture; dependency injection; cache-aside for read-heavy data</a:t>
                      </a:r>
                      <a:endParaRPr lang="en-US" sz="1200" dirty="0">
                        <a:latin typeface="Calibri" charset="0"/>
                        <a:ea typeface="Calibri" charset="0"/>
                        <a:cs typeface="Calibri" charset="0"/>
                      </a:endParaRPr>
                    </a:p>
                  </a:txBody>
                  <a:tcPr anchor="ctr">
                    <a:lnL w="9525" cap="flat" cmpd="sng" algn="ctr">
                      <a:solidFill>
                        <a:srgbClr val="D6DEEF"/>
                      </a:solidFill>
                      <a:prstDash val="solid"/>
                      <a:round/>
                      <a:headEnd type="none" w="med" len="med"/>
                      <a:tailEnd type="none" w="med" len="med"/>
                    </a:lnL>
                    <a:lnR w="9525" cap="flat" cmpd="sng" algn="ctr">
                      <a:solidFill>
                        <a:srgbClr val="D6DEEF"/>
                      </a:solidFill>
                      <a:prstDash val="solid"/>
                      <a:round/>
                      <a:headEnd type="none" w="med" len="med"/>
                      <a:tailEnd type="none" w="med" len="med"/>
                    </a:lnR>
                    <a:lnT w="9525" cap="flat" cmpd="sng" algn="ctr">
                      <a:solidFill>
                        <a:srgbClr val="D6DEEF"/>
                      </a:solidFill>
                      <a:prstDash val="solid"/>
                      <a:round/>
                      <a:headEnd type="none" w="med" len="med"/>
                      <a:tailEnd type="none" w="med" len="med"/>
                    </a:lnT>
                    <a:lnB w="9525" cap="flat" cmpd="sng" algn="ctr">
                      <a:solidFill>
                        <a:srgbClr val="D6DEEF"/>
                      </a:solidFill>
                      <a:prstDash val="solid"/>
                      <a:round/>
                      <a:headEnd type="none" w="med" len="med"/>
                      <a:tailEnd type="none" w="med" len="med"/>
                    </a:lnB>
                    <a:solidFill>
                      <a:srgbClr val="E9EFFC"/>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548640" y="6565392"/>
            <a:ext cx="7772400" cy="256032"/>
          </a:xfrm>
          <a:prstGeom prst="rect">
            <a:avLst/>
          </a:prstGeom>
          <a:noFill/>
          <a:ln/>
        </p:spPr>
        <p:txBody>
          <a:bodyPr wrap="square" lIns="0" tIns="0" rIns="0" bIns="0" rtlCol="0" anchor="ctr"/>
          <a:lstStyle/>
          <a:p>
            <a:pPr marL="0" indent="0">
              <a:buNone/>
            </a:pPr>
            <a:r>
              <a:rPr lang="en-US" sz="900" dirty="0">
                <a:solidFill>
                  <a:srgbClr val="5A6B8C"/>
                </a:solidFill>
                <a:latin typeface="Calibri" pitchFamily="34" charset="0"/>
                <a:ea typeface="Calibri" pitchFamily="34" charset="-122"/>
                <a:cs typeface="Calibri" pitchFamily="34" charset="-120"/>
              </a:rPr>
              <a:t>AOODP25_PCOM7E, Unit 9 Case Study, ShopEase Architecture</a:t>
            </a:r>
            <a:endParaRPr lang="en-US" sz="900" dirty="0"/>
          </a:p>
        </p:txBody>
      </p:sp>
      <p:sp>
        <p:nvSpPr>
          <p:cNvPr id="6" name="Text 3"/>
          <p:cNvSpPr txBox="1"/>
          <p:nvPr/>
        </p:nvSpPr>
        <p:spPr>
          <a:xfrm>
            <a:off x="11185855" y="6565392"/>
            <a:ext cx="457200" cy="256032"/>
          </a:xfrm>
          <a:prstGeom prst="rect">
            <a:avLst/>
          </a:prstGeom>
          <a:noFill/>
          <a:ln/>
        </p:spPr>
        <p:txBody>
          <a:bodyPr wrap="square" lIns="0" tIns="0" rIns="0" bIns="0" rtlCol="0" anchor="ctr"/>
          <a:lstStyle/>
          <a:p>
            <a:pPr marL="0" indent="0" algn="r">
              <a:buNone/>
            </a:pPr>
            <a:r>
              <a:rPr lang="en-US" sz="900" dirty="0">
                <a:solidFill>
                  <a:srgbClr val="5A6B8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HARVARD STYLE</a:t>
            </a:r>
            <a:endParaRPr lang="en-US" sz="1200" dirty="0"/>
          </a:p>
        </p:txBody>
      </p:sp>
      <p:sp>
        <p:nvSpPr>
          <p:cNvPr id="3" name="Text 1"/>
          <p:cNvSpPr txBox="1"/>
          <p:nvPr/>
        </p:nvSpPr>
        <p:spPr>
          <a:xfrm>
            <a:off x="548640" y="566928"/>
            <a:ext cx="11094415"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References</a:t>
            </a:r>
            <a:endParaRPr lang="en-US" sz="2800" dirty="0"/>
          </a:p>
        </p:txBody>
      </p:sp>
      <p:sp>
        <p:nvSpPr>
          <p:cNvPr id="4" name="Text 2"/>
          <p:cNvSpPr txBox="1"/>
          <p:nvPr/>
        </p:nvSpPr>
        <p:spPr>
          <a:xfrm>
            <a:off x="548640" y="1280160"/>
            <a:ext cx="11094415" cy="566928"/>
          </a:xfrm>
          <a:prstGeom prst="rect">
            <a:avLst/>
          </a:prstGeom>
          <a:noFill/>
          <a:ln/>
        </p:spPr>
        <p:txBody>
          <a:bodyPr wrap="square" lIns="0" tIns="0" rIns="0" bIns="0" rtlCol="0" anchor="t"/>
          <a:lstStyle/>
          <a:p>
            <a:pPr marL="0" indent="0">
              <a:spcAft>
                <a:spcPts val="400"/>
              </a:spcAft>
              <a:buNone/>
            </a:pPr>
            <a:r>
              <a:rPr lang="en-US" sz="1200" b="1" dirty="0">
                <a:solidFill>
                  <a:srgbClr val="24272E"/>
                </a:solidFill>
                <a:latin typeface="Calibri" pitchFamily="34" charset="0"/>
                <a:ea typeface="Calibri" pitchFamily="34" charset="-122"/>
                <a:cs typeface="Calibri" pitchFamily="34" charset="-120"/>
              </a:rPr>
              <a:t>Baker, M. (2022) </a:t>
            </a:r>
            <a:r>
              <a:rPr lang="en-US" sz="1200" i="1" dirty="0">
                <a:solidFill>
                  <a:srgbClr val="24272E"/>
                </a:solidFill>
                <a:latin typeface="Calibri" pitchFamily="34" charset="0"/>
                <a:ea typeface="Calibri" pitchFamily="34" charset="-122"/>
                <a:cs typeface="Calibri" pitchFamily="34" charset="-120"/>
              </a:rPr>
              <a:t>Secure Web Application Development: A Hands-On Guide with Python and Django. </a:t>
            </a:r>
            <a:r>
              <a:rPr lang="en-US" sz="1200" dirty="0">
                <a:solidFill>
                  <a:srgbClr val="24272E"/>
                </a:solidFill>
                <a:latin typeface="Calibri" pitchFamily="34" charset="0"/>
                <a:ea typeface="Calibri" pitchFamily="34" charset="-122"/>
                <a:cs typeface="Calibri" pitchFamily="34" charset="-120"/>
              </a:rPr>
              <a:t>1st edn. Berkeley, CA: Apress.</a:t>
            </a:r>
            <a:endParaRPr lang="en-US" sz="1200" dirty="0"/>
          </a:p>
        </p:txBody>
      </p:sp>
      <p:sp>
        <p:nvSpPr>
          <p:cNvPr id="5" name="Text 3"/>
          <p:cNvSpPr txBox="1"/>
          <p:nvPr/>
        </p:nvSpPr>
        <p:spPr>
          <a:xfrm>
            <a:off x="548640" y="1847088"/>
            <a:ext cx="11094415" cy="566928"/>
          </a:xfrm>
          <a:prstGeom prst="rect">
            <a:avLst/>
          </a:prstGeom>
          <a:noFill/>
          <a:ln/>
        </p:spPr>
        <p:txBody>
          <a:bodyPr wrap="square" lIns="0" tIns="0" rIns="0" bIns="0" rtlCol="0" anchor="t"/>
          <a:lstStyle/>
          <a:p>
            <a:pPr marL="0" indent="0">
              <a:spcAft>
                <a:spcPts val="400"/>
              </a:spcAft>
              <a:buNone/>
            </a:pPr>
            <a:r>
              <a:rPr lang="en-US" sz="1200" b="1" dirty="0">
                <a:solidFill>
                  <a:srgbClr val="24272E"/>
                </a:solidFill>
                <a:latin typeface="Calibri" pitchFamily="34" charset="0"/>
                <a:ea typeface="Calibri" pitchFamily="34" charset="-122"/>
                <a:cs typeface="Calibri" pitchFamily="34" charset="-120"/>
              </a:rPr>
              <a:t>Chow, J. (2024) </a:t>
            </a:r>
            <a:r>
              <a:rPr lang="en-US" sz="1200" i="1" dirty="0">
                <a:solidFill>
                  <a:srgbClr val="24272E"/>
                </a:solidFill>
                <a:latin typeface="Calibri" pitchFamily="34" charset="0"/>
                <a:ea typeface="Calibri" pitchFamily="34" charset="-122"/>
                <a:cs typeface="Calibri" pitchFamily="34" charset="-120"/>
              </a:rPr>
              <a:t>Software Architecture with Kotlin: Combine Various Architectural Styles to Create Sustainable and Scalable Software Solutions. </a:t>
            </a:r>
            <a:r>
              <a:rPr lang="en-US" sz="1200" dirty="0">
                <a:solidFill>
                  <a:srgbClr val="24272E"/>
                </a:solidFill>
                <a:latin typeface="Calibri" pitchFamily="34" charset="0"/>
                <a:ea typeface="Calibri" pitchFamily="34" charset="-122"/>
                <a:cs typeface="Calibri" pitchFamily="34" charset="-120"/>
              </a:rPr>
              <a:t>1st edn. Birmingham: Packt Publishing, Limited.</a:t>
            </a:r>
            <a:endParaRPr lang="en-US" sz="1200" dirty="0"/>
          </a:p>
        </p:txBody>
      </p:sp>
      <p:sp>
        <p:nvSpPr>
          <p:cNvPr id="6" name="Text 4"/>
          <p:cNvSpPr txBox="1"/>
          <p:nvPr/>
        </p:nvSpPr>
        <p:spPr>
          <a:xfrm>
            <a:off x="548640" y="2414016"/>
            <a:ext cx="11094415" cy="566928"/>
          </a:xfrm>
          <a:prstGeom prst="rect">
            <a:avLst/>
          </a:prstGeom>
          <a:noFill/>
          <a:ln/>
        </p:spPr>
        <p:txBody>
          <a:bodyPr wrap="square" lIns="0" tIns="0" rIns="0" bIns="0" rtlCol="0" anchor="t"/>
          <a:lstStyle/>
          <a:p>
            <a:pPr marL="0" indent="0">
              <a:spcAft>
                <a:spcPts val="400"/>
              </a:spcAft>
              <a:buNone/>
            </a:pPr>
            <a:r>
              <a:rPr lang="en-US" sz="1200" b="1" dirty="0">
                <a:solidFill>
                  <a:srgbClr val="24272E"/>
                </a:solidFill>
                <a:latin typeface="Calibri" pitchFamily="34" charset="0"/>
                <a:ea typeface="Calibri" pitchFamily="34" charset="-122"/>
                <a:cs typeface="Calibri" pitchFamily="34" charset="-120"/>
              </a:rPr>
              <a:t>Garcia, M.M. and Telang, T. (2023) </a:t>
            </a:r>
            <a:r>
              <a:rPr lang="en-US" sz="1200" i="1" dirty="0">
                <a:solidFill>
                  <a:srgbClr val="24272E"/>
                </a:solidFill>
                <a:latin typeface="Calibri" pitchFamily="34" charset="0"/>
                <a:ea typeface="Calibri" pitchFamily="34" charset="-122"/>
                <a:cs typeface="Calibri" pitchFamily="34" charset="-120"/>
              </a:rPr>
              <a:t>Learn Microservices with Spring Boot 3: A Practical Approach Using Event-Driven Architecture, Cloud-Native Patterns, and Containerization. </a:t>
            </a:r>
            <a:r>
              <a:rPr lang="en-US" sz="1200" dirty="0">
                <a:solidFill>
                  <a:srgbClr val="24272E"/>
                </a:solidFill>
                <a:latin typeface="Calibri" pitchFamily="34" charset="0"/>
                <a:ea typeface="Calibri" pitchFamily="34" charset="-122"/>
                <a:cs typeface="Calibri" pitchFamily="34" charset="-120"/>
              </a:rPr>
              <a:t>3rd edn. Berkeley, CA: Apress.</a:t>
            </a:r>
            <a:endParaRPr lang="en-US" sz="1200" dirty="0"/>
          </a:p>
        </p:txBody>
      </p:sp>
      <p:sp>
        <p:nvSpPr>
          <p:cNvPr id="7" name="Text 5"/>
          <p:cNvSpPr txBox="1"/>
          <p:nvPr/>
        </p:nvSpPr>
        <p:spPr>
          <a:xfrm>
            <a:off x="548640" y="2980944"/>
            <a:ext cx="11094415" cy="566928"/>
          </a:xfrm>
          <a:prstGeom prst="rect">
            <a:avLst/>
          </a:prstGeom>
          <a:noFill/>
          <a:ln/>
        </p:spPr>
        <p:txBody>
          <a:bodyPr wrap="square" lIns="0" tIns="0" rIns="0" bIns="0" rtlCol="0" anchor="t"/>
          <a:lstStyle/>
          <a:p>
            <a:pPr marL="0" indent="0">
              <a:spcAft>
                <a:spcPts val="400"/>
              </a:spcAft>
              <a:buNone/>
            </a:pPr>
            <a:r>
              <a:rPr lang="en-US" sz="1200" b="1" dirty="0">
                <a:solidFill>
                  <a:srgbClr val="24272E"/>
                </a:solidFill>
                <a:latin typeface="Calibri" pitchFamily="34" charset="0"/>
                <a:ea typeface="Calibri" pitchFamily="34" charset="-122"/>
                <a:cs typeface="Calibri" pitchFamily="34" charset="-120"/>
              </a:rPr>
              <a:t>Sarcar, V. (2022) </a:t>
            </a:r>
            <a:r>
              <a:rPr lang="en-US" sz="1200" i="1" dirty="0">
                <a:solidFill>
                  <a:srgbClr val="24272E"/>
                </a:solidFill>
                <a:latin typeface="Calibri" pitchFamily="34" charset="0"/>
                <a:ea typeface="Calibri" pitchFamily="34" charset="-122"/>
                <a:cs typeface="Calibri" pitchFamily="34" charset="-120"/>
              </a:rPr>
              <a:t>Java Design Patterns: A Hands-On Experience with Real-World Examples. </a:t>
            </a:r>
            <a:r>
              <a:rPr lang="en-US" sz="1200" dirty="0">
                <a:solidFill>
                  <a:srgbClr val="24272E"/>
                </a:solidFill>
                <a:latin typeface="Calibri" pitchFamily="34" charset="0"/>
                <a:ea typeface="Calibri" pitchFamily="34" charset="-122"/>
                <a:cs typeface="Calibri" pitchFamily="34" charset="-120"/>
              </a:rPr>
              <a:t>3rd edn. Berkeley, CA: Apress.</a:t>
            </a:r>
            <a:endParaRPr lang="en-US" sz="1200" dirty="0"/>
          </a:p>
        </p:txBody>
      </p:sp>
      <p:sp>
        <p:nvSpPr>
          <p:cNvPr id="8" name="Text 6"/>
          <p:cNvSpPr txBox="1"/>
          <p:nvPr/>
        </p:nvSpPr>
        <p:spPr>
          <a:xfrm>
            <a:off x="548640" y="3547872"/>
            <a:ext cx="11094415" cy="566928"/>
          </a:xfrm>
          <a:prstGeom prst="rect">
            <a:avLst/>
          </a:prstGeom>
          <a:noFill/>
          <a:ln/>
        </p:spPr>
        <p:txBody>
          <a:bodyPr wrap="square" lIns="0" tIns="0" rIns="0" bIns="0" rtlCol="0" anchor="t"/>
          <a:lstStyle/>
          <a:p>
            <a:pPr marL="0" indent="0">
              <a:spcAft>
                <a:spcPts val="400"/>
              </a:spcAft>
              <a:buNone/>
            </a:pPr>
            <a:r>
              <a:rPr lang="en-US" sz="1200" b="1" dirty="0">
                <a:solidFill>
                  <a:srgbClr val="24272E"/>
                </a:solidFill>
                <a:latin typeface="Calibri" pitchFamily="34" charset="0"/>
                <a:ea typeface="Calibri" pitchFamily="34" charset="-122"/>
                <a:cs typeface="Calibri" pitchFamily="34" charset="-120"/>
              </a:rPr>
              <a:t>Shah, M. (2023) </a:t>
            </a:r>
            <a:r>
              <a:rPr lang="en-US" sz="1200" i="1" dirty="0">
                <a:solidFill>
                  <a:srgbClr val="24272E"/>
                </a:solidFill>
                <a:latin typeface="Calibri" pitchFamily="34" charset="0"/>
                <a:ea typeface="Calibri" pitchFamily="34" charset="-122"/>
                <a:cs typeface="Calibri" pitchFamily="34" charset="-120"/>
              </a:rPr>
              <a:t>Cloud Native Software Security Handbook: Unleash the Power of Cloud Native Tools for Robust Security in Modern Applications. </a:t>
            </a:r>
            <a:r>
              <a:rPr lang="en-US" sz="1200" dirty="0">
                <a:solidFill>
                  <a:srgbClr val="24272E"/>
                </a:solidFill>
                <a:latin typeface="Calibri" pitchFamily="34" charset="0"/>
                <a:ea typeface="Calibri" pitchFamily="34" charset="-122"/>
                <a:cs typeface="Calibri" pitchFamily="34" charset="-120"/>
              </a:rPr>
              <a:t>1st edn. Birmingham: Packt Publishing, Limited.</a:t>
            </a:r>
            <a:endParaRPr lang="en-US" sz="1200" dirty="0"/>
          </a:p>
        </p:txBody>
      </p:sp>
      <p:sp>
        <p:nvSpPr>
          <p:cNvPr id="9" name="Text 7"/>
          <p:cNvSpPr txBox="1"/>
          <p:nvPr/>
        </p:nvSpPr>
        <p:spPr>
          <a:xfrm>
            <a:off x="548640" y="4114800"/>
            <a:ext cx="11094415" cy="566928"/>
          </a:xfrm>
          <a:prstGeom prst="rect">
            <a:avLst/>
          </a:prstGeom>
          <a:noFill/>
          <a:ln/>
        </p:spPr>
        <p:txBody>
          <a:bodyPr wrap="square" lIns="0" tIns="0" rIns="0" bIns="0" rtlCol="0" anchor="t"/>
          <a:lstStyle/>
          <a:p>
            <a:pPr marL="0" indent="0">
              <a:spcAft>
                <a:spcPts val="400"/>
              </a:spcAft>
              <a:buNone/>
            </a:pPr>
            <a:r>
              <a:rPr lang="en-US" sz="1200" b="1" dirty="0">
                <a:solidFill>
                  <a:srgbClr val="24272E"/>
                </a:solidFill>
                <a:latin typeface="Calibri" pitchFamily="34" charset="0"/>
                <a:ea typeface="Calibri" pitchFamily="34" charset="-122"/>
                <a:cs typeface="Calibri" pitchFamily="34" charset="-120"/>
              </a:rPr>
              <a:t>University of Essex Online (no date) </a:t>
            </a:r>
            <a:r>
              <a:rPr lang="en-US" sz="1200" i="1" dirty="0">
                <a:solidFill>
                  <a:srgbClr val="24272E"/>
                </a:solidFill>
                <a:latin typeface="Calibri" pitchFamily="34" charset="0"/>
                <a:ea typeface="Calibri" pitchFamily="34" charset="-122"/>
                <a:cs typeface="Calibri" pitchFamily="34" charset="-120"/>
              </a:rPr>
              <a:t>'Drawbacks of Behavioural Design Patterns' </a:t>
            </a:r>
            <a:r>
              <a:rPr lang="en-US" sz="1200" dirty="0">
                <a:solidFill>
                  <a:srgbClr val="24272E"/>
                </a:solidFill>
                <a:latin typeface="Calibri" pitchFamily="34" charset="0"/>
                <a:ea typeface="Calibri" pitchFamily="34" charset="-122"/>
                <a:cs typeface="Calibri" pitchFamily="34" charset="-120"/>
              </a:rPr>
              <a:t>[Lecturecast transcript]. AOODP25_PCOM7E Unit 5.</a:t>
            </a:r>
            <a:endParaRPr lang="en-US" sz="1200" dirty="0"/>
          </a:p>
        </p:txBody>
      </p:sp>
      <p:sp>
        <p:nvSpPr>
          <p:cNvPr id="10" name="Text 8"/>
          <p:cNvSpPr txBox="1"/>
          <p:nvPr/>
        </p:nvSpPr>
        <p:spPr>
          <a:xfrm>
            <a:off x="548640" y="4681728"/>
            <a:ext cx="11094415" cy="566928"/>
          </a:xfrm>
          <a:prstGeom prst="rect">
            <a:avLst/>
          </a:prstGeom>
          <a:noFill/>
          <a:ln/>
        </p:spPr>
        <p:txBody>
          <a:bodyPr wrap="square" lIns="0" tIns="0" rIns="0" bIns="0" rtlCol="0" anchor="t"/>
          <a:lstStyle/>
          <a:p>
            <a:pPr marL="0" indent="0">
              <a:spcAft>
                <a:spcPts val="400"/>
              </a:spcAft>
              <a:buNone/>
            </a:pPr>
            <a:r>
              <a:rPr lang="en-US" sz="1200" b="1" dirty="0">
                <a:solidFill>
                  <a:srgbClr val="24272E"/>
                </a:solidFill>
                <a:latin typeface="Calibri" pitchFamily="34" charset="0"/>
                <a:ea typeface="Calibri" pitchFamily="34" charset="-122"/>
                <a:cs typeface="Calibri" pitchFamily="34" charset="-120"/>
              </a:rPr>
              <a:t>University of Essex Online (no date) </a:t>
            </a:r>
            <a:r>
              <a:rPr lang="en-US" sz="1200" i="1" dirty="0">
                <a:solidFill>
                  <a:srgbClr val="24272E"/>
                </a:solidFill>
                <a:latin typeface="Calibri" pitchFamily="34" charset="0"/>
                <a:ea typeface="Calibri" pitchFamily="34" charset="-122"/>
                <a:cs typeface="Calibri" pitchFamily="34" charset="-120"/>
              </a:rPr>
              <a:t>'Importance of Software Architecture in System Design' </a:t>
            </a:r>
            <a:r>
              <a:rPr lang="en-US" sz="1200" dirty="0">
                <a:solidFill>
                  <a:srgbClr val="24272E"/>
                </a:solidFill>
                <a:latin typeface="Calibri" pitchFamily="34" charset="0"/>
                <a:ea typeface="Calibri" pitchFamily="34" charset="-122"/>
                <a:cs typeface="Calibri" pitchFamily="34" charset="-120"/>
              </a:rPr>
              <a:t>[Lecturecast transcript]. AOODP25_PCOM7E Unit 9.</a:t>
            </a:r>
            <a:endParaRPr lang="en-US" sz="1200" dirty="0"/>
          </a:p>
        </p:txBody>
      </p:sp>
      <p:sp>
        <p:nvSpPr>
          <p:cNvPr id="11" name="Text 9"/>
          <p:cNvSpPr txBox="1"/>
          <p:nvPr/>
        </p:nvSpPr>
        <p:spPr>
          <a:xfrm>
            <a:off x="548640" y="5248656"/>
            <a:ext cx="11094415" cy="566928"/>
          </a:xfrm>
          <a:prstGeom prst="rect">
            <a:avLst/>
          </a:prstGeom>
          <a:noFill/>
          <a:ln/>
        </p:spPr>
        <p:txBody>
          <a:bodyPr wrap="square" lIns="0" tIns="0" rIns="0" bIns="0" rtlCol="0" anchor="t"/>
          <a:lstStyle/>
          <a:p>
            <a:pPr marL="0" indent="0">
              <a:spcAft>
                <a:spcPts val="400"/>
              </a:spcAft>
              <a:buNone/>
            </a:pPr>
            <a:r>
              <a:rPr lang="en-US" sz="1200" b="1" dirty="0">
                <a:solidFill>
                  <a:srgbClr val="24272E"/>
                </a:solidFill>
                <a:latin typeface="Calibri" pitchFamily="34" charset="0"/>
                <a:ea typeface="Calibri" pitchFamily="34" charset="-122"/>
                <a:cs typeface="Calibri" pitchFamily="34" charset="-120"/>
              </a:rPr>
              <a:t>University of Essex Online (no date) </a:t>
            </a:r>
            <a:r>
              <a:rPr lang="en-US" sz="1200" i="1" dirty="0">
                <a:solidFill>
                  <a:srgbClr val="24272E"/>
                </a:solidFill>
                <a:latin typeface="Calibri" pitchFamily="34" charset="0"/>
                <a:ea typeface="Calibri" pitchFamily="34" charset="-122"/>
                <a:cs typeface="Calibri" pitchFamily="34" charset="-120"/>
              </a:rPr>
              <a:t>'Introduction to Object-Oriented Software Architecture' </a:t>
            </a:r>
            <a:r>
              <a:rPr lang="en-US" sz="1200" dirty="0">
                <a:solidFill>
                  <a:srgbClr val="24272E"/>
                </a:solidFill>
                <a:latin typeface="Calibri" pitchFamily="34" charset="0"/>
                <a:ea typeface="Calibri" pitchFamily="34" charset="-122"/>
                <a:cs typeface="Calibri" pitchFamily="34" charset="-120"/>
              </a:rPr>
              <a:t>[Lecturecast transcript]. AOODP25_PCOM7E Unit 9.</a:t>
            </a:r>
            <a:endParaRPr lang="en-US" sz="1200" dirty="0"/>
          </a:p>
        </p:txBody>
      </p:sp>
      <p:sp>
        <p:nvSpPr>
          <p:cNvPr id="12" name="Text 10"/>
          <p:cNvSpPr txBox="1"/>
          <p:nvPr/>
        </p:nvSpPr>
        <p:spPr>
          <a:xfrm>
            <a:off x="548640" y="6565392"/>
            <a:ext cx="7772400" cy="256032"/>
          </a:xfrm>
          <a:prstGeom prst="rect">
            <a:avLst/>
          </a:prstGeom>
          <a:noFill/>
          <a:ln/>
        </p:spPr>
        <p:txBody>
          <a:bodyPr wrap="square" lIns="0" tIns="0" rIns="0" bIns="0" rtlCol="0" anchor="ctr"/>
          <a:lstStyle/>
          <a:p>
            <a:pPr marL="0" indent="0">
              <a:buNone/>
            </a:pPr>
            <a:r>
              <a:rPr lang="en-US" sz="900" dirty="0">
                <a:solidFill>
                  <a:srgbClr val="5A6B8C"/>
                </a:solidFill>
                <a:latin typeface="Calibri" pitchFamily="34" charset="0"/>
                <a:ea typeface="Calibri" pitchFamily="34" charset="-122"/>
                <a:cs typeface="Calibri" pitchFamily="34" charset="-120"/>
              </a:rPr>
              <a:t>AOODP25_PCOM7E, Unit 9 Case Study, ShopEase Architecture</a:t>
            </a:r>
            <a:endParaRPr lang="en-US" sz="900" dirty="0"/>
          </a:p>
        </p:txBody>
      </p:sp>
      <p:sp>
        <p:nvSpPr>
          <p:cNvPr id="13" name="Text 11"/>
          <p:cNvSpPr txBox="1"/>
          <p:nvPr/>
        </p:nvSpPr>
        <p:spPr>
          <a:xfrm>
            <a:off x="11185855" y="6565392"/>
            <a:ext cx="457200" cy="256032"/>
          </a:xfrm>
          <a:prstGeom prst="rect">
            <a:avLst/>
          </a:prstGeom>
          <a:noFill/>
          <a:ln/>
        </p:spPr>
        <p:txBody>
          <a:bodyPr wrap="square" lIns="0" tIns="0" rIns="0" bIns="0" rtlCol="0" anchor="ctr"/>
          <a:lstStyle/>
          <a:p>
            <a:pPr marL="0" indent="0" algn="r">
              <a:buNone/>
            </a:pPr>
            <a:r>
              <a:rPr lang="en-US" sz="900" dirty="0">
                <a:solidFill>
                  <a:srgbClr val="5A6B8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1529</Words>
  <Application>Microsoft Macintosh PowerPoint</Application>
  <PresentationFormat>Widescreen</PresentationFormat>
  <Paragraphs>229</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Séba Daher</cp:lastModifiedBy>
  <cp:revision>6</cp:revision>
  <dcterms:created xsi:type="dcterms:W3CDTF">2026-09-14T05:10:38Z</dcterms:created>
  <dcterms:modified xsi:type="dcterms:W3CDTF">2026-10-06T05:10:34Z</dcterms:modified>
  <cp:category/>
</cp:coreProperties>
</file>